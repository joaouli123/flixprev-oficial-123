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77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71" r:id="rId14"/>
    <p:sldId id="272" r:id="rId15"/>
    <p:sldId id="268" r:id="rId16"/>
    <p:sldId id="269" r:id="rId17"/>
    <p:sldId id="276" r:id="rId18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6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683" y="1079398"/>
            <a:ext cx="13499592" cy="574812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0240" baseline="0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683" y="6827520"/>
            <a:ext cx="13499592" cy="2405888"/>
          </a:xfrm>
        </p:spPr>
        <p:txBody>
          <a:bodyPr>
            <a:normAutofit/>
          </a:bodyPr>
          <a:lstStyle>
            <a:lvl1pPr marL="0" indent="0" algn="l">
              <a:buNone/>
              <a:defRPr sz="3129" baseline="0">
                <a:solidFill>
                  <a:schemeClr val="tx1">
                    <a:lumMod val="75000"/>
                  </a:schemeClr>
                </a:solidFill>
              </a:defRPr>
            </a:lvl1pPr>
            <a:lvl2pPr marL="650230" indent="0" algn="ctr">
              <a:buNone/>
              <a:defRPr sz="3129"/>
            </a:lvl2pPr>
            <a:lvl3pPr marL="1300460" indent="0" algn="ctr">
              <a:buNone/>
              <a:defRPr sz="3129"/>
            </a:lvl3pPr>
            <a:lvl4pPr marL="1950690" indent="0" algn="ctr">
              <a:buNone/>
              <a:defRPr sz="2844"/>
            </a:lvl4pPr>
            <a:lvl5pPr marL="2600919" indent="0" algn="ctr">
              <a:buNone/>
              <a:defRPr sz="2844"/>
            </a:lvl5pPr>
            <a:lvl6pPr marL="3251149" indent="0" algn="ctr">
              <a:buNone/>
              <a:defRPr sz="2844"/>
            </a:lvl6pPr>
            <a:lvl7pPr marL="3901379" indent="0" algn="ctr">
              <a:buNone/>
              <a:defRPr sz="2844"/>
            </a:lvl7pPr>
            <a:lvl8pPr marL="4551609" indent="0" algn="ctr">
              <a:buNone/>
              <a:defRPr sz="2844"/>
            </a:lvl8pPr>
            <a:lvl9pPr marL="5201839" indent="0" algn="ctr">
              <a:buNone/>
              <a:defRPr sz="2844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55320" cy="975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11681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03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8683" y="1079398"/>
            <a:ext cx="13499592" cy="5748122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1024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8683" y="6827520"/>
            <a:ext cx="13499592" cy="2405888"/>
          </a:xfrm>
        </p:spPr>
        <p:txBody>
          <a:bodyPr anchor="t">
            <a:normAutofit/>
          </a:bodyPr>
          <a:lstStyle>
            <a:lvl1pPr marL="0" indent="0">
              <a:buNone/>
              <a:defRPr sz="312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55320" cy="975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8016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08683" y="2600961"/>
            <a:ext cx="6422136" cy="6188568"/>
          </a:xfrm>
        </p:spPr>
        <p:txBody>
          <a:bodyPr/>
          <a:lstStyle>
            <a:lvl1pPr>
              <a:defRPr sz="2560"/>
            </a:lvl1pPr>
            <a:lvl2pPr>
              <a:defRPr sz="2276"/>
            </a:lvl2pPr>
            <a:lvl3pPr>
              <a:defRPr sz="1991"/>
            </a:lvl3pPr>
            <a:lvl4pPr>
              <a:defRPr sz="1991"/>
            </a:lvl4pPr>
            <a:lvl5pPr>
              <a:defRPr sz="1991"/>
            </a:lvl5pPr>
            <a:lvl6pPr>
              <a:defRPr sz="1991"/>
            </a:lvl6pPr>
            <a:lvl7pPr>
              <a:defRPr sz="1991"/>
            </a:lvl7pPr>
            <a:lvl8pPr>
              <a:defRPr sz="1991"/>
            </a:lvl8pPr>
            <a:lvl9pPr>
              <a:defRPr sz="1991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81288" y="2600961"/>
            <a:ext cx="6422136" cy="6188568"/>
          </a:xfrm>
        </p:spPr>
        <p:txBody>
          <a:bodyPr/>
          <a:lstStyle>
            <a:lvl1pPr>
              <a:defRPr sz="2560"/>
            </a:lvl1pPr>
            <a:lvl2pPr>
              <a:defRPr sz="2276"/>
            </a:lvl2pPr>
            <a:lvl3pPr>
              <a:defRPr sz="1991"/>
            </a:lvl3pPr>
            <a:lvl4pPr>
              <a:defRPr sz="1991"/>
            </a:lvl4pPr>
            <a:lvl5pPr>
              <a:defRPr sz="1991"/>
            </a:lvl5pPr>
            <a:lvl6pPr>
              <a:defRPr sz="1991"/>
            </a:lvl6pPr>
            <a:lvl7pPr>
              <a:defRPr sz="1991"/>
            </a:lvl7pPr>
            <a:lvl8pPr>
              <a:defRPr sz="1991"/>
            </a:lvl8pPr>
            <a:lvl9pPr>
              <a:defRPr sz="1991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5768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8683" y="2437198"/>
            <a:ext cx="6422136" cy="1040384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44" b="0">
                <a:solidFill>
                  <a:schemeClr val="tx2"/>
                </a:solidFill>
              </a:defRPr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8683" y="3566293"/>
            <a:ext cx="6422136" cy="5211947"/>
          </a:xfrm>
        </p:spPr>
        <p:txBody>
          <a:bodyPr/>
          <a:lstStyle>
            <a:lvl1pPr>
              <a:defRPr sz="2560"/>
            </a:lvl1pPr>
            <a:lvl2pPr>
              <a:defRPr sz="2276"/>
            </a:lvl2pPr>
            <a:lvl3pPr>
              <a:defRPr sz="1991"/>
            </a:lvl3pPr>
            <a:lvl4pPr>
              <a:defRPr sz="1991"/>
            </a:lvl4pPr>
            <a:lvl5pPr>
              <a:defRPr sz="1991"/>
            </a:lvl5pPr>
            <a:lvl6pPr>
              <a:defRPr sz="1991"/>
            </a:lvl6pPr>
            <a:lvl7pPr>
              <a:defRPr sz="1991"/>
            </a:lvl7pPr>
            <a:lvl8pPr>
              <a:defRPr sz="1991"/>
            </a:lvl8pPr>
            <a:lvl9pPr>
              <a:defRPr sz="1991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81288" y="2437198"/>
            <a:ext cx="6422136" cy="1040384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844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marL="0" lvl="0" indent="0" algn="l" defTabSz="1300460" rtl="0" eaLnBrk="1" latinLnBrk="0" hangingPunct="1">
              <a:lnSpc>
                <a:spcPct val="90000"/>
              </a:lnSpc>
              <a:spcBef>
                <a:spcPts val="2844"/>
              </a:spcBef>
              <a:buFontTx/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81288" y="3566293"/>
            <a:ext cx="6422136" cy="5211947"/>
          </a:xfrm>
        </p:spPr>
        <p:txBody>
          <a:bodyPr/>
          <a:lstStyle>
            <a:lvl1pPr>
              <a:defRPr sz="2560"/>
            </a:lvl1pPr>
            <a:lvl2pPr>
              <a:defRPr sz="2276"/>
            </a:lvl2pPr>
            <a:lvl3pPr>
              <a:defRPr sz="1991"/>
            </a:lvl3pPr>
            <a:lvl4pPr>
              <a:defRPr sz="1991"/>
            </a:lvl4pPr>
            <a:lvl5pPr>
              <a:defRPr sz="1991"/>
            </a:lvl5pPr>
            <a:lvl6pPr>
              <a:defRPr sz="1991"/>
            </a:lvl6pPr>
            <a:lvl7pPr>
              <a:defRPr sz="1991"/>
            </a:lvl7pPr>
            <a:lvl8pPr>
              <a:defRPr sz="1991"/>
            </a:lvl8pPr>
            <a:lvl9pPr>
              <a:defRPr sz="1991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301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38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387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5789" y="650241"/>
            <a:ext cx="4587240" cy="2275836"/>
          </a:xfrm>
        </p:spPr>
        <p:txBody>
          <a:bodyPr anchor="b">
            <a:normAutofit/>
          </a:bodyPr>
          <a:lstStyle>
            <a:lvl1pPr>
              <a:defRPr sz="4551" b="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6116" y="975360"/>
            <a:ext cx="8713328" cy="7802880"/>
          </a:xfrm>
        </p:spPr>
        <p:txBody>
          <a:bodyPr/>
          <a:lstStyle>
            <a:lvl1pPr>
              <a:defRPr sz="2844"/>
            </a:lvl1pPr>
            <a:lvl2pPr>
              <a:defRPr sz="2560"/>
            </a:lvl2pPr>
            <a:lvl3pPr>
              <a:defRPr sz="2276"/>
            </a:lvl3pPr>
            <a:lvl4pPr>
              <a:defRPr sz="1991"/>
            </a:lvl4pPr>
            <a:lvl5pPr>
              <a:defRPr sz="1991"/>
            </a:lvl5pPr>
            <a:lvl6pPr>
              <a:defRPr sz="1991"/>
            </a:lvl6pPr>
            <a:lvl7pPr>
              <a:defRPr sz="1991"/>
            </a:lvl7pPr>
            <a:lvl8pPr>
              <a:defRPr sz="1991"/>
            </a:lvl8pPr>
            <a:lvl9pPr>
              <a:defRPr sz="1991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5789" y="2986289"/>
            <a:ext cx="4587240" cy="5418668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1138"/>
              </a:spcBef>
              <a:buNone/>
              <a:defRPr sz="1849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76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7261013"/>
            <a:ext cx="16186404" cy="2492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0640" y="7477760"/>
            <a:ext cx="14307820" cy="1300480"/>
          </a:xfrm>
        </p:spPr>
        <p:txBody>
          <a:bodyPr anchor="b">
            <a:normAutofit/>
          </a:bodyPr>
          <a:lstStyle>
            <a:lvl1pPr>
              <a:defRPr sz="3982" b="0">
                <a:solidFill>
                  <a:schemeClr val="bg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16186404" cy="7294468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4551">
                <a:solidFill>
                  <a:schemeClr val="bg1"/>
                </a:solidFill>
              </a:defRPr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0640" y="8687772"/>
            <a:ext cx="14307820" cy="84908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138"/>
              </a:spcBef>
              <a:buNone/>
              <a:defRPr sz="1849">
                <a:solidFill>
                  <a:schemeClr val="bg1">
                    <a:lumMod val="85000"/>
                  </a:schemeClr>
                </a:solidFill>
              </a:defRPr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04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22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96470" y="541867"/>
            <a:ext cx="3549650" cy="8387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541867"/>
            <a:ext cx="11085830" cy="8387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130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500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186404" y="0"/>
            <a:ext cx="1310640" cy="97536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8683" y="520192"/>
            <a:ext cx="13892784" cy="18852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8683" y="2600961"/>
            <a:ext cx="12320016" cy="6188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5487061" y="1418114"/>
            <a:ext cx="2709332" cy="5233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93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4294952" y="5753047"/>
            <a:ext cx="5093547" cy="5233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93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86404" y="8778241"/>
            <a:ext cx="1310640" cy="844409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512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49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 spc="-7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092" indent="-260092" algn="l" defTabSz="1300460" rtl="0" eaLnBrk="1" latinLnBrk="0" hangingPunct="1">
        <a:lnSpc>
          <a:spcPct val="95000"/>
        </a:lnSpc>
        <a:spcBef>
          <a:spcPts val="1991"/>
        </a:spcBef>
        <a:spcAft>
          <a:spcPts val="284"/>
        </a:spcAft>
        <a:buClr>
          <a:schemeClr val="accent1"/>
        </a:buClr>
        <a:buSzPct val="80000"/>
        <a:buFont typeface="Arial" pitchFamily="34" charset="0"/>
        <a:buChar char="•"/>
        <a:defRPr sz="2560" kern="1200" spc="14" baseline="0">
          <a:solidFill>
            <a:schemeClr val="tx1"/>
          </a:solidFill>
          <a:latin typeface="+mn-lt"/>
          <a:ea typeface="+mn-ea"/>
          <a:cs typeface="+mn-cs"/>
        </a:defRPr>
      </a:lvl1pPr>
      <a:lvl2pPr marL="650230" indent="-260092" algn="l" defTabSz="1300460" rtl="0" eaLnBrk="1" latinLnBrk="0" hangingPunct="1">
        <a:lnSpc>
          <a:spcPct val="90000"/>
        </a:lnSpc>
        <a:spcBef>
          <a:spcPts val="427"/>
        </a:spcBef>
        <a:spcAft>
          <a:spcPts val="427"/>
        </a:spcAft>
        <a:buClr>
          <a:schemeClr val="accent1"/>
        </a:buClr>
        <a:buFont typeface="Wingdings 2" pitchFamily="18" charset="2"/>
        <a:buChar char=""/>
        <a:defRPr sz="227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040368" indent="-260092" algn="l" defTabSz="1300460" rtl="0" eaLnBrk="1" latinLnBrk="0" hangingPunct="1">
        <a:lnSpc>
          <a:spcPct val="90000"/>
        </a:lnSpc>
        <a:spcBef>
          <a:spcPts val="427"/>
        </a:spcBef>
        <a:spcAft>
          <a:spcPts val="427"/>
        </a:spcAft>
        <a:buClr>
          <a:schemeClr val="accent1"/>
        </a:buClr>
        <a:buFont typeface="Wingdings 2" pitchFamily="18" charset="2"/>
        <a:buChar char=""/>
        <a:defRPr sz="199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430506" indent="-260092" algn="l" defTabSz="1300460" rtl="0" eaLnBrk="1" latinLnBrk="0" hangingPunct="1">
        <a:lnSpc>
          <a:spcPct val="90000"/>
        </a:lnSpc>
        <a:spcBef>
          <a:spcPts val="427"/>
        </a:spcBef>
        <a:spcAft>
          <a:spcPts val="427"/>
        </a:spcAft>
        <a:buClr>
          <a:schemeClr val="accent1"/>
        </a:buClr>
        <a:buFont typeface="Wingdings 2" pitchFamily="18" charset="2"/>
        <a:buChar char=""/>
        <a:defRPr sz="199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0644" indent="-260092" algn="l" defTabSz="1300460" rtl="0" eaLnBrk="1" latinLnBrk="0" hangingPunct="1">
        <a:lnSpc>
          <a:spcPct val="90000"/>
        </a:lnSpc>
        <a:spcBef>
          <a:spcPts val="427"/>
        </a:spcBef>
        <a:spcAft>
          <a:spcPts val="427"/>
        </a:spcAft>
        <a:buClr>
          <a:schemeClr val="accent1"/>
        </a:buClr>
        <a:buFont typeface="Wingdings 2" pitchFamily="18" charset="2"/>
        <a:buChar char=""/>
        <a:defRPr sz="199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75520" indent="-325115" algn="l" defTabSz="1300460" rtl="0" eaLnBrk="1" latinLnBrk="0" hangingPunct="1">
        <a:lnSpc>
          <a:spcPct val="90000"/>
        </a:lnSpc>
        <a:spcBef>
          <a:spcPts val="427"/>
        </a:spcBef>
        <a:spcAft>
          <a:spcPts val="427"/>
        </a:spcAft>
        <a:buClr>
          <a:schemeClr val="accent1"/>
        </a:buClr>
        <a:buFont typeface="Wingdings 2" pitchFamily="18" charset="2"/>
        <a:buChar char=""/>
        <a:defRPr sz="199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702180" indent="-325115" algn="l" defTabSz="1300460" rtl="0" eaLnBrk="1" latinLnBrk="0" hangingPunct="1">
        <a:lnSpc>
          <a:spcPct val="90000"/>
        </a:lnSpc>
        <a:spcBef>
          <a:spcPts val="427"/>
        </a:spcBef>
        <a:spcAft>
          <a:spcPts val="427"/>
        </a:spcAft>
        <a:buClr>
          <a:schemeClr val="accent1"/>
        </a:buClr>
        <a:buFont typeface="Wingdings 2" pitchFamily="18" charset="2"/>
        <a:buChar char=""/>
        <a:defRPr sz="199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128840" indent="-325115" algn="l" defTabSz="1300460" rtl="0" eaLnBrk="1" latinLnBrk="0" hangingPunct="1">
        <a:lnSpc>
          <a:spcPct val="90000"/>
        </a:lnSpc>
        <a:spcBef>
          <a:spcPts val="427"/>
        </a:spcBef>
        <a:spcAft>
          <a:spcPts val="427"/>
        </a:spcAft>
        <a:buClr>
          <a:schemeClr val="accent1"/>
        </a:buClr>
        <a:buFont typeface="Wingdings 2" pitchFamily="18" charset="2"/>
        <a:buChar char=""/>
        <a:defRPr sz="199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555500" indent="-325115" algn="l" defTabSz="1300460" rtl="0" eaLnBrk="1" latinLnBrk="0" hangingPunct="1">
        <a:lnSpc>
          <a:spcPct val="90000"/>
        </a:lnSpc>
        <a:spcBef>
          <a:spcPts val="427"/>
        </a:spcBef>
        <a:spcAft>
          <a:spcPts val="427"/>
        </a:spcAft>
        <a:buClr>
          <a:schemeClr val="accent1"/>
        </a:buClr>
        <a:buFont typeface="Wingdings 2" pitchFamily="18" charset="2"/>
        <a:buChar char=""/>
        <a:defRPr sz="199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8299" y="5352476"/>
            <a:ext cx="3314701" cy="28000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94216" y="309032"/>
            <a:ext cx="0" cy="9194800"/>
          </a:xfrm>
          <a:custGeom>
            <a:avLst/>
            <a:gdLst/>
            <a:ahLst/>
            <a:cxnLst/>
            <a:rect l="l" t="t" r="r" b="b"/>
            <a:pathLst>
              <a:path h="9194800">
                <a:moveTo>
                  <a:pt x="0" y="9194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7866" y="309032"/>
            <a:ext cx="16840200" cy="9194800"/>
            <a:chOff x="287866" y="309032"/>
            <a:chExt cx="16840200" cy="9194800"/>
          </a:xfrm>
        </p:grpSpPr>
        <p:sp>
          <p:nvSpPr>
            <p:cNvPr id="6" name="object 6"/>
            <p:cNvSpPr/>
            <p:nvPr/>
          </p:nvSpPr>
          <p:spPr>
            <a:xfrm>
              <a:off x="17121721" y="309032"/>
              <a:ext cx="0" cy="9194800"/>
            </a:xfrm>
            <a:custGeom>
              <a:avLst/>
              <a:gdLst/>
              <a:ahLst/>
              <a:cxnLst/>
              <a:rect l="l" t="t" r="r" b="b"/>
              <a:pathLst>
                <a:path h="9194800">
                  <a:moveTo>
                    <a:pt x="0" y="9194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7866" y="315382"/>
              <a:ext cx="16840200" cy="0"/>
            </a:xfrm>
            <a:custGeom>
              <a:avLst/>
              <a:gdLst/>
              <a:ahLst/>
              <a:cxnLst/>
              <a:rect l="l" t="t" r="r" b="b"/>
              <a:pathLst>
                <a:path w="16840200">
                  <a:moveTo>
                    <a:pt x="0" y="0"/>
                  </a:moveTo>
                  <a:lnTo>
                    <a:pt x="1684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7866" y="9497482"/>
              <a:ext cx="16840200" cy="0"/>
            </a:xfrm>
            <a:custGeom>
              <a:avLst/>
              <a:gdLst/>
              <a:ahLst/>
              <a:cxnLst/>
              <a:rect l="l" t="t" r="r" b="b"/>
              <a:pathLst>
                <a:path w="16840200">
                  <a:moveTo>
                    <a:pt x="0" y="0"/>
                  </a:moveTo>
                  <a:lnTo>
                    <a:pt x="1684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65200" y="867160"/>
            <a:ext cx="15163799" cy="3593228"/>
          </a:xfrm>
          <a:prstGeom prst="rect">
            <a:avLst/>
          </a:prstGeom>
        </p:spPr>
        <p:txBody>
          <a:bodyPr vert="horz" wrap="square" lIns="0" tIns="733997" rIns="0" bIns="0" rtlCol="0">
            <a:spAutoFit/>
          </a:bodyPr>
          <a:lstStyle/>
          <a:p>
            <a:pPr marL="1021080" algn="ctr">
              <a:lnSpc>
                <a:spcPct val="100000"/>
              </a:lnSpc>
              <a:spcBef>
                <a:spcPts val="1930"/>
              </a:spcBef>
            </a:pPr>
            <a:r>
              <a:rPr lang="pt-BR" sz="7200" spc="-520" dirty="0" smtClean="0">
                <a:solidFill>
                  <a:srgbClr val="2F2F2F"/>
                </a:solidFill>
              </a:rPr>
              <a:t>O  DNA  da  I . A </a:t>
            </a:r>
            <a:br>
              <a:rPr lang="pt-BR" sz="7200" spc="-520" dirty="0" smtClean="0">
                <a:solidFill>
                  <a:srgbClr val="2F2F2F"/>
                </a:solidFill>
              </a:rPr>
            </a:br>
            <a:r>
              <a:rPr lang="pt-BR" sz="7200" spc="-520" dirty="0" smtClean="0">
                <a:solidFill>
                  <a:srgbClr val="2F2F2F"/>
                </a:solidFill>
              </a:rPr>
              <a:t>OPP- </a:t>
            </a:r>
            <a:r>
              <a:rPr sz="7200" spc="-520" dirty="0" smtClean="0">
                <a:solidFill>
                  <a:srgbClr val="2F2F2F"/>
                </a:solidFill>
              </a:rPr>
              <a:t>Prom</a:t>
            </a:r>
            <a:r>
              <a:rPr lang="pt-BR" sz="7200" spc="-520" dirty="0" smtClean="0">
                <a:solidFill>
                  <a:srgbClr val="2F2F2F"/>
                </a:solidFill>
              </a:rPr>
              <a:t>p</a:t>
            </a:r>
            <a:r>
              <a:rPr sz="7200" spc="-520" dirty="0" smtClean="0">
                <a:solidFill>
                  <a:srgbClr val="2F2F2F"/>
                </a:solidFill>
              </a:rPr>
              <a:t>t</a:t>
            </a:r>
            <a:r>
              <a:rPr sz="7200" spc="270" dirty="0" smtClean="0">
                <a:solidFill>
                  <a:srgbClr val="2F2F2F"/>
                </a:solidFill>
              </a:rPr>
              <a:t> </a:t>
            </a:r>
            <a:r>
              <a:rPr sz="7200" spc="-380" dirty="0" smtClean="0">
                <a:solidFill>
                  <a:srgbClr val="313131"/>
                </a:solidFill>
              </a:rPr>
              <a:t>Perfeito</a:t>
            </a:r>
            <a:endParaRPr sz="7200" dirty="0" smtClean="0"/>
          </a:p>
          <a:p>
            <a:pPr marL="3337560" algn="l">
              <a:lnSpc>
                <a:spcPct val="100000"/>
              </a:lnSpc>
              <a:spcBef>
                <a:spcPts val="680"/>
              </a:spcBef>
            </a:pPr>
            <a:r>
              <a:rPr lang="pt-BR" sz="3550" spc="-20" dirty="0" smtClean="0">
                <a:latin typeface="Calibri"/>
                <a:cs typeface="Calibri"/>
              </a:rPr>
              <a:t>                      O PONTO ZERO DA JORNADA </a:t>
            </a:r>
            <a:endParaRPr sz="355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2400" y="8605393"/>
            <a:ext cx="7717043" cy="4392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35" dirty="0">
                <a:latin typeface="Cambria"/>
                <a:cs typeface="Cambria"/>
              </a:rPr>
              <a:t>Baseado</a:t>
            </a:r>
            <a:r>
              <a:rPr sz="2750" spc="-60" dirty="0">
                <a:latin typeface="Cambria"/>
                <a:cs typeface="Cambria"/>
              </a:rPr>
              <a:t> </a:t>
            </a:r>
            <a:r>
              <a:rPr sz="2750" spc="-80" dirty="0">
                <a:latin typeface="Cambria"/>
                <a:cs typeface="Cambria"/>
              </a:rPr>
              <a:t>no </a:t>
            </a:r>
            <a:r>
              <a:rPr sz="2750" spc="-105" dirty="0">
                <a:latin typeface="Cambria"/>
                <a:cs typeface="Cambria"/>
              </a:rPr>
              <a:t>método</a:t>
            </a:r>
            <a:r>
              <a:rPr sz="2750" spc="-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do</a:t>
            </a:r>
            <a:r>
              <a:rPr sz="2750" spc="-90" dirty="0">
                <a:latin typeface="Cambria"/>
                <a:cs typeface="Cambria"/>
              </a:rPr>
              <a:t> Prof.</a:t>
            </a:r>
            <a:r>
              <a:rPr sz="2750" spc="-55" dirty="0">
                <a:latin typeface="Cambria"/>
                <a:cs typeface="Cambria"/>
              </a:rPr>
              <a:t> </a:t>
            </a:r>
            <a:r>
              <a:rPr sz="2750" spc="-130" dirty="0">
                <a:latin typeface="Cambria"/>
                <a:cs typeface="Cambria"/>
              </a:rPr>
              <a:t>Valdir</a:t>
            </a:r>
            <a:r>
              <a:rPr sz="2750" spc="-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Costa</a:t>
            </a:r>
            <a:r>
              <a:rPr sz="2750" spc="-25" dirty="0">
                <a:latin typeface="Cambria"/>
                <a:cs typeface="Cambria"/>
              </a:rPr>
              <a:t> </a:t>
            </a:r>
            <a:r>
              <a:rPr sz="2750" spc="-30" dirty="0" smtClean="0">
                <a:latin typeface="Cambria"/>
                <a:cs typeface="Cambria"/>
              </a:rPr>
              <a:t>Almeida</a:t>
            </a:r>
            <a:r>
              <a:rPr lang="pt-BR" sz="2750" spc="-30" dirty="0" smtClean="0">
                <a:latin typeface="Cambria"/>
                <a:cs typeface="Cambria"/>
              </a:rPr>
              <a:t>c</a:t>
            </a:r>
            <a:endParaRPr sz="27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17800" y="371316"/>
            <a:ext cx="11475807" cy="2218492"/>
          </a:xfrm>
          <a:prstGeom prst="rect">
            <a:avLst/>
          </a:prstGeom>
        </p:spPr>
        <p:txBody>
          <a:bodyPr vert="horz" wrap="square" lIns="0" tIns="733997" rIns="0" bIns="0" rtlCol="0">
            <a:spAutoFit/>
          </a:bodyPr>
          <a:lstStyle/>
          <a:p>
            <a:pPr marL="1021080" algn="ctr">
              <a:lnSpc>
                <a:spcPct val="100000"/>
              </a:lnSpc>
              <a:spcBef>
                <a:spcPts val="1930"/>
              </a:spcBef>
            </a:pPr>
            <a:r>
              <a:rPr lang="pt-BR" sz="4800" spc="-520" dirty="0" smtClean="0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A N K I N G     D A S   A L U C I N A Ç Õ E S </a:t>
            </a:r>
            <a:br>
              <a:rPr lang="pt-BR" sz="4800" spc="-520" dirty="0" smtClean="0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800" spc="-520" dirty="0" smtClean="0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A S    I. As 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0"/>
          <p:cNvSpPr txBox="1"/>
          <p:nvPr/>
        </p:nvSpPr>
        <p:spPr>
          <a:xfrm>
            <a:off x="7289800" y="2893522"/>
            <a:ext cx="3209003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pt-BR" sz="3200" spc="-35" dirty="0" err="1" smtClean="0">
                <a:solidFill>
                  <a:srgbClr val="002060"/>
                </a:solidFill>
                <a:latin typeface="Cambria"/>
                <a:cs typeface="Cambria"/>
              </a:rPr>
              <a:t>I.As</a:t>
            </a:r>
            <a:r>
              <a:rPr lang="pt-BR" sz="3200" spc="-35" dirty="0" smtClean="0">
                <a:solidFill>
                  <a:srgbClr val="002060"/>
                </a:solidFill>
                <a:latin typeface="Cambria"/>
                <a:cs typeface="Cambria"/>
              </a:rPr>
              <a:t> TESTADAS </a:t>
            </a:r>
            <a:endParaRPr sz="3200" dirty="0">
              <a:solidFill>
                <a:srgbClr val="002060"/>
              </a:solidFill>
              <a:latin typeface="Cambria"/>
              <a:cs typeface="Cambria"/>
            </a:endParaRPr>
          </a:p>
        </p:txBody>
      </p:sp>
      <p:grpSp>
        <p:nvGrpSpPr>
          <p:cNvPr id="26" name="Grupo 25"/>
          <p:cNvGrpSpPr/>
          <p:nvPr/>
        </p:nvGrpSpPr>
        <p:grpSpPr>
          <a:xfrm>
            <a:off x="1955800" y="3858361"/>
            <a:ext cx="14578908" cy="2534597"/>
            <a:chOff x="1955800" y="3639134"/>
            <a:chExt cx="14578908" cy="2534597"/>
          </a:xfrm>
        </p:grpSpPr>
        <p:sp>
          <p:nvSpPr>
            <p:cNvPr id="14" name="object 10"/>
            <p:cNvSpPr txBox="1"/>
            <p:nvPr/>
          </p:nvSpPr>
          <p:spPr>
            <a:xfrm>
              <a:off x="1955800" y="3639134"/>
              <a:ext cx="4025001" cy="570028"/>
            </a:xfrm>
            <a:prstGeom prst="rect">
              <a:avLst/>
            </a:prstGeom>
            <a:ln w="12700">
              <a:solidFill>
                <a:srgbClr val="0070C0"/>
              </a:solidFill>
            </a:ln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3600" dirty="0" smtClean="0"/>
                <a:t>Perplexity= </a:t>
              </a:r>
              <a:r>
                <a:rPr lang="pt-BR" sz="3600" dirty="0" smtClean="0">
                  <a:solidFill>
                    <a:srgbClr val="FF0000"/>
                  </a:solidFill>
                </a:rPr>
                <a:t>37%</a:t>
              </a:r>
              <a:r>
                <a:rPr lang="pt-BR" sz="3600" dirty="0" smtClean="0"/>
                <a:t> </a:t>
              </a:r>
              <a:endParaRPr sz="3600" dirty="0">
                <a:latin typeface="Cambria"/>
                <a:cs typeface="Cambria"/>
              </a:endParaRPr>
            </a:p>
          </p:txBody>
        </p:sp>
        <p:sp>
          <p:nvSpPr>
            <p:cNvPr id="15" name="object 10"/>
            <p:cNvSpPr txBox="1"/>
            <p:nvPr/>
          </p:nvSpPr>
          <p:spPr>
            <a:xfrm>
              <a:off x="6261714" y="3639134"/>
              <a:ext cx="4620210" cy="570028"/>
            </a:xfrm>
            <a:prstGeom prst="rect">
              <a:avLst/>
            </a:prstGeom>
            <a:ln w="12700">
              <a:solidFill>
                <a:srgbClr val="0070C0"/>
              </a:solidFill>
            </a:ln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3600" dirty="0"/>
                <a:t>Perplexity </a:t>
              </a:r>
              <a:r>
                <a:rPr lang="pt-BR" sz="3600" dirty="0" smtClean="0"/>
                <a:t>Pro= </a:t>
              </a:r>
              <a:r>
                <a:rPr lang="pt-BR" sz="3600" dirty="0" smtClean="0">
                  <a:solidFill>
                    <a:srgbClr val="FF0000"/>
                  </a:solidFill>
                </a:rPr>
                <a:t>45%</a:t>
              </a:r>
              <a:endParaRPr sz="3600" dirty="0">
                <a:solidFill>
                  <a:srgbClr val="FF0000"/>
                </a:solidFill>
                <a:latin typeface="Cambria"/>
                <a:cs typeface="Cambria"/>
              </a:endParaRPr>
            </a:p>
          </p:txBody>
        </p:sp>
        <p:sp>
          <p:nvSpPr>
            <p:cNvPr id="16" name="object 10"/>
            <p:cNvSpPr txBox="1"/>
            <p:nvPr/>
          </p:nvSpPr>
          <p:spPr>
            <a:xfrm>
              <a:off x="11085817" y="3639134"/>
              <a:ext cx="5448891" cy="570028"/>
            </a:xfrm>
            <a:prstGeom prst="rect">
              <a:avLst/>
            </a:prstGeom>
            <a:ln w="12700">
              <a:solidFill>
                <a:srgbClr val="0070C0"/>
              </a:solidFill>
            </a:ln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3600" dirty="0"/>
                <a:t>DeepSeek </a:t>
              </a:r>
              <a:r>
                <a:rPr lang="pt-BR" sz="3600" dirty="0" smtClean="0"/>
                <a:t>Search= </a:t>
              </a:r>
              <a:r>
                <a:rPr lang="pt-BR" sz="3600" dirty="0" smtClean="0">
                  <a:solidFill>
                    <a:srgbClr val="FF0000"/>
                  </a:solidFill>
                </a:rPr>
                <a:t>68%</a:t>
              </a:r>
              <a:r>
                <a:rPr lang="pt-BR" sz="3600" dirty="0" smtClean="0"/>
                <a:t> </a:t>
              </a:r>
              <a:endParaRPr sz="3600" dirty="0">
                <a:latin typeface="Cambria"/>
                <a:cs typeface="Cambria"/>
              </a:endParaRPr>
            </a:p>
          </p:txBody>
        </p:sp>
        <p:sp>
          <p:nvSpPr>
            <p:cNvPr id="12" name="object 10"/>
            <p:cNvSpPr txBox="1"/>
            <p:nvPr/>
          </p:nvSpPr>
          <p:spPr>
            <a:xfrm>
              <a:off x="3315962" y="5603703"/>
              <a:ext cx="4307191" cy="570028"/>
            </a:xfrm>
            <a:prstGeom prst="rect">
              <a:avLst/>
            </a:prstGeom>
            <a:ln w="9525">
              <a:solidFill>
                <a:srgbClr val="0070C0"/>
              </a:solidFill>
            </a:ln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3600" dirty="0" smtClean="0"/>
                <a:t>ChatGPT= </a:t>
              </a:r>
              <a:r>
                <a:rPr lang="pt-BR" sz="3600" dirty="0" smtClean="0">
                  <a:solidFill>
                    <a:srgbClr val="FF0000"/>
                  </a:solidFill>
                </a:rPr>
                <a:t>67%</a:t>
              </a:r>
              <a:endParaRPr sz="3600" dirty="0">
                <a:solidFill>
                  <a:srgbClr val="FF0000"/>
                </a:solidFill>
                <a:latin typeface="Cambria"/>
                <a:cs typeface="Cambria"/>
              </a:endParaRPr>
            </a:p>
          </p:txBody>
        </p:sp>
        <p:sp>
          <p:nvSpPr>
            <p:cNvPr id="17" name="object 10"/>
            <p:cNvSpPr txBox="1"/>
            <p:nvPr/>
          </p:nvSpPr>
          <p:spPr>
            <a:xfrm>
              <a:off x="7921204" y="5586689"/>
              <a:ext cx="2852794" cy="570028"/>
            </a:xfrm>
            <a:prstGeom prst="rect">
              <a:avLst/>
            </a:prstGeom>
            <a:ln w="9525">
              <a:solidFill>
                <a:srgbClr val="0070C0"/>
              </a:solidFill>
            </a:ln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3600" dirty="0" smtClean="0"/>
                <a:t>Grok-2= </a:t>
              </a:r>
              <a:r>
                <a:rPr lang="pt-BR" sz="3600" dirty="0" smtClean="0">
                  <a:solidFill>
                    <a:srgbClr val="FF0000"/>
                  </a:solidFill>
                </a:rPr>
                <a:t>77%</a:t>
              </a:r>
              <a:endParaRPr sz="3600" dirty="0">
                <a:solidFill>
                  <a:srgbClr val="FF0000"/>
                </a:solidFill>
                <a:latin typeface="Cambria"/>
                <a:cs typeface="Cambria"/>
              </a:endParaRPr>
            </a:p>
          </p:txBody>
        </p:sp>
        <p:sp>
          <p:nvSpPr>
            <p:cNvPr id="18" name="object 10"/>
            <p:cNvSpPr txBox="1"/>
            <p:nvPr/>
          </p:nvSpPr>
          <p:spPr>
            <a:xfrm>
              <a:off x="11263975" y="5586689"/>
              <a:ext cx="3021072" cy="570028"/>
            </a:xfrm>
            <a:prstGeom prst="rect">
              <a:avLst/>
            </a:prstGeom>
            <a:ln w="9525">
              <a:solidFill>
                <a:srgbClr val="0070C0"/>
              </a:solidFill>
            </a:ln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3600" dirty="0" smtClean="0"/>
                <a:t>Grok-3 = </a:t>
              </a:r>
              <a:r>
                <a:rPr lang="pt-BR" sz="3600" dirty="0" smtClean="0">
                  <a:solidFill>
                    <a:srgbClr val="FF0000"/>
                  </a:solidFill>
                </a:rPr>
                <a:t>93%</a:t>
              </a:r>
              <a:r>
                <a:rPr lang="pt-BR" sz="3600" dirty="0" smtClean="0"/>
                <a:t> </a:t>
              </a:r>
              <a:endParaRPr sz="3600" dirty="0">
                <a:latin typeface="Cambria"/>
                <a:cs typeface="Cambria"/>
              </a:endParaRPr>
            </a:p>
          </p:txBody>
        </p:sp>
        <p:sp>
          <p:nvSpPr>
            <p:cNvPr id="13" name="object 10"/>
            <p:cNvSpPr txBox="1"/>
            <p:nvPr/>
          </p:nvSpPr>
          <p:spPr>
            <a:xfrm>
              <a:off x="3367661" y="4577628"/>
              <a:ext cx="5788105" cy="570028"/>
            </a:xfrm>
            <a:prstGeom prst="rect">
              <a:avLst/>
            </a:prstGeom>
            <a:ln w="12700">
              <a:solidFill>
                <a:srgbClr val="0070C0"/>
              </a:solidFill>
            </a:ln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3600" dirty="0"/>
                <a:t>Copilot da </a:t>
              </a:r>
              <a:r>
                <a:rPr lang="pt-BR" sz="3600" dirty="0" smtClean="0"/>
                <a:t>Microsoft= </a:t>
              </a:r>
              <a:r>
                <a:rPr lang="pt-BR" sz="3600" dirty="0" smtClean="0">
                  <a:solidFill>
                    <a:srgbClr val="FF0000"/>
                  </a:solidFill>
                </a:rPr>
                <a:t>40%</a:t>
              </a:r>
              <a:endParaRPr sz="3600" dirty="0">
                <a:solidFill>
                  <a:srgbClr val="FF0000"/>
                </a:solidFill>
                <a:latin typeface="Cambria"/>
                <a:cs typeface="Cambria"/>
              </a:endParaRPr>
            </a:p>
          </p:txBody>
        </p:sp>
        <p:sp>
          <p:nvSpPr>
            <p:cNvPr id="19" name="object 10"/>
            <p:cNvSpPr txBox="1"/>
            <p:nvPr/>
          </p:nvSpPr>
          <p:spPr>
            <a:xfrm>
              <a:off x="9709916" y="4570723"/>
              <a:ext cx="5445793" cy="570028"/>
            </a:xfrm>
            <a:prstGeom prst="rect">
              <a:avLst/>
            </a:prstGeom>
            <a:ln w="12700">
              <a:solidFill>
                <a:srgbClr val="0070C0"/>
              </a:solidFill>
            </a:ln>
          </p:spPr>
          <p:txBody>
            <a:bodyPr vert="horz" wrap="square" lIns="0" tIns="1587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3600" dirty="0"/>
                <a:t>Gemini do </a:t>
              </a:r>
              <a:r>
                <a:rPr lang="pt-BR" sz="3600" dirty="0" smtClean="0"/>
                <a:t>Google = </a:t>
              </a:r>
              <a:r>
                <a:rPr lang="pt-BR" sz="3600" dirty="0" smtClean="0">
                  <a:solidFill>
                    <a:srgbClr val="FF0000"/>
                  </a:solidFill>
                </a:rPr>
                <a:t>73%</a:t>
              </a:r>
              <a:endParaRPr sz="3600" dirty="0">
                <a:solidFill>
                  <a:srgbClr val="FF0000"/>
                </a:solidFill>
                <a:latin typeface="Cambria"/>
                <a:cs typeface="Cambria"/>
              </a:endParaRPr>
            </a:p>
          </p:txBody>
        </p:sp>
      </p:grpSp>
      <p:sp>
        <p:nvSpPr>
          <p:cNvPr id="3" name="Retângulo 2"/>
          <p:cNvSpPr/>
          <p:nvPr/>
        </p:nvSpPr>
        <p:spPr>
          <a:xfrm>
            <a:off x="5072662" y="7631781"/>
            <a:ext cx="8737600" cy="13978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pt-BR" sz="2800" b="1" spc="-35" dirty="0" smtClean="0">
                <a:latin typeface="Cambria"/>
                <a:cs typeface="Cambria"/>
              </a:rPr>
              <a:t>FONTE  : </a:t>
            </a:r>
            <a:r>
              <a:rPr lang="pt-BR" sz="2800" b="1" spc="-35" dirty="0" smtClean="0">
                <a:solidFill>
                  <a:srgbClr val="FF0000"/>
                </a:solidFill>
                <a:latin typeface="Cambria"/>
                <a:cs typeface="Cambria"/>
              </a:rPr>
              <a:t>COLUMBIA JOURNALISM REVI</a:t>
            </a:r>
            <a:r>
              <a:rPr lang="pt-BR" sz="2800" b="1" spc="-35" dirty="0" smtClean="0">
                <a:latin typeface="Cambria"/>
                <a:cs typeface="Cambria"/>
              </a:rPr>
              <a:t>EW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z="2800" spc="-35" dirty="0" smtClean="0">
                <a:latin typeface="Cambria"/>
                <a:cs typeface="Cambria"/>
              </a:rPr>
              <a:t>https://www.cjr.org/tow_center/we-compared-eight-ai-search-engines-theyre-all-bad-at-citing-news.php</a:t>
            </a:r>
            <a:endParaRPr lang="pt-BR" sz="2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9634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4216" y="309032"/>
            <a:ext cx="0" cy="9194800"/>
          </a:xfrm>
          <a:custGeom>
            <a:avLst/>
            <a:gdLst/>
            <a:ahLst/>
            <a:cxnLst/>
            <a:rect l="l" t="t" r="r" b="b"/>
            <a:pathLst>
              <a:path h="9194800">
                <a:moveTo>
                  <a:pt x="0" y="9194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7866" y="309032"/>
            <a:ext cx="16840200" cy="9194800"/>
            <a:chOff x="287866" y="309032"/>
            <a:chExt cx="16840200" cy="9194800"/>
          </a:xfrm>
        </p:grpSpPr>
        <p:sp>
          <p:nvSpPr>
            <p:cNvPr id="6" name="object 6"/>
            <p:cNvSpPr/>
            <p:nvPr/>
          </p:nvSpPr>
          <p:spPr>
            <a:xfrm>
              <a:off x="17121721" y="309032"/>
              <a:ext cx="0" cy="9194800"/>
            </a:xfrm>
            <a:custGeom>
              <a:avLst/>
              <a:gdLst/>
              <a:ahLst/>
              <a:cxnLst/>
              <a:rect l="l" t="t" r="r" b="b"/>
              <a:pathLst>
                <a:path h="9194800">
                  <a:moveTo>
                    <a:pt x="0" y="91948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7866" y="315382"/>
              <a:ext cx="16840200" cy="0"/>
            </a:xfrm>
            <a:custGeom>
              <a:avLst/>
              <a:gdLst/>
              <a:ahLst/>
              <a:cxnLst/>
              <a:rect l="l" t="t" r="r" b="b"/>
              <a:pathLst>
                <a:path w="16840200">
                  <a:moveTo>
                    <a:pt x="0" y="0"/>
                  </a:moveTo>
                  <a:lnTo>
                    <a:pt x="1684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7866" y="9497482"/>
              <a:ext cx="16840200" cy="0"/>
            </a:xfrm>
            <a:custGeom>
              <a:avLst/>
              <a:gdLst/>
              <a:ahLst/>
              <a:cxnLst/>
              <a:rect l="l" t="t" r="r" b="b"/>
              <a:pathLst>
                <a:path w="16840200">
                  <a:moveTo>
                    <a:pt x="0" y="0"/>
                  </a:moveTo>
                  <a:lnTo>
                    <a:pt x="16840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05971" y="605617"/>
            <a:ext cx="12780438" cy="1479829"/>
          </a:xfrm>
          <a:prstGeom prst="rect">
            <a:avLst/>
          </a:prstGeom>
        </p:spPr>
        <p:txBody>
          <a:bodyPr vert="horz" wrap="square" lIns="0" tIns="733997" rIns="0" bIns="0" rtlCol="0">
            <a:spAutoFit/>
          </a:bodyPr>
          <a:lstStyle/>
          <a:p>
            <a:pPr marL="1021080" algn="ctr">
              <a:lnSpc>
                <a:spcPct val="100000"/>
              </a:lnSpc>
              <a:spcBef>
                <a:spcPts val="1930"/>
              </a:spcBef>
            </a:pPr>
            <a:r>
              <a:rPr lang="pt-BR" sz="4800" spc="-520" dirty="0" smtClean="0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O M O      R E D U Z I R  A S       A L U C I N A Ç Õ E S 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929261" y="3187914"/>
            <a:ext cx="13032125" cy="4861869"/>
            <a:chOff x="2929261" y="3187914"/>
            <a:chExt cx="13032125" cy="4861869"/>
          </a:xfrm>
        </p:grpSpPr>
        <p:grpSp>
          <p:nvGrpSpPr>
            <p:cNvPr id="38" name="Grupo 37"/>
            <p:cNvGrpSpPr/>
            <p:nvPr/>
          </p:nvGrpSpPr>
          <p:grpSpPr>
            <a:xfrm>
              <a:off x="2931708" y="3402403"/>
              <a:ext cx="4863914" cy="2455086"/>
              <a:chOff x="3778255" y="3366086"/>
              <a:chExt cx="4863914" cy="2455086"/>
            </a:xfrm>
          </p:grpSpPr>
          <p:sp>
            <p:nvSpPr>
              <p:cNvPr id="14" name="object 10"/>
              <p:cNvSpPr txBox="1"/>
              <p:nvPr/>
            </p:nvSpPr>
            <p:spPr>
              <a:xfrm>
                <a:off x="3784600" y="3366086"/>
                <a:ext cx="4845276" cy="631583"/>
              </a:xfrm>
              <a:prstGeom prst="rect">
                <a:avLst/>
              </a:prstGeom>
              <a:ln w="12700">
                <a:solidFill>
                  <a:srgbClr val="0070C0"/>
                </a:solidFill>
              </a:ln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25"/>
                  </a:spcBef>
                </a:pPr>
                <a:r>
                  <a:rPr lang="pt-BR" sz="4000" dirty="0" smtClean="0">
                    <a:latin typeface="Cambria"/>
                    <a:cs typeface="Cambria"/>
                  </a:rPr>
                  <a:t>Personalização</a:t>
                </a:r>
                <a:endParaRPr sz="2750" dirty="0">
                  <a:latin typeface="Cambria"/>
                  <a:cs typeface="Cambria"/>
                </a:endParaRPr>
              </a:p>
            </p:txBody>
          </p:sp>
          <p:sp>
            <p:nvSpPr>
              <p:cNvPr id="23" name="object 10"/>
              <p:cNvSpPr txBox="1"/>
              <p:nvPr/>
            </p:nvSpPr>
            <p:spPr>
              <a:xfrm>
                <a:off x="4241800" y="5251144"/>
                <a:ext cx="4400369" cy="570028"/>
              </a:xfrm>
              <a:prstGeom prst="rect">
                <a:avLst/>
              </a:prstGeom>
              <a:ln w="12700">
                <a:solidFill>
                  <a:srgbClr val="0070C0"/>
                </a:solidFill>
              </a:ln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25"/>
                  </a:spcBef>
                </a:pPr>
                <a:r>
                  <a:rPr lang="pt-BR" sz="3600" dirty="0" smtClean="0">
                    <a:latin typeface="Cambria"/>
                    <a:cs typeface="Cambria"/>
                  </a:rPr>
                  <a:t>Agentes/Assistentes</a:t>
                </a:r>
                <a:endParaRPr sz="3600" dirty="0">
                  <a:latin typeface="Cambria"/>
                  <a:cs typeface="Cambria"/>
                </a:endParaRPr>
              </a:p>
            </p:txBody>
          </p:sp>
          <p:sp>
            <p:nvSpPr>
              <p:cNvPr id="26" name="object 10"/>
              <p:cNvSpPr txBox="1"/>
              <p:nvPr/>
            </p:nvSpPr>
            <p:spPr>
              <a:xfrm>
                <a:off x="3778255" y="3982752"/>
                <a:ext cx="4863914" cy="1247136"/>
              </a:xfrm>
              <a:prstGeom prst="rect">
                <a:avLst/>
              </a:prstGeom>
              <a:ln w="12700">
                <a:solidFill>
                  <a:srgbClr val="0070C0"/>
                </a:solidFill>
              </a:ln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25"/>
                  </a:spcBef>
                </a:pPr>
                <a:r>
                  <a:rPr lang="pt-BR" sz="4000" dirty="0" smtClean="0">
                    <a:latin typeface="Cambria"/>
                    <a:cs typeface="Cambria"/>
                  </a:rPr>
                  <a:t>Prompts bem elaborados</a:t>
                </a:r>
                <a:endParaRPr sz="2750" dirty="0">
                  <a:latin typeface="Cambria"/>
                  <a:cs typeface="Cambria"/>
                </a:endParaRPr>
              </a:p>
            </p:txBody>
          </p:sp>
        </p:grpSp>
        <p:sp>
          <p:nvSpPr>
            <p:cNvPr id="20" name="Seta para a direita 19"/>
            <p:cNvSpPr/>
            <p:nvPr/>
          </p:nvSpPr>
          <p:spPr>
            <a:xfrm>
              <a:off x="8025115" y="3333867"/>
              <a:ext cx="1363234" cy="457200"/>
            </a:xfrm>
            <a:prstGeom prst="rightArrow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9538527" y="3187914"/>
              <a:ext cx="574074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2400" dirty="0" smtClean="0">
                  <a:latin typeface="Cambria"/>
                  <a:cs typeface="Cambria"/>
                </a:rPr>
                <a:t>Informar para a I.A como você deseja que ela se comporte quando for acionada</a:t>
              </a:r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10234966" y="4175601"/>
              <a:ext cx="5726420" cy="8438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2400" dirty="0" smtClean="0">
                  <a:latin typeface="Cambria"/>
                  <a:cs typeface="Cambria"/>
                </a:rPr>
                <a:t>É hora de liderar! </a:t>
              </a:r>
            </a:p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2400" dirty="0" smtClean="0">
                  <a:latin typeface="Cambria"/>
                  <a:cs typeface="Cambria"/>
                </a:rPr>
                <a:t>Dar o comando, da forma e  do jeito certo </a:t>
              </a:r>
            </a:p>
          </p:txBody>
        </p:sp>
        <p:sp>
          <p:nvSpPr>
            <p:cNvPr id="29" name="Seta para a direita 28"/>
            <p:cNvSpPr/>
            <p:nvPr/>
          </p:nvSpPr>
          <p:spPr>
            <a:xfrm>
              <a:off x="8025115" y="4308114"/>
              <a:ext cx="2209851" cy="457200"/>
            </a:xfrm>
            <a:prstGeom prst="rightArrow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Seta para a direita 29"/>
            <p:cNvSpPr/>
            <p:nvPr/>
          </p:nvSpPr>
          <p:spPr>
            <a:xfrm>
              <a:off x="8009565" y="5391743"/>
              <a:ext cx="1565053" cy="457200"/>
            </a:xfrm>
            <a:prstGeom prst="rightArrow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Retângulo 30"/>
            <p:cNvSpPr/>
            <p:nvPr/>
          </p:nvSpPr>
          <p:spPr>
            <a:xfrm>
              <a:off x="9583410" y="5205080"/>
              <a:ext cx="6102284" cy="12131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2400" dirty="0" smtClean="0">
                  <a:latin typeface="Cambria"/>
                  <a:cs typeface="Cambria"/>
                </a:rPr>
                <a:t>Seus estagiários diretos ( Criação própria ou assinatura de alguma plataforma) </a:t>
              </a:r>
            </a:p>
            <a:p>
              <a:pPr marL="12700" algn="ctr">
                <a:spcBef>
                  <a:spcPts val="125"/>
                </a:spcBef>
              </a:pPr>
              <a:r>
                <a:rPr lang="pt-BR" sz="2400" dirty="0" smtClean="0">
                  <a:latin typeface="Cambria"/>
                  <a:cs typeface="Cambria"/>
                </a:rPr>
                <a:t>Precisarão ser treinados exaustivamente </a:t>
              </a:r>
            </a:p>
          </p:txBody>
        </p:sp>
        <p:sp>
          <p:nvSpPr>
            <p:cNvPr id="35" name="Seta dobrada 34"/>
            <p:cNvSpPr/>
            <p:nvPr/>
          </p:nvSpPr>
          <p:spPr>
            <a:xfrm rot="10800000" flipH="1">
              <a:off x="2929261" y="3402403"/>
              <a:ext cx="1331271" cy="4370989"/>
            </a:xfrm>
            <a:prstGeom prst="ben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36" name="Seta para a direita 35"/>
            <p:cNvSpPr/>
            <p:nvPr/>
          </p:nvSpPr>
          <p:spPr>
            <a:xfrm>
              <a:off x="4408922" y="7170352"/>
              <a:ext cx="2209851" cy="457200"/>
            </a:xfrm>
            <a:prstGeom prst="rightArrow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tângulo 36"/>
            <p:cNvSpPr/>
            <p:nvPr/>
          </p:nvSpPr>
          <p:spPr>
            <a:xfrm>
              <a:off x="6823535" y="6849454"/>
              <a:ext cx="7899353" cy="120032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25"/>
                </a:spcBef>
              </a:pPr>
              <a:r>
                <a:rPr lang="pt-BR" sz="2400" dirty="0" smtClean="0">
                  <a:latin typeface="Cambria"/>
                  <a:cs typeface="Cambria"/>
                </a:rPr>
                <a:t>Se divirta com I.A, pesquise, comande, crie coisas, textos, pareceres- </a:t>
              </a:r>
              <a:r>
                <a:rPr lang="pt-BR" sz="2400" b="1" i="1" dirty="0" smtClean="0">
                  <a:latin typeface="Cambria"/>
                  <a:cs typeface="Cambria"/>
                </a:rPr>
                <a:t>PARA IR TREINANDO-A </a:t>
              </a:r>
              <a:r>
                <a:rPr lang="pt-BR" sz="2400" dirty="0" smtClean="0">
                  <a:latin typeface="Cambria"/>
                  <a:cs typeface="Cambria"/>
                </a:rPr>
                <a:t>de acordo com o que você deseja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361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55800" y="752670"/>
            <a:ext cx="5642452" cy="2914259"/>
          </a:xfrm>
          <a:prstGeom prst="rect">
            <a:avLst/>
          </a:prstGeom>
          <a:ln w="12700">
            <a:solidFill>
              <a:srgbClr val="00B050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12700" marR="5080" indent="8255" algn="ctr">
              <a:lnSpc>
                <a:spcPts val="5400"/>
              </a:lnSpc>
              <a:spcBef>
                <a:spcPts val="1125"/>
              </a:spcBef>
            </a:pPr>
            <a:r>
              <a:rPr sz="5350" dirty="0">
                <a:solidFill>
                  <a:srgbClr val="3B3B3B"/>
                </a:solidFill>
              </a:rPr>
              <a:t>A</a:t>
            </a:r>
            <a:r>
              <a:rPr sz="5350" spc="-295" dirty="0">
                <a:solidFill>
                  <a:srgbClr val="3B3B3B"/>
                </a:solidFill>
              </a:rPr>
              <a:t> </a:t>
            </a:r>
            <a:r>
              <a:rPr sz="5350" spc="-114" dirty="0" err="1">
                <a:solidFill>
                  <a:srgbClr val="333333"/>
                </a:solidFill>
              </a:rPr>
              <a:t>promessa</a:t>
            </a:r>
            <a:r>
              <a:rPr sz="5350" spc="-105" dirty="0">
                <a:solidFill>
                  <a:srgbClr val="333333"/>
                </a:solidFill>
              </a:rPr>
              <a:t> </a:t>
            </a:r>
            <a:r>
              <a:rPr sz="5350" spc="-25" dirty="0" smtClean="0">
                <a:solidFill>
                  <a:srgbClr val="363636"/>
                </a:solidFill>
              </a:rPr>
              <a:t>da</a:t>
            </a:r>
            <a:r>
              <a:rPr lang="pt-BR" sz="5350" spc="-25" dirty="0" smtClean="0">
                <a:solidFill>
                  <a:srgbClr val="363636"/>
                </a:solidFill>
              </a:rPr>
              <a:t> I.A</a:t>
            </a:r>
            <a:r>
              <a:rPr sz="5350" spc="-25" dirty="0" smtClean="0">
                <a:solidFill>
                  <a:srgbClr val="363636"/>
                </a:solidFill>
              </a:rPr>
              <a:t> </a:t>
            </a:r>
            <a:r>
              <a:rPr lang="pt-BR" sz="5350" spc="-25" dirty="0" smtClean="0">
                <a:solidFill>
                  <a:srgbClr val="363636"/>
                </a:solidFill>
              </a:rPr>
              <a:t/>
            </a:r>
            <a:br>
              <a:rPr lang="pt-BR" sz="5350" spc="-25" dirty="0" smtClean="0">
                <a:solidFill>
                  <a:srgbClr val="363636"/>
                </a:solidFill>
              </a:rPr>
            </a:br>
            <a:r>
              <a:rPr lang="pt-BR" sz="5400" spc="-130" dirty="0" smtClean="0">
                <a:solidFill>
                  <a:srgbClr val="FF0000"/>
                </a:solidFill>
              </a:rPr>
              <a:t>X</a:t>
            </a:r>
            <a:r>
              <a:rPr sz="5400" spc="-140" dirty="0" smtClean="0">
                <a:solidFill>
                  <a:srgbClr val="FF0000"/>
                </a:solidFill>
              </a:rPr>
              <a:t> </a:t>
            </a:r>
            <a:r>
              <a:rPr lang="pt-BR" sz="5400" spc="-140" dirty="0" smtClean="0">
                <a:solidFill>
                  <a:srgbClr val="313131"/>
                </a:solidFill>
              </a:rPr>
              <a:t/>
            </a:r>
            <a:br>
              <a:rPr lang="pt-BR" sz="5400" spc="-140" dirty="0" smtClean="0">
                <a:solidFill>
                  <a:srgbClr val="313131"/>
                </a:solidFill>
              </a:rPr>
            </a:br>
            <a:r>
              <a:rPr sz="5400" spc="75" dirty="0" smtClean="0">
                <a:solidFill>
                  <a:srgbClr val="313131"/>
                </a:solidFill>
              </a:rPr>
              <a:t>a</a:t>
            </a:r>
            <a:r>
              <a:rPr sz="5400" spc="-325" dirty="0" smtClean="0">
                <a:solidFill>
                  <a:srgbClr val="313131"/>
                </a:solidFill>
              </a:rPr>
              <a:t> </a:t>
            </a:r>
            <a:r>
              <a:rPr sz="5400" spc="-145" dirty="0">
                <a:solidFill>
                  <a:srgbClr val="333333"/>
                </a:solidFill>
              </a:rPr>
              <a:t>realidade </a:t>
            </a:r>
            <a:r>
              <a:rPr sz="5450" spc="-95" dirty="0">
                <a:solidFill>
                  <a:srgbClr val="383838"/>
                </a:solidFill>
              </a:rPr>
              <a:t>do</a:t>
            </a:r>
            <a:r>
              <a:rPr sz="5450" spc="-204" dirty="0">
                <a:solidFill>
                  <a:srgbClr val="383838"/>
                </a:solidFill>
              </a:rPr>
              <a:t> </a:t>
            </a:r>
            <a:r>
              <a:rPr sz="5450" spc="-70" dirty="0">
                <a:solidFill>
                  <a:srgbClr val="2F2F2F"/>
                </a:solidFill>
              </a:rPr>
              <a:t>advogado.</a:t>
            </a:r>
            <a:endParaRPr sz="5450" dirty="0"/>
          </a:p>
        </p:txBody>
      </p:sp>
      <p:sp>
        <p:nvSpPr>
          <p:cNvPr id="5" name="object 5"/>
          <p:cNvSpPr txBox="1"/>
          <p:nvPr/>
        </p:nvSpPr>
        <p:spPr>
          <a:xfrm>
            <a:off x="1727200" y="4813417"/>
            <a:ext cx="7747635" cy="19088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10160">
              <a:lnSpc>
                <a:spcPct val="100099"/>
              </a:lnSpc>
              <a:spcBef>
                <a:spcPts val="125"/>
              </a:spcBef>
              <a:tabLst>
                <a:tab pos="3274060" algn="l"/>
              </a:tabLst>
            </a:pPr>
            <a:r>
              <a:rPr sz="2400" spc="-15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1"/>
                </a:solidFill>
                <a:latin typeface="Arial MT"/>
                <a:cs typeface="Arial MT"/>
              </a:rPr>
              <a:t>Inteligência</a:t>
            </a:r>
            <a:r>
              <a:rPr sz="2400" spc="1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1"/>
                </a:solidFill>
                <a:latin typeface="Arial MT"/>
                <a:cs typeface="Arial MT"/>
              </a:rPr>
              <a:t>Artificial</a:t>
            </a:r>
            <a:r>
              <a:rPr sz="2400" spc="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Arial MT"/>
                <a:cs typeface="Arial MT"/>
              </a:rPr>
              <a:t>promete </a:t>
            </a:r>
            <a:r>
              <a:rPr sz="2400" spc="-10" dirty="0">
                <a:solidFill>
                  <a:srgbClr val="7030A0"/>
                </a:solidFill>
                <a:latin typeface="Arial MT"/>
                <a:cs typeface="Arial MT"/>
              </a:rPr>
              <a:t>revolucionar</a:t>
            </a:r>
            <a:r>
              <a:rPr sz="2400" spc="1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2400" spc="-220" dirty="0">
                <a:solidFill>
                  <a:srgbClr val="7030A0"/>
                </a:solidFill>
                <a:latin typeface="Arial MT"/>
                <a:cs typeface="Arial MT"/>
              </a:rPr>
              <a:t>a</a:t>
            </a:r>
            <a:r>
              <a:rPr sz="2400" spc="-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7030A0"/>
                </a:solidFill>
                <a:latin typeface="Arial MT"/>
                <a:cs typeface="Arial MT"/>
              </a:rPr>
              <a:t>eficiência</a:t>
            </a:r>
            <a:r>
              <a:rPr sz="2400" spc="-3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7030A0"/>
                </a:solidFill>
                <a:latin typeface="Arial MT"/>
                <a:cs typeface="Arial MT"/>
              </a:rPr>
              <a:t>jurídica</a:t>
            </a:r>
            <a:r>
              <a:rPr sz="2400" spc="-10" dirty="0">
                <a:latin typeface="Arial MT"/>
                <a:cs typeface="Arial MT"/>
              </a:rPr>
              <a:t>. </a:t>
            </a:r>
            <a:r>
              <a:rPr sz="2350" dirty="0" smtClean="0">
                <a:latin typeface="Arial MT"/>
                <a:cs typeface="Arial MT"/>
              </a:rPr>
              <a:t>No</a:t>
            </a:r>
            <a:r>
              <a:rPr sz="2350" spc="-80" dirty="0" smtClean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entanto,</a:t>
            </a:r>
            <a:r>
              <a:rPr sz="2350" spc="-13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perguntas</a:t>
            </a:r>
            <a:r>
              <a:rPr sz="2350" spc="14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vagas</a:t>
            </a:r>
            <a:r>
              <a:rPr sz="2350" spc="-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levam </a:t>
            </a:r>
            <a:r>
              <a:rPr sz="2400" spc="-220" dirty="0">
                <a:latin typeface="Arial MT"/>
                <a:cs typeface="Arial MT"/>
              </a:rPr>
              <a:t>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respostas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genéricas,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imprecisas </a:t>
            </a:r>
            <a:r>
              <a:rPr sz="2400" spc="-75" dirty="0">
                <a:latin typeface="Arial MT"/>
                <a:cs typeface="Arial MT"/>
              </a:rPr>
              <a:t>ou,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pior,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"alucinações"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925" dirty="0">
                <a:latin typeface="Arial MT"/>
                <a:cs typeface="Arial MT"/>
              </a:rPr>
              <a:t>—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500" spc="-30" dirty="0">
                <a:latin typeface="Arial MT"/>
                <a:cs typeface="Arial MT"/>
              </a:rPr>
              <a:t>informações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inventadas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spc="-100" dirty="0">
                <a:latin typeface="Arial MT"/>
                <a:cs typeface="Arial MT"/>
              </a:rPr>
              <a:t>que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são </a:t>
            </a:r>
            <a:r>
              <a:rPr sz="2550" spc="-80" dirty="0">
                <a:latin typeface="Arial MT"/>
                <a:cs typeface="Arial MT"/>
              </a:rPr>
              <a:t>inaceitáveis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spc="-90" dirty="0">
                <a:latin typeface="Arial MT"/>
                <a:cs typeface="Arial MT"/>
              </a:rPr>
              <a:t>na </a:t>
            </a:r>
            <a:r>
              <a:rPr sz="2550" spc="-10" dirty="0">
                <a:latin typeface="Arial MT"/>
                <a:cs typeface="Arial MT"/>
              </a:rPr>
              <a:t>advocacia.</a:t>
            </a:r>
            <a:endParaRPr sz="2550" dirty="0">
              <a:latin typeface="Arial MT"/>
              <a:cs typeface="Arial MT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0642600" y="2209800"/>
            <a:ext cx="4572000" cy="3128328"/>
            <a:chOff x="7899400" y="1900872"/>
            <a:chExt cx="6553200" cy="3966529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400" y="1900873"/>
              <a:ext cx="6553200" cy="3966528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8241665" y="1900872"/>
              <a:ext cx="3347101" cy="2305759"/>
            </a:xfrm>
            <a:prstGeom prst="rect">
              <a:avLst/>
            </a:prstGeom>
          </p:spPr>
          <p:txBody>
            <a:bodyPr vert="horz" wrap="square" lIns="0" tIns="149860" rIns="0" bIns="0" rtlCol="0">
              <a:spAutoFit/>
            </a:bodyPr>
            <a:lstStyle/>
            <a:p>
              <a:pPr marL="915035">
                <a:lnSpc>
                  <a:spcPct val="100000"/>
                </a:lnSpc>
                <a:spcBef>
                  <a:spcPts val="1180"/>
                </a:spcBef>
                <a:tabLst>
                  <a:tab pos="1698625" algn="l"/>
                </a:tabLst>
              </a:pPr>
              <a:r>
                <a:rPr sz="5000" spc="-405" dirty="0">
                  <a:solidFill>
                    <a:srgbClr val="565656"/>
                  </a:solidFill>
                  <a:latin typeface="Arial MT"/>
                  <a:cs typeface="Arial MT"/>
                </a:rPr>
                <a:t>ét</a:t>
              </a:r>
              <a:r>
                <a:rPr sz="5000" dirty="0">
                  <a:solidFill>
                    <a:srgbClr val="565656"/>
                  </a:solidFill>
                  <a:latin typeface="Arial MT"/>
                  <a:cs typeface="Arial MT"/>
                </a:rPr>
                <a:t>	</a:t>
              </a:r>
              <a:r>
                <a:rPr sz="7500" spc="-1829" baseline="10000" dirty="0">
                  <a:solidFill>
                    <a:srgbClr val="565656"/>
                  </a:solidFill>
                  <a:latin typeface="Arial MT"/>
                  <a:cs typeface="Arial MT"/>
                </a:rPr>
                <a:t>p</a:t>
              </a:r>
              <a:endParaRPr sz="7500" baseline="10000" dirty="0">
                <a:latin typeface="Arial MT"/>
                <a:cs typeface="Arial MT"/>
              </a:endParaRPr>
            </a:p>
            <a:p>
              <a:pPr marL="38100">
                <a:lnSpc>
                  <a:spcPts val="5585"/>
                </a:lnSpc>
                <a:spcBef>
                  <a:spcPts val="1150"/>
                </a:spcBef>
              </a:pPr>
              <a:r>
                <a:rPr sz="5100" spc="-345" dirty="0">
                  <a:solidFill>
                    <a:srgbClr val="575757"/>
                  </a:solidFill>
                  <a:latin typeface="Arial MT"/>
                  <a:cs typeface="Arial MT"/>
                </a:rPr>
                <a:t>talvez</a:t>
              </a:r>
              <a:endParaRPr sz="5100" dirty="0">
                <a:latin typeface="Arial MT"/>
                <a:cs typeface="Arial MT"/>
              </a:endParaRPr>
            </a:p>
            <a:p>
              <a:pPr marL="969644">
                <a:lnSpc>
                  <a:spcPts val="4025"/>
                </a:lnSpc>
              </a:pPr>
              <a:r>
                <a:rPr sz="3800" spc="-285" dirty="0">
                  <a:solidFill>
                    <a:srgbClr val="6E6E6E"/>
                  </a:solidFill>
                  <a:latin typeface="Courier New"/>
                  <a:cs typeface="Courier New"/>
                </a:rPr>
                <a:t>UC</a:t>
              </a:r>
              <a:endParaRPr sz="3800" dirty="0">
                <a:latin typeface="Courier New"/>
                <a:cs typeface="Courier New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9728200" y="4907686"/>
              <a:ext cx="1932344" cy="68544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4350" spc="-10" dirty="0">
                  <a:solidFill>
                    <a:srgbClr val="595959"/>
                  </a:solidFill>
                  <a:latin typeface="Arial MT"/>
                  <a:cs typeface="Arial MT"/>
                </a:rPr>
                <a:t>+pIe</a:t>
              </a:r>
              <a:r>
                <a:rPr sz="6525" spc="-15" baseline="-5108" dirty="0">
                  <a:solidFill>
                    <a:srgbClr val="595959"/>
                  </a:solidFill>
                  <a:latin typeface="Arial MT"/>
                  <a:cs typeface="Arial MT"/>
                </a:rPr>
                <a:t>to</a:t>
              </a:r>
              <a:endParaRPr sz="6525" baseline="-5108" dirty="0">
                <a:latin typeface="Arial MT"/>
                <a:cs typeface="Arial MT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46200" y="7543528"/>
            <a:ext cx="15599410" cy="112466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  <a:tabLst>
                <a:tab pos="5741035" algn="l"/>
              </a:tabLst>
            </a:pPr>
            <a:r>
              <a:rPr sz="3600" b="1" spc="-450" dirty="0">
                <a:solidFill>
                  <a:srgbClr val="002060"/>
                </a:solidFill>
                <a:latin typeface="Times New Roman"/>
                <a:cs typeface="Times New Roman"/>
              </a:rPr>
              <a:t>A</a:t>
            </a:r>
            <a:r>
              <a:rPr sz="36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2060"/>
                </a:solidFill>
                <a:latin typeface="Times New Roman"/>
                <a:cs typeface="Times New Roman"/>
              </a:rPr>
              <a:t>qualidade</a:t>
            </a:r>
            <a:r>
              <a:rPr sz="3600" b="1" spc="3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2060"/>
                </a:solidFill>
                <a:latin typeface="Times New Roman"/>
                <a:cs typeface="Times New Roman"/>
              </a:rPr>
              <a:t>da</a:t>
            </a:r>
            <a:r>
              <a:rPr sz="36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spc="55" dirty="0">
                <a:solidFill>
                  <a:srgbClr val="002060"/>
                </a:solidFill>
                <a:latin typeface="Times New Roman"/>
                <a:cs typeface="Times New Roman"/>
              </a:rPr>
              <a:t>resposta</a:t>
            </a:r>
            <a:r>
              <a:rPr sz="3600" b="1" spc="16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2060"/>
                </a:solidFill>
                <a:latin typeface="Times New Roman"/>
                <a:cs typeface="Times New Roman"/>
              </a:rPr>
              <a:t>da</a:t>
            </a:r>
            <a:r>
              <a:rPr sz="3600" b="1" spc="5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pt-BR" sz="3600" b="1" spc="25" dirty="0" smtClean="0">
                <a:solidFill>
                  <a:srgbClr val="002060"/>
                </a:solidFill>
                <a:latin typeface="Times New Roman"/>
                <a:cs typeface="Times New Roman"/>
              </a:rPr>
              <a:t>I.A </a:t>
            </a:r>
            <a:r>
              <a:rPr sz="3600" b="1" spc="45" dirty="0" err="1" smtClean="0">
                <a:solidFill>
                  <a:srgbClr val="002060"/>
                </a:solidFill>
                <a:latin typeface="Times New Roman"/>
                <a:cs typeface="Times New Roman"/>
              </a:rPr>
              <a:t>depende</a:t>
            </a:r>
            <a:r>
              <a:rPr sz="3600" b="1" spc="160" dirty="0" smtClean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spc="55" dirty="0">
                <a:solidFill>
                  <a:srgbClr val="002060"/>
                </a:solidFill>
                <a:latin typeface="Times New Roman"/>
                <a:cs typeface="Times New Roman"/>
              </a:rPr>
              <a:t>diretamente</a:t>
            </a:r>
            <a:r>
              <a:rPr sz="3600" b="1" spc="2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2060"/>
                </a:solidFill>
                <a:latin typeface="Times New Roman"/>
                <a:cs typeface="Times New Roman"/>
              </a:rPr>
              <a:t>da</a:t>
            </a:r>
            <a:r>
              <a:rPr sz="3600" b="1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2060"/>
                </a:solidFill>
                <a:latin typeface="Times New Roman"/>
                <a:cs typeface="Times New Roman"/>
              </a:rPr>
              <a:t>qualidade</a:t>
            </a:r>
            <a:r>
              <a:rPr sz="3600" b="1" spc="3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2060"/>
                </a:solidFill>
                <a:latin typeface="Times New Roman"/>
                <a:cs typeface="Times New Roman"/>
              </a:rPr>
              <a:t>da</a:t>
            </a:r>
            <a:r>
              <a:rPr sz="3600" b="1" spc="-8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spc="60" dirty="0">
                <a:solidFill>
                  <a:srgbClr val="002060"/>
                </a:solidFill>
                <a:latin typeface="Times New Roman"/>
                <a:cs typeface="Times New Roman"/>
              </a:rPr>
              <a:t>sua</a:t>
            </a:r>
            <a:r>
              <a:rPr sz="3600" b="1" spc="17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 err="1" smtClean="0">
                <a:solidFill>
                  <a:srgbClr val="002060"/>
                </a:solidFill>
                <a:latin typeface="Times New Roman"/>
                <a:cs typeface="Times New Roman"/>
              </a:rPr>
              <a:t>pe</a:t>
            </a:r>
            <a:r>
              <a:rPr lang="pt-BR" sz="36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r</a:t>
            </a:r>
            <a:r>
              <a:rPr sz="3600" b="1" spc="-10" dirty="0" err="1" smtClean="0">
                <a:solidFill>
                  <a:srgbClr val="002060"/>
                </a:solidFill>
                <a:latin typeface="Times New Roman"/>
                <a:cs typeface="Times New Roman"/>
              </a:rPr>
              <a:t>gunta</a:t>
            </a:r>
            <a:r>
              <a:rPr sz="36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.</a:t>
            </a:r>
            <a:endParaRPr sz="3600" b="1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  <p:sp>
        <p:nvSpPr>
          <p:cNvPr id="9" name="Seta para a direita 8"/>
          <p:cNvSpPr/>
          <p:nvPr/>
        </p:nvSpPr>
        <p:spPr>
          <a:xfrm rot="5400000">
            <a:off x="4064125" y="4047625"/>
            <a:ext cx="989907" cy="43589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a direita 9"/>
          <p:cNvSpPr/>
          <p:nvPr/>
        </p:nvSpPr>
        <p:spPr>
          <a:xfrm>
            <a:off x="8300685" y="3829677"/>
            <a:ext cx="1852872" cy="43589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object 5"/>
          <p:cNvSpPr txBox="1"/>
          <p:nvPr/>
        </p:nvSpPr>
        <p:spPr>
          <a:xfrm>
            <a:off x="8396526" y="3444315"/>
            <a:ext cx="144780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10160">
              <a:lnSpc>
                <a:spcPct val="100099"/>
              </a:lnSpc>
              <a:spcBef>
                <a:spcPts val="125"/>
              </a:spcBef>
              <a:tabLst>
                <a:tab pos="3274060" algn="l"/>
              </a:tabLst>
            </a:pPr>
            <a:r>
              <a:rPr lang="pt-BR" sz="2400" spc="-150" dirty="0" smtClean="0">
                <a:solidFill>
                  <a:schemeClr val="tx1"/>
                </a:solidFill>
                <a:latin typeface="Arial MT"/>
                <a:cs typeface="Arial MT"/>
              </a:rPr>
              <a:t>Como está</a:t>
            </a:r>
            <a:endParaRPr sz="255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7000" y="1661924"/>
            <a:ext cx="3657600" cy="52578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22956" y="1419498"/>
            <a:ext cx="7861934" cy="1009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6450" spc="-105" dirty="0" smtClean="0">
                <a:solidFill>
                  <a:srgbClr val="3F3F3F"/>
                </a:solidFill>
                <a:latin typeface="Times New Roman"/>
                <a:cs typeface="Times New Roman"/>
              </a:rPr>
              <a:t>A </a:t>
            </a:r>
            <a:r>
              <a:rPr sz="6450" spc="-105" dirty="0" err="1" smtClean="0">
                <a:solidFill>
                  <a:srgbClr val="3F3F3F"/>
                </a:solidFill>
                <a:latin typeface="Times New Roman"/>
                <a:cs typeface="Times New Roman"/>
              </a:rPr>
              <a:t>Chave</a:t>
            </a:r>
            <a:r>
              <a:rPr sz="6450" spc="-300" dirty="0" smtClean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lang="pt-BR" sz="6450" spc="-45" dirty="0" smtClean="0">
                <a:solidFill>
                  <a:srgbClr val="3B3B3B"/>
                </a:solidFill>
                <a:latin typeface="Times New Roman"/>
                <a:cs typeface="Times New Roman"/>
              </a:rPr>
              <a:t>Central</a:t>
            </a:r>
            <a:endParaRPr sz="64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2000" y="4737100"/>
            <a:ext cx="8997950" cy="25135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" algn="ctr">
              <a:lnSpc>
                <a:spcPct val="100000"/>
              </a:lnSpc>
              <a:spcBef>
                <a:spcPts val="100"/>
              </a:spcBef>
            </a:pPr>
            <a:r>
              <a:rPr sz="3250" b="1" i="1" spc="125" dirty="0" smtClean="0">
                <a:latin typeface="Calibri"/>
                <a:cs typeface="Calibri"/>
              </a:rPr>
              <a:t>O</a:t>
            </a:r>
            <a:r>
              <a:rPr sz="3250" b="1" i="1" spc="-195" dirty="0" smtClean="0">
                <a:latin typeface="Calibri"/>
                <a:cs typeface="Calibri"/>
              </a:rPr>
              <a:t> </a:t>
            </a:r>
            <a:r>
              <a:rPr sz="3250" b="1" i="1" spc="-120" dirty="0">
                <a:latin typeface="Calibri"/>
                <a:cs typeface="Calibri"/>
              </a:rPr>
              <a:t>segredo</a:t>
            </a:r>
            <a:r>
              <a:rPr sz="3250" b="1" i="1" spc="-130" dirty="0">
                <a:latin typeface="Calibri"/>
                <a:cs typeface="Calibri"/>
              </a:rPr>
              <a:t> </a:t>
            </a:r>
            <a:r>
              <a:rPr sz="3250" b="1" i="1" spc="-90" dirty="0">
                <a:latin typeface="Calibri"/>
                <a:cs typeface="Calibri"/>
              </a:rPr>
              <a:t>para</a:t>
            </a:r>
            <a:r>
              <a:rPr sz="3250" b="1" i="1" spc="-155" dirty="0">
                <a:latin typeface="Calibri"/>
                <a:cs typeface="Calibri"/>
              </a:rPr>
              <a:t> </a:t>
            </a:r>
            <a:r>
              <a:rPr sz="3250" b="1" i="1" spc="-95" dirty="0">
                <a:latin typeface="Calibri"/>
                <a:cs typeface="Calibri"/>
              </a:rPr>
              <a:t>resultados</a:t>
            </a:r>
            <a:r>
              <a:rPr sz="3250" b="1" i="1" spc="-65" dirty="0">
                <a:latin typeface="Calibri"/>
                <a:cs typeface="Calibri"/>
              </a:rPr>
              <a:t> </a:t>
            </a:r>
            <a:r>
              <a:rPr sz="3250" b="1" i="1" spc="-110" dirty="0">
                <a:latin typeface="Calibri"/>
                <a:cs typeface="Calibri"/>
              </a:rPr>
              <a:t>de</a:t>
            </a:r>
            <a:r>
              <a:rPr sz="3250" b="1" i="1" spc="-165" dirty="0">
                <a:latin typeface="Calibri"/>
                <a:cs typeface="Calibri"/>
              </a:rPr>
              <a:t> </a:t>
            </a:r>
            <a:r>
              <a:rPr sz="3250" b="1" i="1" spc="-100" dirty="0">
                <a:latin typeface="Calibri"/>
                <a:cs typeface="Calibri"/>
              </a:rPr>
              <a:t>nível</a:t>
            </a:r>
            <a:r>
              <a:rPr sz="3250" b="1" i="1" spc="-90" dirty="0">
                <a:latin typeface="Calibri"/>
                <a:cs typeface="Calibri"/>
              </a:rPr>
              <a:t> </a:t>
            </a:r>
            <a:r>
              <a:rPr sz="3250" b="1" i="1" spc="-80" dirty="0">
                <a:latin typeface="Calibri"/>
                <a:cs typeface="Calibri"/>
              </a:rPr>
              <a:t>profissional</a:t>
            </a:r>
            <a:r>
              <a:rPr sz="3250" b="1" i="1" spc="95" dirty="0">
                <a:latin typeface="Calibri"/>
                <a:cs typeface="Calibri"/>
              </a:rPr>
              <a:t> </a:t>
            </a:r>
            <a:r>
              <a:rPr sz="3250" b="1" i="1" spc="-160" dirty="0">
                <a:latin typeface="Calibri"/>
                <a:cs typeface="Calibri"/>
              </a:rPr>
              <a:t>não</a:t>
            </a:r>
            <a:r>
              <a:rPr sz="3250" b="1" i="1" spc="-85" dirty="0">
                <a:latin typeface="Calibri"/>
                <a:cs typeface="Calibri"/>
              </a:rPr>
              <a:t> </a:t>
            </a:r>
            <a:r>
              <a:rPr sz="3250" b="1" i="1" spc="-55" dirty="0">
                <a:latin typeface="Calibri"/>
                <a:cs typeface="Calibri"/>
              </a:rPr>
              <a:t>é</a:t>
            </a:r>
            <a:r>
              <a:rPr sz="3250" b="1" i="1" spc="-290" dirty="0">
                <a:latin typeface="Calibri"/>
                <a:cs typeface="Calibri"/>
              </a:rPr>
              <a:t> </a:t>
            </a:r>
            <a:r>
              <a:rPr sz="3250" b="1" i="1" spc="-25" dirty="0">
                <a:latin typeface="Calibri"/>
                <a:cs typeface="Calibri"/>
              </a:rPr>
              <a:t>ser </a:t>
            </a:r>
            <a:r>
              <a:rPr sz="3200" b="1" i="1" spc="-160" dirty="0">
                <a:latin typeface="Calibri"/>
                <a:cs typeface="Calibri"/>
              </a:rPr>
              <a:t>um</a:t>
            </a:r>
            <a:r>
              <a:rPr sz="3200" b="1" i="1" spc="-95" dirty="0">
                <a:latin typeface="Calibri"/>
                <a:cs typeface="Calibri"/>
              </a:rPr>
              <a:t> </a:t>
            </a:r>
            <a:r>
              <a:rPr sz="3200" b="1" i="1" spc="-135" dirty="0">
                <a:latin typeface="Calibri"/>
                <a:cs typeface="Calibri"/>
              </a:rPr>
              <a:t>expert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155" dirty="0">
                <a:latin typeface="Calibri"/>
                <a:cs typeface="Calibri"/>
              </a:rPr>
              <a:t>em</a:t>
            </a:r>
            <a:r>
              <a:rPr sz="3200" b="1" i="1" spc="-100" dirty="0">
                <a:latin typeface="Calibri"/>
                <a:cs typeface="Calibri"/>
              </a:rPr>
              <a:t> </a:t>
            </a:r>
            <a:r>
              <a:rPr sz="3200" b="1" i="1" spc="-105" dirty="0">
                <a:latin typeface="Calibri"/>
                <a:cs typeface="Calibri"/>
              </a:rPr>
              <a:t>tecnologia,</a:t>
            </a:r>
            <a:r>
              <a:rPr sz="3200" b="1" i="1" spc="-70" dirty="0">
                <a:latin typeface="Calibri"/>
                <a:cs typeface="Calibri"/>
              </a:rPr>
              <a:t> </a:t>
            </a:r>
            <a:r>
              <a:rPr sz="3200" spc="-150" dirty="0">
                <a:latin typeface="Calibri"/>
                <a:cs typeface="Calibri"/>
              </a:rPr>
              <a:t>mas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85" dirty="0">
                <a:latin typeface="Calibri"/>
                <a:cs typeface="Calibri"/>
              </a:rPr>
              <a:t>sim</a:t>
            </a:r>
            <a:r>
              <a:rPr sz="3200" spc="-260" dirty="0">
                <a:latin typeface="Calibri"/>
                <a:cs typeface="Calibri"/>
              </a:rPr>
              <a:t> </a:t>
            </a:r>
            <a:r>
              <a:rPr sz="3200" spc="-160" dirty="0">
                <a:latin typeface="Calibri"/>
                <a:cs typeface="Calibri"/>
              </a:rPr>
              <a:t>um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b="1" spc="-110" dirty="0">
                <a:latin typeface="Calibri"/>
                <a:cs typeface="Calibri"/>
              </a:rPr>
              <a:t>mestre</a:t>
            </a:r>
            <a:r>
              <a:rPr sz="3200" b="1" spc="-5" dirty="0">
                <a:latin typeface="Calibri"/>
                <a:cs typeface="Calibri"/>
              </a:rPr>
              <a:t> </a:t>
            </a:r>
            <a:r>
              <a:rPr sz="3200" b="1" spc="-70" dirty="0">
                <a:latin typeface="Calibri"/>
                <a:cs typeface="Calibri"/>
              </a:rPr>
              <a:t>na</a:t>
            </a:r>
            <a:r>
              <a:rPr sz="3200" b="1" spc="-225" dirty="0">
                <a:latin typeface="Calibri"/>
                <a:cs typeface="Calibri"/>
              </a:rPr>
              <a:t> </a:t>
            </a:r>
            <a:r>
              <a:rPr sz="3200" b="1" spc="-75" dirty="0">
                <a:latin typeface="Calibri"/>
                <a:cs typeface="Calibri"/>
              </a:rPr>
              <a:t>arte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de </a:t>
            </a:r>
            <a:r>
              <a:rPr lang="pt-BR" sz="3200" b="1" spc="-25" dirty="0" smtClean="0">
                <a:latin typeface="Calibri"/>
                <a:cs typeface="Calibri"/>
              </a:rPr>
              <a:t>“comandar”</a:t>
            </a:r>
            <a:r>
              <a:rPr sz="3250" spc="-135" dirty="0" smtClean="0">
                <a:latin typeface="Calibri"/>
                <a:cs typeface="Calibri"/>
              </a:rPr>
              <a:t>.</a:t>
            </a:r>
            <a:r>
              <a:rPr sz="3250" spc="-55" dirty="0" smtClean="0">
                <a:latin typeface="Calibri"/>
                <a:cs typeface="Calibri"/>
              </a:rPr>
              <a:t> </a:t>
            </a:r>
            <a:r>
              <a:rPr sz="3250" spc="-35" dirty="0">
                <a:latin typeface="Calibri"/>
                <a:cs typeface="Calibri"/>
              </a:rPr>
              <a:t>Existe</a:t>
            </a:r>
            <a:r>
              <a:rPr sz="3250" spc="-180" dirty="0">
                <a:latin typeface="Calibri"/>
                <a:cs typeface="Calibri"/>
              </a:rPr>
              <a:t> </a:t>
            </a:r>
            <a:r>
              <a:rPr sz="3250" spc="-204" dirty="0">
                <a:latin typeface="Calibri"/>
                <a:cs typeface="Calibri"/>
              </a:rPr>
              <a:t>uma</a:t>
            </a:r>
            <a:r>
              <a:rPr sz="3250" spc="-45" dirty="0">
                <a:latin typeface="Calibri"/>
                <a:cs typeface="Calibri"/>
              </a:rPr>
              <a:t> </a:t>
            </a:r>
            <a:r>
              <a:rPr sz="3250" spc="-125" dirty="0">
                <a:latin typeface="Calibri"/>
                <a:cs typeface="Calibri"/>
              </a:rPr>
              <a:t>fórmula</a:t>
            </a:r>
            <a:r>
              <a:rPr sz="3250" spc="-65" dirty="0">
                <a:latin typeface="Calibri"/>
                <a:cs typeface="Calibri"/>
              </a:rPr>
              <a:t> </a:t>
            </a:r>
            <a:r>
              <a:rPr sz="3250" spc="-110" dirty="0">
                <a:latin typeface="Calibri"/>
                <a:cs typeface="Calibri"/>
              </a:rPr>
              <a:t>para</a:t>
            </a:r>
            <a:r>
              <a:rPr sz="3250" spc="-100" dirty="0">
                <a:latin typeface="Calibri"/>
                <a:cs typeface="Calibri"/>
              </a:rPr>
              <a:t> </a:t>
            </a:r>
            <a:r>
              <a:rPr sz="3250" spc="-110" dirty="0">
                <a:latin typeface="Calibri"/>
                <a:cs typeface="Calibri"/>
              </a:rPr>
              <a:t>transformar</a:t>
            </a:r>
            <a:r>
              <a:rPr sz="3250" spc="14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seus </a:t>
            </a:r>
            <a:r>
              <a:rPr sz="3250" spc="-120" dirty="0">
                <a:latin typeface="Calibri"/>
                <a:cs typeface="Calibri"/>
              </a:rPr>
              <a:t>pedidos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180" dirty="0">
                <a:latin typeface="Calibri"/>
                <a:cs typeface="Calibri"/>
              </a:rPr>
              <a:t>em</a:t>
            </a:r>
            <a:r>
              <a:rPr sz="3250" spc="-290" dirty="0">
                <a:latin typeface="Calibri"/>
                <a:cs typeface="Calibri"/>
              </a:rPr>
              <a:t> </a:t>
            </a:r>
            <a:r>
              <a:rPr sz="3250" spc="-70" dirty="0">
                <a:latin typeface="Calibri"/>
                <a:cs typeface="Calibri"/>
              </a:rPr>
              <a:t>instruções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spc="-100" dirty="0">
                <a:latin typeface="Calibri"/>
                <a:cs typeface="Calibri"/>
              </a:rPr>
              <a:t>precisas,</a:t>
            </a:r>
            <a:r>
              <a:rPr sz="3250" spc="-155" dirty="0">
                <a:latin typeface="Calibri"/>
                <a:cs typeface="Calibri"/>
              </a:rPr>
              <a:t> </a:t>
            </a:r>
            <a:r>
              <a:rPr sz="3250" spc="-160" dirty="0">
                <a:latin typeface="Calibri"/>
                <a:cs typeface="Calibri"/>
              </a:rPr>
              <a:t>como</a:t>
            </a:r>
            <a:r>
              <a:rPr sz="3250" spc="-70" dirty="0">
                <a:latin typeface="Calibri"/>
                <a:cs typeface="Calibri"/>
              </a:rPr>
              <a:t> </a:t>
            </a:r>
            <a:r>
              <a:rPr sz="3250" spc="-65" dirty="0">
                <a:latin typeface="Calibri"/>
                <a:cs typeface="Calibri"/>
              </a:rPr>
              <a:t>as</a:t>
            </a:r>
            <a:r>
              <a:rPr sz="3250" spc="-265" dirty="0">
                <a:latin typeface="Calibri"/>
                <a:cs typeface="Calibri"/>
              </a:rPr>
              <a:t> </a:t>
            </a:r>
            <a:r>
              <a:rPr sz="3250" spc="-130" dirty="0">
                <a:latin typeface="Calibri"/>
                <a:cs typeface="Calibri"/>
              </a:rPr>
              <a:t>que</a:t>
            </a:r>
            <a:r>
              <a:rPr sz="3250" spc="-135" dirty="0">
                <a:latin typeface="Calibri"/>
                <a:cs typeface="Calibri"/>
              </a:rPr>
              <a:t> </a:t>
            </a:r>
            <a:r>
              <a:rPr sz="3250" spc="-120" dirty="0">
                <a:latin typeface="Calibri"/>
                <a:cs typeface="Calibri"/>
              </a:rPr>
              <a:t>você</a:t>
            </a:r>
            <a:r>
              <a:rPr sz="3250" spc="-85" dirty="0">
                <a:latin typeface="Calibri"/>
                <a:cs typeface="Calibri"/>
              </a:rPr>
              <a:t> </a:t>
            </a:r>
            <a:r>
              <a:rPr sz="3250" spc="-90" dirty="0">
                <a:latin typeface="Calibri"/>
                <a:cs typeface="Calibri"/>
              </a:rPr>
              <a:t>daria</a:t>
            </a:r>
            <a:r>
              <a:rPr sz="3250" spc="-155" dirty="0">
                <a:latin typeface="Calibri"/>
                <a:cs typeface="Calibri"/>
              </a:rPr>
              <a:t> </a:t>
            </a:r>
            <a:r>
              <a:rPr sz="3250" spc="-50" dirty="0">
                <a:latin typeface="Calibri"/>
                <a:cs typeface="Calibri"/>
              </a:rPr>
              <a:t>a </a:t>
            </a:r>
            <a:r>
              <a:rPr sz="3200" spc="-160" dirty="0">
                <a:latin typeface="Calibri"/>
                <a:cs typeface="Calibri"/>
              </a:rPr>
              <a:t>um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90" dirty="0">
                <a:latin typeface="Calibri"/>
                <a:cs typeface="Calibri"/>
              </a:rPr>
              <a:t>perito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10" dirty="0">
                <a:latin typeface="Calibri"/>
                <a:cs typeface="Calibri"/>
              </a:rPr>
              <a:t>ou</a:t>
            </a:r>
            <a:r>
              <a:rPr sz="3200" spc="-2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270" dirty="0">
                <a:latin typeface="Calibri"/>
                <a:cs typeface="Calibri"/>
              </a:rPr>
              <a:t> </a:t>
            </a:r>
            <a:r>
              <a:rPr sz="3200" spc="-160" dirty="0">
                <a:latin typeface="Calibri"/>
                <a:cs typeface="Calibri"/>
              </a:rPr>
              <a:t>um</a:t>
            </a:r>
            <a:r>
              <a:rPr sz="3200" spc="-20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correspondente.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7" name="object 10"/>
          <p:cNvSpPr txBox="1"/>
          <p:nvPr/>
        </p:nvSpPr>
        <p:spPr>
          <a:xfrm>
            <a:off x="2863216" y="2787848"/>
            <a:ext cx="5778500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" algn="ctr">
              <a:lnSpc>
                <a:spcPct val="100000"/>
              </a:lnSpc>
              <a:spcBef>
                <a:spcPts val="100"/>
              </a:spcBef>
            </a:pPr>
            <a:r>
              <a:rPr lang="pt-BR" sz="4800" spc="-750" dirty="0" smtClean="0">
                <a:solidFill>
                  <a:srgbClr val="464646"/>
                </a:solidFill>
                <a:latin typeface="Times New Roman"/>
                <a:cs typeface="Times New Roman"/>
              </a:rPr>
              <a:t>A</a:t>
            </a:r>
            <a:r>
              <a:rPr lang="pt-BR" sz="4800" spc="-535" dirty="0" smtClean="0">
                <a:solidFill>
                  <a:srgbClr val="464646"/>
                </a:solidFill>
                <a:latin typeface="Times New Roman"/>
                <a:cs typeface="Times New Roman"/>
              </a:rPr>
              <a:t>  </a:t>
            </a:r>
            <a:r>
              <a:rPr lang="pt-BR" sz="4800" spc="-25" dirty="0" smtClean="0">
                <a:solidFill>
                  <a:srgbClr val="3F3F3F"/>
                </a:solidFill>
                <a:latin typeface="Times New Roman"/>
                <a:cs typeface="Times New Roman"/>
              </a:rPr>
              <a:t>Arte</a:t>
            </a:r>
            <a:r>
              <a:rPr lang="pt-BR" sz="4800" spc="-290" dirty="0" smtClean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lang="pt-BR" sz="4800" spc="-25" dirty="0" smtClean="0">
                <a:solidFill>
                  <a:srgbClr val="3B3B3B"/>
                </a:solidFill>
                <a:latin typeface="Times New Roman"/>
                <a:cs typeface="Times New Roman"/>
              </a:rPr>
              <a:t>de </a:t>
            </a:r>
            <a:r>
              <a:rPr lang="pt-BR" sz="4800" dirty="0" smtClean="0">
                <a:solidFill>
                  <a:srgbClr val="3B3B3B"/>
                </a:solidFill>
                <a:latin typeface="Times New Roman"/>
                <a:cs typeface="Times New Roman"/>
              </a:rPr>
              <a:t>dar</a:t>
            </a:r>
            <a:endParaRPr lang="pt-BR" sz="4800" spc="-114" dirty="0" smtClean="0">
              <a:solidFill>
                <a:srgbClr val="3B3B3B"/>
              </a:solidFill>
              <a:latin typeface="Times New Roman"/>
              <a:cs typeface="Times New Roman"/>
            </a:endParaRPr>
          </a:p>
          <a:p>
            <a:pPr marL="41910" algn="ctr">
              <a:lnSpc>
                <a:spcPct val="100000"/>
              </a:lnSpc>
              <a:spcBef>
                <a:spcPts val="100"/>
              </a:spcBef>
            </a:pPr>
            <a:r>
              <a:rPr sz="4800" spc="60" dirty="0" smtClean="0">
                <a:solidFill>
                  <a:srgbClr val="3F3F3F"/>
                </a:solidFill>
                <a:latin typeface="Times New Roman"/>
                <a:cs typeface="Times New Roman"/>
              </a:rPr>
              <a:t>o</a:t>
            </a:r>
            <a:r>
              <a:rPr sz="4800" spc="-285" dirty="0" smtClean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lang="pt-BR" sz="4800" dirty="0" smtClean="0">
                <a:solidFill>
                  <a:srgbClr val="3F3F3F"/>
                </a:solidFill>
                <a:latin typeface="Times New Roman"/>
                <a:cs typeface="Times New Roman"/>
              </a:rPr>
              <a:t>comando certo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600" y="38100"/>
            <a:ext cx="139700" cy="13335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1500" y="7255087"/>
            <a:ext cx="533400" cy="622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7850" y="4067772"/>
            <a:ext cx="520700" cy="482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7850" y="3068864"/>
            <a:ext cx="520700" cy="45736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882900" y="2954867"/>
            <a:ext cx="118745" cy="67945"/>
          </a:xfrm>
          <a:custGeom>
            <a:avLst/>
            <a:gdLst/>
            <a:ahLst/>
            <a:cxnLst/>
            <a:rect l="l" t="t" r="r" b="b"/>
            <a:pathLst>
              <a:path w="118744" h="67944">
                <a:moveTo>
                  <a:pt x="118533" y="67733"/>
                </a:moveTo>
                <a:lnTo>
                  <a:pt x="0" y="67733"/>
                </a:lnTo>
                <a:lnTo>
                  <a:pt x="0" y="0"/>
                </a:lnTo>
                <a:lnTo>
                  <a:pt x="118533" y="0"/>
                </a:lnTo>
                <a:lnTo>
                  <a:pt x="118533" y="67733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845582" y="338383"/>
            <a:ext cx="8043648" cy="149399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pt-BR" sz="4800" spc="-595" dirty="0" smtClean="0">
                <a:solidFill>
                  <a:srgbClr val="464646"/>
                </a:solidFill>
                <a:cs typeface="Times New Roman"/>
              </a:rPr>
              <a:t>O  </a:t>
            </a:r>
            <a:r>
              <a:rPr sz="4800" dirty="0" smtClean="0">
                <a:solidFill>
                  <a:srgbClr val="3F3F3F"/>
                </a:solidFill>
                <a:cs typeface="Times New Roman"/>
              </a:rPr>
              <a:t>Prompt</a:t>
            </a:r>
            <a:r>
              <a:rPr sz="4800" spc="40" dirty="0" smtClean="0">
                <a:solidFill>
                  <a:srgbClr val="3F3F3F"/>
                </a:solidFill>
                <a:cs typeface="Times New Roman"/>
              </a:rPr>
              <a:t> </a:t>
            </a:r>
            <a:r>
              <a:rPr sz="4800" spc="-10" dirty="0" smtClean="0">
                <a:solidFill>
                  <a:srgbClr val="3F3F3F"/>
                </a:solidFill>
                <a:cs typeface="Times New Roman"/>
              </a:rPr>
              <a:t>Perfeito</a:t>
            </a:r>
            <a:r>
              <a:rPr sz="4800" spc="-210" dirty="0" smtClean="0">
                <a:solidFill>
                  <a:srgbClr val="3F3F3F"/>
                </a:solidFill>
                <a:cs typeface="Times New Roman"/>
              </a:rPr>
              <a:t> </a:t>
            </a:r>
            <a:r>
              <a:rPr lang="pt-BR" sz="4800" spc="-210" dirty="0" smtClean="0">
                <a:solidFill>
                  <a:srgbClr val="3F3F3F"/>
                </a:solidFill>
                <a:cs typeface="Times New Roman"/>
              </a:rPr>
              <a:t/>
            </a:r>
            <a:br>
              <a:rPr lang="pt-BR" sz="4800" spc="-210" dirty="0" smtClean="0">
                <a:solidFill>
                  <a:srgbClr val="3F3F3F"/>
                </a:solidFill>
                <a:cs typeface="Times New Roman"/>
              </a:rPr>
            </a:br>
            <a:r>
              <a:rPr lang="pt-BR" sz="4800" dirty="0" smtClean="0">
                <a:solidFill>
                  <a:srgbClr val="444444"/>
                </a:solidFill>
                <a:cs typeface="Times New Roman"/>
              </a:rPr>
              <a:t>Método </a:t>
            </a:r>
            <a:r>
              <a:rPr sz="4800" spc="-330" dirty="0" smtClean="0">
                <a:solidFill>
                  <a:srgbClr val="424242"/>
                </a:solidFill>
                <a:cs typeface="Times New Roman"/>
              </a:rPr>
              <a:t>PCTFV</a:t>
            </a:r>
            <a:endParaRPr sz="4800" dirty="0"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2822" y="2248282"/>
            <a:ext cx="12920378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99635" algn="l"/>
                <a:tab pos="9614535" algn="l"/>
              </a:tabLst>
            </a:pPr>
            <a:r>
              <a:rPr sz="2800" b="1" spc="-10" dirty="0" err="1" smtClean="0">
                <a:latin typeface="Calibri"/>
                <a:cs typeface="Calibri"/>
              </a:rPr>
              <a:t>Pilar</a:t>
            </a:r>
            <a:r>
              <a:rPr lang="pt-BR" sz="2800" b="1" dirty="0">
                <a:latin typeface="Calibri"/>
                <a:cs typeface="Calibri"/>
              </a:rPr>
              <a:t> </a:t>
            </a:r>
            <a:r>
              <a:rPr lang="pt-BR" sz="2800" b="1" dirty="0" smtClean="0">
                <a:latin typeface="Calibri"/>
                <a:cs typeface="Calibri"/>
              </a:rPr>
              <a:t>                                      </a:t>
            </a:r>
            <a:r>
              <a:rPr sz="2800" b="1" spc="-10" dirty="0" smtClean="0">
                <a:latin typeface="Calibri"/>
                <a:cs typeface="Calibri"/>
              </a:rPr>
              <a:t>Descrição</a:t>
            </a:r>
            <a:r>
              <a:rPr lang="pt-BR" sz="2800" b="1" spc="-10" dirty="0" smtClean="0">
                <a:latin typeface="Calibri"/>
                <a:cs typeface="Calibri"/>
              </a:rPr>
              <a:t>                                            </a:t>
            </a:r>
            <a:r>
              <a:rPr sz="2800" b="1" spc="-114" dirty="0" smtClean="0">
                <a:latin typeface="Calibri"/>
                <a:cs typeface="Calibri"/>
              </a:rPr>
              <a:t>Importância</a:t>
            </a:r>
            <a:endParaRPr sz="2800" b="1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5962" y="3146408"/>
            <a:ext cx="1537335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alibri"/>
                <a:cs typeface="Calibri"/>
              </a:rPr>
              <a:t>P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240" dirty="0">
                <a:latin typeface="Calibri"/>
                <a:cs typeface="Calibri"/>
              </a:rPr>
              <a:t> </a:t>
            </a:r>
            <a:r>
              <a:rPr sz="2400" spc="-110" dirty="0">
                <a:latin typeface="Calibri"/>
                <a:cs typeface="Calibri"/>
              </a:rPr>
              <a:t>Papel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30562" y="4028401"/>
            <a:ext cx="220218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35" dirty="0" smtClean="0">
                <a:latin typeface="Calibri"/>
                <a:cs typeface="Calibri"/>
              </a:rPr>
              <a:t> </a:t>
            </a:r>
            <a:r>
              <a:rPr lang="pt-BR" sz="2400" spc="-35" dirty="0" smtClean="0">
                <a:latin typeface="Calibri"/>
                <a:cs typeface="Calibri"/>
              </a:rPr>
              <a:t>C</a:t>
            </a:r>
            <a:r>
              <a:rPr sz="2400" spc="-120" dirty="0" smtClean="0">
                <a:latin typeface="Calibri"/>
                <a:cs typeface="Calibri"/>
              </a:rPr>
              <a:t>-</a:t>
            </a:r>
            <a:r>
              <a:rPr sz="2400" spc="-280" dirty="0" smtClean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Contexto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1337" y="2905089"/>
            <a:ext cx="4486910" cy="8070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3085"/>
              </a:lnSpc>
              <a:spcBef>
                <a:spcPts val="135"/>
              </a:spcBef>
            </a:pPr>
            <a:r>
              <a:rPr sz="2400" spc="-65" dirty="0">
                <a:latin typeface="Calibri"/>
                <a:cs typeface="Calibri"/>
              </a:rPr>
              <a:t>Define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50" dirty="0">
                <a:latin typeface="Calibri"/>
                <a:cs typeface="Calibri"/>
              </a:rPr>
              <a:t>quem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</a:t>
            </a:r>
            <a:r>
              <a:rPr sz="2400" spc="-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IA</a:t>
            </a:r>
            <a:r>
              <a:rPr sz="2400" spc="-200" dirty="0">
                <a:latin typeface="Calibri"/>
                <a:cs typeface="Calibri"/>
              </a:rPr>
              <a:t> </a:t>
            </a:r>
            <a:r>
              <a:rPr sz="2400" spc="-114" dirty="0">
                <a:latin typeface="Calibri"/>
                <a:cs typeface="Calibri"/>
              </a:rPr>
              <a:t>deve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10" dirty="0">
                <a:latin typeface="Calibri"/>
                <a:cs typeface="Calibri"/>
              </a:rPr>
              <a:t>ser,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65" dirty="0">
                <a:latin typeface="Calibri"/>
                <a:cs typeface="Calibri"/>
              </a:rPr>
              <a:t>ativando</a:t>
            </a:r>
            <a:endParaRPr sz="2400" dirty="0">
              <a:latin typeface="Calibri"/>
              <a:cs typeface="Calibri"/>
            </a:endParaRPr>
          </a:p>
          <a:p>
            <a:pPr marL="13335">
              <a:lnSpc>
                <a:spcPts val="3025"/>
              </a:lnSpc>
            </a:pPr>
            <a:r>
              <a:rPr sz="2400" spc="-80" dirty="0">
                <a:latin typeface="Calibri"/>
                <a:cs typeface="Calibri"/>
              </a:rPr>
              <a:t>conhecimento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específico.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9437" y="3899516"/>
            <a:ext cx="4595495" cy="803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145"/>
              </a:lnSpc>
              <a:spcBef>
                <a:spcPts val="105"/>
              </a:spcBef>
            </a:pPr>
            <a:r>
              <a:rPr sz="2400" spc="-125" dirty="0">
                <a:latin typeface="Calibri"/>
                <a:cs typeface="Calibri"/>
              </a:rPr>
              <a:t>Fornece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50" dirty="0">
                <a:latin typeface="Calibri"/>
                <a:cs typeface="Calibri"/>
              </a:rPr>
              <a:t>o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spc="-175" dirty="0">
                <a:latin typeface="Calibri"/>
                <a:cs typeface="Calibri"/>
              </a:rPr>
              <a:t>pano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40" dirty="0">
                <a:latin typeface="Calibri"/>
                <a:cs typeface="Calibri"/>
              </a:rPr>
              <a:t>de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65" dirty="0">
                <a:latin typeface="Calibri"/>
                <a:cs typeface="Calibri"/>
              </a:rPr>
              <a:t>fundo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da</a:t>
            </a:r>
            <a:r>
              <a:rPr sz="2400" spc="-235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situação</a:t>
            </a:r>
            <a:endParaRPr sz="2400" dirty="0">
              <a:latin typeface="Calibri"/>
              <a:cs typeface="Calibri"/>
            </a:endParaRPr>
          </a:p>
          <a:p>
            <a:pPr marL="13970">
              <a:lnSpc>
                <a:spcPts val="2965"/>
              </a:lnSpc>
            </a:pPr>
            <a:r>
              <a:rPr sz="2400" spc="-85" dirty="0">
                <a:latin typeface="Calibri"/>
                <a:cs typeface="Calibri"/>
              </a:rPr>
              <a:t>ou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do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caso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do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cliente.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51337" y="4957823"/>
            <a:ext cx="4442460" cy="8089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-635">
              <a:lnSpc>
                <a:spcPts val="3000"/>
              </a:lnSpc>
              <a:spcBef>
                <a:spcPts val="335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00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açâo</a:t>
            </a:r>
            <a:r>
              <a:rPr sz="2400" spc="-90" dirty="0">
                <a:latin typeface="Calibri"/>
                <a:cs typeface="Calibri"/>
              </a:rPr>
              <a:t> clara,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80" dirty="0">
                <a:latin typeface="Calibri"/>
                <a:cs typeface="Calibri"/>
              </a:rPr>
              <a:t>direta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95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específica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que </a:t>
            </a:r>
            <a:r>
              <a:rPr sz="2400" spc="-105" dirty="0">
                <a:latin typeface="Calibri"/>
                <a:cs typeface="Calibri"/>
              </a:rPr>
              <a:t>você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quer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que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</a:t>
            </a:r>
            <a:r>
              <a:rPr sz="2400" spc="-1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89437" y="6013985"/>
            <a:ext cx="4570095" cy="8089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-635">
              <a:lnSpc>
                <a:spcPts val="3000"/>
              </a:lnSpc>
              <a:spcBef>
                <a:spcPts val="335"/>
              </a:spcBef>
            </a:pPr>
            <a:r>
              <a:rPr sz="2400" spc="-80" dirty="0">
                <a:latin typeface="Calibri"/>
                <a:cs typeface="Calibri"/>
              </a:rPr>
              <a:t>Determina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45" dirty="0">
                <a:latin typeface="Calibri"/>
                <a:cs typeface="Calibri"/>
              </a:rPr>
              <a:t>como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</a:t>
            </a:r>
            <a:r>
              <a:rPr sz="2400" spc="-270" dirty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resposta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14" dirty="0">
                <a:latin typeface="Calibri"/>
                <a:cs typeface="Calibri"/>
              </a:rPr>
              <a:t>deve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ser </a:t>
            </a:r>
            <a:r>
              <a:rPr sz="2400" spc="-80" dirty="0">
                <a:latin typeface="Calibri"/>
                <a:cs typeface="Calibri"/>
              </a:rPr>
              <a:t>estruturada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(tópicos,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14" dirty="0">
                <a:latin typeface="Calibri"/>
                <a:cs typeface="Calibri"/>
              </a:rPr>
              <a:t>tabela,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etc.).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51337" y="7093828"/>
            <a:ext cx="4555490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50"/>
              </a:lnSpc>
              <a:spcBef>
                <a:spcPts val="100"/>
              </a:spcBef>
            </a:pPr>
            <a:r>
              <a:rPr sz="2400" spc="-40" dirty="0">
                <a:latin typeface="Calibri"/>
                <a:cs typeface="Calibri"/>
              </a:rPr>
              <a:t>Comando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absoluto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para</a:t>
            </a:r>
            <a:r>
              <a:rPr sz="2400" spc="-185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que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IA</a:t>
            </a:r>
            <a:r>
              <a:rPr sz="2400" spc="-2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use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3070"/>
              </a:lnSpc>
            </a:pPr>
            <a:r>
              <a:rPr sz="2400" spc="-114" dirty="0">
                <a:latin typeface="Calibri"/>
                <a:cs typeface="Calibri"/>
              </a:rPr>
              <a:t>apenas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10" dirty="0">
                <a:latin typeface="Calibri"/>
                <a:cs typeface="Calibri"/>
              </a:rPr>
              <a:t>fontes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reais </a:t>
            </a:r>
            <a:r>
              <a:rPr sz="2400" spc="-100" dirty="0">
                <a:latin typeface="Calibri"/>
                <a:cs typeface="Calibri"/>
              </a:rPr>
              <a:t>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verificáveis.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29899" y="2892503"/>
            <a:ext cx="4584065" cy="79819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6510" marR="5080" indent="-4445">
              <a:lnSpc>
                <a:spcPts val="3000"/>
              </a:lnSpc>
              <a:spcBef>
                <a:spcPts val="270"/>
              </a:spcBef>
            </a:pPr>
            <a:r>
              <a:rPr sz="2400" b="1" dirty="0">
                <a:latin typeface="Calibri"/>
                <a:cs typeface="Calibri"/>
              </a:rPr>
              <a:t>Alta:</a:t>
            </a:r>
            <a:r>
              <a:rPr sz="2400" b="1" spc="-19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Direciona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70" dirty="0">
                <a:latin typeface="Calibri"/>
                <a:cs typeface="Calibri"/>
              </a:rPr>
              <a:t>a</a:t>
            </a:r>
            <a:r>
              <a:rPr sz="2400" spc="-18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IA</a:t>
            </a:r>
            <a:r>
              <a:rPr sz="2400" spc="-195" dirty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para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o</a:t>
            </a:r>
            <a:r>
              <a:rPr sz="2400" spc="-165" dirty="0">
                <a:latin typeface="Calibri"/>
                <a:cs typeface="Calibri"/>
              </a:rPr>
              <a:t> </a:t>
            </a:r>
            <a:r>
              <a:rPr sz="2400" spc="-110" dirty="0">
                <a:latin typeface="Calibri"/>
                <a:cs typeface="Calibri"/>
              </a:rPr>
              <a:t>campo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spc="-90" dirty="0">
                <a:latin typeface="Calibri"/>
                <a:cs typeface="Calibri"/>
              </a:rPr>
              <a:t>conhecimento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correto.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40695" y="3928219"/>
            <a:ext cx="4497070" cy="79629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8890">
              <a:lnSpc>
                <a:spcPts val="2900"/>
              </a:lnSpc>
              <a:spcBef>
                <a:spcPts val="415"/>
              </a:spcBef>
            </a:pPr>
            <a:r>
              <a:rPr sz="2400" b="1" spc="-10" dirty="0">
                <a:latin typeface="Calibri"/>
                <a:cs typeface="Calibri"/>
              </a:rPr>
              <a:t>Alta:</a:t>
            </a:r>
            <a:r>
              <a:rPr sz="2400" b="1" spc="-165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Permite</a:t>
            </a:r>
            <a:r>
              <a:rPr sz="2400" spc="-165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que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a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IA</a:t>
            </a:r>
            <a:r>
              <a:rPr sz="2400" spc="-190" dirty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aplique</a:t>
            </a:r>
            <a:r>
              <a:rPr sz="2400" spc="-50" dirty="0">
                <a:latin typeface="Calibri"/>
                <a:cs typeface="Calibri"/>
              </a:rPr>
              <a:t> o </a:t>
            </a:r>
            <a:r>
              <a:rPr sz="2400" spc="-105" dirty="0">
                <a:latin typeface="Calibri"/>
                <a:cs typeface="Calibri"/>
              </a:rPr>
              <a:t>conhecimento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à</a:t>
            </a:r>
            <a:r>
              <a:rPr sz="2400" spc="-280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situação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65" dirty="0">
                <a:latin typeface="Calibri"/>
                <a:cs typeface="Calibri"/>
              </a:rPr>
              <a:t>específica.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29899" y="4979811"/>
            <a:ext cx="4457065" cy="8089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3335" marR="5080" indent="-1270">
              <a:lnSpc>
                <a:spcPts val="3000"/>
              </a:lnSpc>
              <a:spcBef>
                <a:spcPts val="335"/>
              </a:spcBef>
            </a:pPr>
            <a:r>
              <a:rPr sz="2400" b="1" dirty="0">
                <a:latin typeface="Calibri"/>
                <a:cs typeface="Calibri"/>
              </a:rPr>
              <a:t>Crítica:</a:t>
            </a:r>
            <a:r>
              <a:rPr sz="2400" b="1" spc="-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o</a:t>
            </a:r>
            <a:r>
              <a:rPr sz="2400" spc="-185" dirty="0">
                <a:latin typeface="Calibri"/>
                <a:cs typeface="Calibri"/>
              </a:rPr>
              <a:t> </a:t>
            </a:r>
            <a:r>
              <a:rPr sz="2400" spc="-135" dirty="0">
                <a:latin typeface="Calibri"/>
                <a:cs typeface="Calibri"/>
              </a:rPr>
              <a:t>comando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80" dirty="0">
                <a:latin typeface="Calibri"/>
                <a:cs typeface="Calibri"/>
              </a:rPr>
              <a:t>principal.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65" dirty="0">
                <a:latin typeface="Calibri"/>
                <a:cs typeface="Calibri"/>
              </a:rPr>
              <a:t>Sem </a:t>
            </a:r>
            <a:r>
              <a:rPr sz="2400" spc="-85" dirty="0">
                <a:latin typeface="Calibri"/>
                <a:cs typeface="Calibri"/>
              </a:rPr>
              <a:t>ela,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</a:t>
            </a:r>
            <a:r>
              <a:rPr sz="2400" spc="-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IA</a:t>
            </a:r>
            <a:r>
              <a:rPr sz="2400" spc="-180" dirty="0">
                <a:latin typeface="Calibri"/>
                <a:cs typeface="Calibri"/>
              </a:rPr>
              <a:t> </a:t>
            </a:r>
            <a:r>
              <a:rPr sz="2400" spc="-145" dirty="0">
                <a:latin typeface="Calibri"/>
                <a:cs typeface="Calibri"/>
              </a:rPr>
              <a:t>nâo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sabe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o</a:t>
            </a:r>
            <a:r>
              <a:rPr sz="2400" spc="-170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que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fazer.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40695" y="6145670"/>
            <a:ext cx="4664710" cy="8089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5400" marR="5080" indent="-13335">
              <a:lnSpc>
                <a:spcPts val="3000"/>
              </a:lnSpc>
              <a:spcBef>
                <a:spcPts val="335"/>
              </a:spcBef>
            </a:pPr>
            <a:r>
              <a:rPr sz="2400" b="1" spc="-70" dirty="0">
                <a:latin typeface="Calibri"/>
                <a:cs typeface="Calibri"/>
              </a:rPr>
              <a:t>Média/Alta: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Organiza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a</a:t>
            </a:r>
            <a:r>
              <a:rPr sz="2400" spc="-270" dirty="0">
                <a:latin typeface="Calibri"/>
                <a:cs typeface="Calibri"/>
              </a:rPr>
              <a:t> </a:t>
            </a:r>
            <a:r>
              <a:rPr sz="2400" spc="-80" dirty="0">
                <a:latin typeface="Calibri"/>
                <a:cs typeface="Calibri"/>
              </a:rPr>
              <a:t>resposta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 </a:t>
            </a:r>
            <a:r>
              <a:rPr sz="2400" spc="-110" dirty="0">
                <a:latin typeface="Calibri"/>
                <a:cs typeface="Calibri"/>
              </a:rPr>
              <a:t>economiza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110" dirty="0">
                <a:latin typeface="Calibri"/>
                <a:cs typeface="Calibri"/>
              </a:rPr>
              <a:t>seu </a:t>
            </a:r>
            <a:r>
              <a:rPr sz="2400" spc="-150" dirty="0">
                <a:latin typeface="Calibri"/>
                <a:cs typeface="Calibri"/>
              </a:rPr>
              <a:t>tempo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de</a:t>
            </a:r>
            <a:r>
              <a:rPr sz="2400" spc="-190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formatação.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40695" y="7200649"/>
            <a:ext cx="4665345" cy="82994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9685" marR="5080" indent="-7620">
              <a:lnSpc>
                <a:spcPts val="3000"/>
              </a:lnSpc>
              <a:spcBef>
                <a:spcPts val="475"/>
              </a:spcBef>
            </a:pPr>
            <a:r>
              <a:rPr sz="2400" b="1" spc="-35" dirty="0">
                <a:latin typeface="Calibri"/>
                <a:cs typeface="Calibri"/>
              </a:rPr>
              <a:t>Crítica/Máxima:</a:t>
            </a:r>
            <a:r>
              <a:rPr sz="2400" b="1" spc="-310" dirty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Evita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75" dirty="0">
                <a:latin typeface="Calibri"/>
                <a:cs typeface="Calibri"/>
              </a:rPr>
              <a:t>alucinações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 </a:t>
            </a:r>
            <a:r>
              <a:rPr sz="2400" spc="-195" dirty="0">
                <a:latin typeface="Calibri"/>
                <a:cs typeface="Calibri"/>
              </a:rPr>
              <a:t>garante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150" dirty="0">
                <a:latin typeface="Calibri"/>
                <a:cs typeface="Calibri"/>
              </a:rPr>
              <a:t>a </a:t>
            </a:r>
            <a:r>
              <a:rPr sz="2400" spc="-185" dirty="0">
                <a:latin typeface="Calibri"/>
                <a:cs typeface="Calibri"/>
              </a:rPr>
              <a:t>segurança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jurídica.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6" name="object 13"/>
          <p:cNvSpPr txBox="1"/>
          <p:nvPr/>
        </p:nvSpPr>
        <p:spPr>
          <a:xfrm>
            <a:off x="2530562" y="7296432"/>
            <a:ext cx="220218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BR" sz="2400" dirty="0">
                <a:latin typeface="Calibri"/>
                <a:cs typeface="Calibri"/>
              </a:rPr>
              <a:t>V</a:t>
            </a:r>
            <a:r>
              <a:rPr sz="2400" spc="-35" dirty="0" smtClean="0">
                <a:latin typeface="Calibri"/>
                <a:cs typeface="Calibri"/>
              </a:rPr>
              <a:t> </a:t>
            </a:r>
            <a:r>
              <a:rPr sz="2400" spc="-120" dirty="0">
                <a:latin typeface="Calibri"/>
                <a:cs typeface="Calibri"/>
              </a:rPr>
              <a:t>-</a:t>
            </a:r>
            <a:r>
              <a:rPr sz="2400" spc="-280" dirty="0">
                <a:latin typeface="Calibri"/>
                <a:cs typeface="Calibri"/>
              </a:rPr>
              <a:t> </a:t>
            </a:r>
            <a:r>
              <a:rPr lang="pt-BR" sz="2400" spc="-90" dirty="0" smtClean="0">
                <a:latin typeface="Calibri"/>
                <a:cs typeface="Calibri"/>
              </a:rPr>
              <a:t>Verdade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7" name="object 13"/>
          <p:cNvSpPr txBox="1"/>
          <p:nvPr/>
        </p:nvSpPr>
        <p:spPr>
          <a:xfrm>
            <a:off x="2555962" y="6132970"/>
            <a:ext cx="220218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BR" sz="2400" dirty="0">
                <a:latin typeface="Calibri"/>
                <a:cs typeface="Calibri"/>
              </a:rPr>
              <a:t>F</a:t>
            </a:r>
            <a:r>
              <a:rPr sz="2400" spc="-35" dirty="0" smtClean="0">
                <a:latin typeface="Calibri"/>
                <a:cs typeface="Calibri"/>
              </a:rPr>
              <a:t> </a:t>
            </a:r>
            <a:r>
              <a:rPr sz="2400" spc="-120" dirty="0">
                <a:latin typeface="Calibri"/>
                <a:cs typeface="Calibri"/>
              </a:rPr>
              <a:t>-</a:t>
            </a:r>
            <a:r>
              <a:rPr sz="2400" spc="-280" dirty="0">
                <a:latin typeface="Calibri"/>
                <a:cs typeface="Calibri"/>
              </a:rPr>
              <a:t> </a:t>
            </a:r>
            <a:r>
              <a:rPr lang="pt-BR" sz="2400" spc="-90" dirty="0" smtClean="0">
                <a:latin typeface="Calibri"/>
                <a:cs typeface="Calibri"/>
              </a:rPr>
              <a:t>Forma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8" name="object 13"/>
          <p:cNvSpPr txBox="1"/>
          <p:nvPr/>
        </p:nvSpPr>
        <p:spPr>
          <a:xfrm>
            <a:off x="2522822" y="5073137"/>
            <a:ext cx="220218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BR" sz="2400" dirty="0">
                <a:latin typeface="Calibri"/>
                <a:cs typeface="Calibri"/>
              </a:rPr>
              <a:t>T</a:t>
            </a:r>
            <a:r>
              <a:rPr sz="2400" spc="-120" dirty="0" smtClean="0">
                <a:latin typeface="Calibri"/>
                <a:cs typeface="Calibri"/>
              </a:rPr>
              <a:t>-</a:t>
            </a:r>
            <a:r>
              <a:rPr sz="2400" spc="-280" dirty="0" smtClean="0">
                <a:latin typeface="Calibri"/>
                <a:cs typeface="Calibri"/>
              </a:rPr>
              <a:t> </a:t>
            </a:r>
            <a:r>
              <a:rPr lang="pt-BR" sz="2400" spc="-90" dirty="0" smtClean="0">
                <a:latin typeface="Calibri"/>
                <a:cs typeface="Calibri"/>
              </a:rPr>
              <a:t>Tarefa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0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9999" y="5143006"/>
            <a:ext cx="520700" cy="482600"/>
          </a:xfrm>
          <a:prstGeom prst="rect">
            <a:avLst/>
          </a:prstGeom>
        </p:spPr>
      </p:pic>
      <p:pic>
        <p:nvPicPr>
          <p:cNvPr id="31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7850" y="6186310"/>
            <a:ext cx="520700" cy="48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84600" y="89940"/>
            <a:ext cx="10761505" cy="2109552"/>
          </a:xfrm>
          <a:prstGeom prst="rect">
            <a:avLst/>
          </a:prstGeom>
        </p:spPr>
        <p:txBody>
          <a:bodyPr vert="horz" wrap="square" lIns="0" tIns="626110" rIns="0" bIns="0" rtlCol="0">
            <a:spAutoFit/>
          </a:bodyPr>
          <a:lstStyle/>
          <a:p>
            <a:pPr marL="598170" algn="ctr">
              <a:lnSpc>
                <a:spcPct val="100000"/>
              </a:lnSpc>
              <a:spcBef>
                <a:spcPts val="130"/>
              </a:spcBef>
            </a:pPr>
            <a:r>
              <a:rPr sz="4800" spc="-45" dirty="0">
                <a:solidFill>
                  <a:srgbClr val="2B2B2B"/>
                </a:solidFill>
              </a:rPr>
              <a:t>Definindo</a:t>
            </a:r>
            <a:r>
              <a:rPr sz="4800" spc="-204" dirty="0">
                <a:solidFill>
                  <a:srgbClr val="2B2B2B"/>
                </a:solidFill>
              </a:rPr>
              <a:t> </a:t>
            </a:r>
            <a:r>
              <a:rPr sz="4800" dirty="0">
                <a:solidFill>
                  <a:srgbClr val="313131"/>
                </a:solidFill>
              </a:rPr>
              <a:t>o</a:t>
            </a:r>
            <a:r>
              <a:rPr sz="4800" spc="-250" dirty="0">
                <a:solidFill>
                  <a:srgbClr val="313131"/>
                </a:solidFill>
              </a:rPr>
              <a:t> </a:t>
            </a:r>
            <a:r>
              <a:rPr sz="4800" spc="-75" dirty="0">
                <a:solidFill>
                  <a:srgbClr val="2D2D2D"/>
                </a:solidFill>
              </a:rPr>
              <a:t>Especialista</a:t>
            </a:r>
            <a:r>
              <a:rPr sz="4800" spc="90" dirty="0">
                <a:solidFill>
                  <a:srgbClr val="2D2D2D"/>
                </a:solidFill>
              </a:rPr>
              <a:t> </a:t>
            </a:r>
            <a:r>
              <a:rPr sz="4800" dirty="0">
                <a:solidFill>
                  <a:srgbClr val="383838"/>
                </a:solidFill>
              </a:rPr>
              <a:t>e</a:t>
            </a:r>
            <a:r>
              <a:rPr sz="4800" spc="-204" dirty="0">
                <a:solidFill>
                  <a:srgbClr val="383838"/>
                </a:solidFill>
              </a:rPr>
              <a:t> </a:t>
            </a:r>
            <a:r>
              <a:rPr sz="4800" dirty="0">
                <a:solidFill>
                  <a:srgbClr val="2B2B2B"/>
                </a:solidFill>
              </a:rPr>
              <a:t>a</a:t>
            </a:r>
            <a:r>
              <a:rPr sz="4800" spc="-220" dirty="0">
                <a:solidFill>
                  <a:srgbClr val="2B2B2B"/>
                </a:solidFill>
              </a:rPr>
              <a:t> </a:t>
            </a:r>
            <a:r>
              <a:rPr sz="4800" spc="-60" dirty="0" smtClean="0">
                <a:solidFill>
                  <a:srgbClr val="2B2B2B"/>
                </a:solidFill>
              </a:rPr>
              <a:t>Situação</a:t>
            </a:r>
            <a:r>
              <a:rPr sz="4800" spc="-50" dirty="0" smtClean="0">
                <a:solidFill>
                  <a:srgbClr val="2B2B2B"/>
                </a:solidFill>
              </a:rPr>
              <a:t> </a:t>
            </a:r>
            <a:r>
              <a:rPr lang="pt-BR" sz="4800" spc="-50" dirty="0" smtClean="0">
                <a:solidFill>
                  <a:srgbClr val="2B2B2B"/>
                </a:solidFill>
              </a:rPr>
              <a:t/>
            </a:r>
            <a:br>
              <a:rPr lang="pt-BR" sz="4800" spc="-50" dirty="0" smtClean="0">
                <a:solidFill>
                  <a:srgbClr val="2B2B2B"/>
                </a:solidFill>
              </a:rPr>
            </a:br>
            <a:r>
              <a:rPr lang="pt-BR" sz="4800" spc="-195" dirty="0">
                <a:solidFill>
                  <a:srgbClr val="FF0000"/>
                </a:solidFill>
              </a:rPr>
              <a:t>(P) </a:t>
            </a:r>
            <a:r>
              <a:rPr sz="4800" spc="-95" dirty="0" smtClean="0">
                <a:solidFill>
                  <a:srgbClr val="2F2F2F"/>
                </a:solidFill>
              </a:rPr>
              <a:t>Papel</a:t>
            </a:r>
            <a:r>
              <a:rPr sz="4800" spc="-170" dirty="0" smtClean="0">
                <a:solidFill>
                  <a:srgbClr val="2F2F2F"/>
                </a:solidFill>
              </a:rPr>
              <a:t> </a:t>
            </a:r>
            <a:r>
              <a:rPr sz="4800" dirty="0" smtClean="0">
                <a:solidFill>
                  <a:srgbClr val="2F2F2F"/>
                </a:solidFill>
              </a:rPr>
              <a:t>e</a:t>
            </a:r>
            <a:r>
              <a:rPr sz="4800" spc="-190" dirty="0" smtClean="0">
                <a:solidFill>
                  <a:srgbClr val="2F2F2F"/>
                </a:solidFill>
              </a:rPr>
              <a:t> </a:t>
            </a:r>
            <a:r>
              <a:rPr lang="pt-BR" sz="4800" spc="-25" dirty="0">
                <a:solidFill>
                  <a:srgbClr val="FF0000"/>
                </a:solidFill>
              </a:rPr>
              <a:t>(C)</a:t>
            </a:r>
            <a:r>
              <a:rPr lang="pt-BR" sz="4800" spc="-25" dirty="0">
                <a:solidFill>
                  <a:srgbClr val="2F2F2F"/>
                </a:solidFill>
              </a:rPr>
              <a:t> </a:t>
            </a:r>
            <a:r>
              <a:rPr sz="4800" spc="-100" dirty="0" smtClean="0">
                <a:solidFill>
                  <a:srgbClr val="2A2A2A"/>
                </a:solidFill>
              </a:rPr>
              <a:t>Contexto</a:t>
            </a:r>
            <a:endParaRPr sz="4800" dirty="0"/>
          </a:p>
        </p:txBody>
      </p:sp>
      <p:grpSp>
        <p:nvGrpSpPr>
          <p:cNvPr id="7" name="Grupo 6"/>
          <p:cNvGrpSpPr/>
          <p:nvPr/>
        </p:nvGrpSpPr>
        <p:grpSpPr>
          <a:xfrm>
            <a:off x="1422400" y="2667000"/>
            <a:ext cx="15087600" cy="6248400"/>
            <a:chOff x="1422400" y="2707910"/>
            <a:chExt cx="14276070" cy="5588194"/>
          </a:xfrm>
        </p:grpSpPr>
        <p:pic>
          <p:nvPicPr>
            <p:cNvPr id="2" name="object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4600" y="3619720"/>
              <a:ext cx="1625600" cy="1079500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1422400" y="4388725"/>
              <a:ext cx="7357019" cy="2683427"/>
            </a:xfrm>
            <a:prstGeom prst="rect">
              <a:avLst/>
            </a:prstGeom>
          </p:spPr>
          <p:txBody>
            <a:bodyPr vert="horz" wrap="square" lIns="0" tIns="315595" rIns="0" bIns="0" rtlCol="0">
              <a:spAutoFit/>
            </a:bodyPr>
            <a:lstStyle/>
            <a:p>
              <a:pPr marL="12700" marR="5080" indent="-15875" algn="ctr">
                <a:spcBef>
                  <a:spcPts val="2080"/>
                </a:spcBef>
              </a:pPr>
              <a:r>
                <a:rPr sz="2950" spc="-3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Defina</a:t>
              </a:r>
              <a:r>
                <a:rPr sz="2950" spc="-15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95" dirty="0">
                  <a:latin typeface="Arial" panose="020B0604020202020204" pitchFamily="34" charset="0"/>
                  <a:cs typeface="Arial" panose="020B0604020202020204" pitchFamily="34" charset="0"/>
                </a:rPr>
                <a:t>quem</a:t>
              </a:r>
              <a:r>
                <a:rPr sz="2950" spc="-14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sz="2950" spc="-21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105" dirty="0">
                  <a:latin typeface="Arial" panose="020B0604020202020204" pitchFamily="34" charset="0"/>
                  <a:cs typeface="Arial" panose="020B0604020202020204" pitchFamily="34" charset="0"/>
                </a:rPr>
                <a:t>IA</a:t>
              </a:r>
              <a:r>
                <a:rPr sz="2950" spc="-23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75" dirty="0">
                  <a:latin typeface="Arial" panose="020B0604020202020204" pitchFamily="34" charset="0"/>
                  <a:cs typeface="Arial" panose="020B0604020202020204" pitchFamily="34" charset="0"/>
                </a:rPr>
                <a:t>deve ser.</a:t>
              </a:r>
              <a:r>
                <a:rPr sz="2950" spc="-23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pt-BR" sz="2950" spc="-235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700" marR="5080" indent="-15875" algn="ctr">
                <a:lnSpc>
                  <a:spcPts val="3200"/>
                </a:lnSpc>
                <a:spcBef>
                  <a:spcPts val="2080"/>
                </a:spcBef>
              </a:pPr>
              <a:r>
                <a:rPr sz="295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Ao</a:t>
              </a:r>
              <a:r>
                <a:rPr sz="2950" spc="-18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35" dirty="0">
                  <a:latin typeface="Arial" panose="020B0604020202020204" pitchFamily="34" charset="0"/>
                  <a:cs typeface="Arial" panose="020B0604020202020204" pitchFamily="34" charset="0"/>
                </a:rPr>
                <a:t>atribuir</a:t>
              </a:r>
              <a:r>
                <a:rPr sz="295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25" dirty="0">
                  <a:latin typeface="Arial" panose="020B0604020202020204" pitchFamily="34" charset="0"/>
                  <a:cs typeface="Arial" panose="020B0604020202020204" pitchFamily="34" charset="0"/>
                </a:rPr>
                <a:t>um </a:t>
              </a:r>
              <a:r>
                <a:rPr sz="2850" spc="-30" dirty="0">
                  <a:latin typeface="Arial" panose="020B0604020202020204" pitchFamily="34" charset="0"/>
                  <a:cs typeface="Arial" panose="020B0604020202020204" pitchFamily="34" charset="0"/>
                </a:rPr>
                <a:t>papel,</a:t>
              </a:r>
              <a:r>
                <a:rPr sz="2850" spc="-4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850" dirty="0">
                  <a:latin typeface="Arial" panose="020B0604020202020204" pitchFamily="34" charset="0"/>
                  <a:cs typeface="Arial" panose="020B0604020202020204" pitchFamily="34" charset="0"/>
                </a:rPr>
                <a:t>você</a:t>
              </a:r>
              <a:r>
                <a:rPr sz="2850" spc="-6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850" dirty="0">
                  <a:latin typeface="Arial" panose="020B0604020202020204" pitchFamily="34" charset="0"/>
                  <a:cs typeface="Arial" panose="020B0604020202020204" pitchFamily="34" charset="0"/>
                </a:rPr>
                <a:t>ativa</a:t>
              </a:r>
              <a:r>
                <a:rPr sz="2850" spc="-15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850" spc="15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sz="2850" spc="-28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850" spc="-10" dirty="0">
                  <a:latin typeface="Arial" panose="020B0604020202020204" pitchFamily="34" charset="0"/>
                  <a:cs typeface="Arial" panose="020B0604020202020204" pitchFamily="34" charset="0"/>
                </a:rPr>
                <a:t>conhecimento </a:t>
              </a:r>
              <a:r>
                <a:rPr sz="2850" dirty="0">
                  <a:latin typeface="Arial" panose="020B0604020202020204" pitchFamily="34" charset="0"/>
                  <a:cs typeface="Arial" panose="020B0604020202020204" pitchFamily="34" charset="0"/>
                </a:rPr>
                <a:t>específico</a:t>
              </a:r>
              <a:r>
                <a:rPr sz="2850" spc="-13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850" spc="-10" dirty="0">
                  <a:latin typeface="Arial" panose="020B0604020202020204" pitchFamily="34" charset="0"/>
                  <a:cs typeface="Arial" panose="020B0604020202020204" pitchFamily="34" charset="0"/>
                </a:rPr>
                <a:t>daquela</a:t>
              </a:r>
              <a:r>
                <a:rPr sz="2850" spc="-14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850" spc="-20" dirty="0">
                  <a:latin typeface="Arial" panose="020B0604020202020204" pitchFamily="34" charset="0"/>
                  <a:cs typeface="Arial" panose="020B0604020202020204" pitchFamily="34" charset="0"/>
                </a:rPr>
                <a:t>área,</a:t>
              </a:r>
              <a:r>
                <a:rPr sz="2850" spc="-14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850" spc="-20" dirty="0">
                  <a:latin typeface="Arial" panose="020B0604020202020204" pitchFamily="34" charset="0"/>
                  <a:cs typeface="Arial" panose="020B0604020202020204" pitchFamily="34" charset="0"/>
                </a:rPr>
                <a:t>transformando</a:t>
              </a:r>
              <a:r>
                <a:rPr sz="2850" spc="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850" spc="-25" dirty="0">
                  <a:latin typeface="Arial" panose="020B0604020202020204" pitchFamily="34" charset="0"/>
                  <a:cs typeface="Arial" panose="020B0604020202020204" pitchFamily="34" charset="0"/>
                </a:rPr>
                <a:t>um </a:t>
              </a:r>
              <a:r>
                <a:rPr sz="2900" spc="-30" dirty="0">
                  <a:latin typeface="Arial" panose="020B0604020202020204" pitchFamily="34" charset="0"/>
                  <a:cs typeface="Arial" panose="020B0604020202020204" pitchFamily="34" charset="0"/>
                </a:rPr>
                <a:t>generalista </a:t>
              </a:r>
              <a:r>
                <a:rPr sz="2900" spc="-65" dirty="0">
                  <a:latin typeface="Arial" panose="020B0604020202020204" pitchFamily="34" charset="0"/>
                  <a:cs typeface="Arial" panose="020B0604020202020204" pitchFamily="34" charset="0"/>
                </a:rPr>
                <a:t>em</a:t>
              </a:r>
              <a:r>
                <a:rPr sz="2900" spc="-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00" spc="-70" dirty="0">
                  <a:latin typeface="Arial" panose="020B0604020202020204" pitchFamily="34" charset="0"/>
                  <a:cs typeface="Arial" panose="020B0604020202020204" pitchFamily="34" charset="0"/>
                </a:rPr>
                <a:t>um</a:t>
              </a:r>
              <a:r>
                <a:rPr sz="2900" spc="-22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00" spc="-10" dirty="0">
                  <a:latin typeface="Arial" panose="020B0604020202020204" pitchFamily="34" charset="0"/>
                  <a:cs typeface="Arial" panose="020B0604020202020204" pitchFamily="34" charset="0"/>
                </a:rPr>
                <a:t>especialista.</a:t>
              </a:r>
              <a:endParaRPr sz="29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494914" y="7043838"/>
              <a:ext cx="5099685" cy="1252266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R="6350" algn="ctr">
                <a:lnSpc>
                  <a:spcPct val="100000"/>
                </a:lnSpc>
                <a:spcBef>
                  <a:spcPts val="125"/>
                </a:spcBef>
              </a:pPr>
              <a:r>
                <a:rPr sz="2750" b="1" spc="-10" dirty="0">
                  <a:latin typeface="Arial" panose="020B0604020202020204" pitchFamily="34" charset="0"/>
                  <a:cs typeface="Arial" panose="020B0604020202020204" pitchFamily="34" charset="0"/>
                </a:rPr>
                <a:t>Exemplo:</a:t>
              </a:r>
              <a:endParaRPr sz="27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  <a:spcBef>
                  <a:spcPts val="50"/>
                </a:spcBef>
              </a:pPr>
              <a:r>
                <a:rPr sz="2600" spc="80" dirty="0">
                  <a:latin typeface="Arial" panose="020B0604020202020204" pitchFamily="34" charset="0"/>
                  <a:cs typeface="Arial" panose="020B0604020202020204" pitchFamily="34" charset="0"/>
                </a:rPr>
                <a:t>“Você</a:t>
              </a:r>
              <a:r>
                <a:rPr sz="2600" spc="6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600" spc="100" dirty="0">
                  <a:latin typeface="Arial" panose="020B0604020202020204" pitchFamily="34" charset="0"/>
                  <a:cs typeface="Arial" panose="020B0604020202020204" pitchFamily="34" charset="0"/>
                </a:rPr>
                <a:t>é</a:t>
              </a:r>
              <a:r>
                <a:rPr sz="2600" spc="4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um</a:t>
              </a:r>
              <a:r>
                <a:rPr sz="2600" spc="16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600" dirty="0">
                  <a:latin typeface="Arial" panose="020B0604020202020204" pitchFamily="34" charset="0"/>
                  <a:cs typeface="Arial" panose="020B0604020202020204" pitchFamily="34" charset="0"/>
                </a:rPr>
                <a:t>advogado</a:t>
              </a:r>
              <a:r>
                <a:rPr sz="2600" spc="19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600" spc="-10" dirty="0">
                  <a:latin typeface="Arial" panose="020B0604020202020204" pitchFamily="34" charset="0"/>
                  <a:cs typeface="Arial" panose="020B0604020202020204" pitchFamily="34" charset="0"/>
                </a:rPr>
                <a:t>tributarista'’</a:t>
              </a:r>
              <a:endParaRPr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9194800" y="3505200"/>
              <a:ext cx="6503670" cy="3919663"/>
            </a:xfrm>
            <a:prstGeom prst="rect">
              <a:avLst/>
            </a:prstGeom>
          </p:spPr>
          <p:txBody>
            <a:bodyPr vert="horz" wrap="square" lIns="0" tIns="84455" rIns="0" bIns="0" rtlCol="0">
              <a:spAutoFit/>
            </a:bodyPr>
            <a:lstStyle/>
            <a:p>
              <a:pPr marL="113030" marR="123825" indent="43815" algn="ctr">
                <a:lnSpc>
                  <a:spcPts val="3200"/>
                </a:lnSpc>
                <a:spcBef>
                  <a:spcPts val="665"/>
                </a:spcBef>
              </a:pPr>
              <a:r>
                <a:rPr sz="3100" b="1" spc="-29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Resuma</a:t>
              </a:r>
              <a:r>
                <a:rPr sz="3100" spc="35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sz="3100" spc="-37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155" dirty="0">
                  <a:latin typeface="Arial" panose="020B0604020202020204" pitchFamily="34" charset="0"/>
                  <a:cs typeface="Arial" panose="020B0604020202020204" pitchFamily="34" charset="0"/>
                </a:rPr>
                <a:t>caso,</a:t>
              </a:r>
              <a:r>
                <a:rPr sz="3100" spc="-7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9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sz="3100" spc="-229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190" dirty="0">
                  <a:latin typeface="Arial" panose="020B0604020202020204" pitchFamily="34" charset="0"/>
                  <a:cs typeface="Arial" panose="020B0604020202020204" pitchFamily="34" charset="0"/>
                </a:rPr>
                <a:t>objetivo</a:t>
              </a:r>
              <a:r>
                <a:rPr sz="3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195" dirty="0">
                  <a:latin typeface="Arial" panose="020B0604020202020204" pitchFamily="34" charset="0"/>
                  <a:cs typeface="Arial" panose="020B0604020202020204" pitchFamily="34" charset="0"/>
                </a:rPr>
                <a:t>do</a:t>
              </a:r>
              <a:r>
                <a:rPr sz="3100" spc="-16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70" dirty="0">
                  <a:latin typeface="Arial" panose="020B0604020202020204" pitchFamily="34" charset="0"/>
                  <a:cs typeface="Arial" panose="020B0604020202020204" pitchFamily="34" charset="0"/>
                </a:rPr>
                <a:t>documento </a:t>
              </a:r>
              <a:r>
                <a:rPr sz="3100" spc="-204" dirty="0">
                  <a:latin typeface="Arial" panose="020B0604020202020204" pitchFamily="34" charset="0"/>
                  <a:cs typeface="Arial" panose="020B0604020202020204" pitchFamily="34" charset="0"/>
                </a:rPr>
                <a:t>ou</a:t>
              </a:r>
              <a:r>
                <a:rPr sz="3100" spc="-1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29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sz="3100" spc="-13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190" dirty="0">
                  <a:latin typeface="Arial" panose="020B0604020202020204" pitchFamily="34" charset="0"/>
                  <a:cs typeface="Arial" panose="020B0604020202020204" pitchFamily="34" charset="0"/>
                </a:rPr>
                <a:t>situação</a:t>
              </a:r>
              <a:r>
                <a:rPr sz="3100" spc="-2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145" dirty="0">
                  <a:latin typeface="Arial" panose="020B0604020202020204" pitchFamily="34" charset="0"/>
                  <a:cs typeface="Arial" panose="020B0604020202020204" pitchFamily="34" charset="0"/>
                </a:rPr>
                <a:t>do</a:t>
              </a:r>
              <a:r>
                <a:rPr sz="3100" spc="-29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140" dirty="0">
                  <a:latin typeface="Arial" panose="020B0604020202020204" pitchFamily="34" charset="0"/>
                  <a:cs typeface="Arial" panose="020B0604020202020204" pitchFamily="34" charset="0"/>
                </a:rPr>
                <a:t>cliente.</a:t>
              </a:r>
              <a:r>
                <a:rPr sz="3100" spc="7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pt-BR" sz="3100" spc="7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13030" marR="123825" indent="43815" algn="ctr">
                <a:lnSpc>
                  <a:spcPts val="3200"/>
                </a:lnSpc>
                <a:spcBef>
                  <a:spcPts val="665"/>
                </a:spcBef>
              </a:pPr>
              <a:endParaRPr lang="pt-BR" sz="3100" spc="7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13030" marR="123825" indent="43815" algn="ctr">
                <a:lnSpc>
                  <a:spcPts val="3200"/>
                </a:lnSpc>
                <a:spcBef>
                  <a:spcPts val="665"/>
                </a:spcBef>
              </a:pPr>
              <a:r>
                <a:rPr sz="3100" spc="-34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É</a:t>
              </a:r>
              <a:r>
                <a:rPr sz="3100" spc="-175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245" dirty="0">
                  <a:latin typeface="Arial" panose="020B0604020202020204" pitchFamily="34" charset="0"/>
                  <a:cs typeface="Arial" panose="020B0604020202020204" pitchFamily="34" charset="0"/>
                </a:rPr>
                <a:t>aqui</a:t>
              </a:r>
              <a:r>
                <a:rPr sz="3100" spc="-9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210" dirty="0">
                  <a:latin typeface="Arial" panose="020B0604020202020204" pitchFamily="34" charset="0"/>
                  <a:cs typeface="Arial" panose="020B0604020202020204" pitchFamily="34" charset="0"/>
                </a:rPr>
                <a:t>que</a:t>
              </a:r>
              <a:r>
                <a:rPr sz="3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340" dirty="0"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sz="3100" spc="-190" dirty="0">
                  <a:latin typeface="Arial" panose="020B0604020202020204" pitchFamily="34" charset="0"/>
                  <a:cs typeface="Arial" panose="020B0604020202020204" pitchFamily="34" charset="0"/>
                </a:rPr>
                <a:t>expertise</a:t>
              </a:r>
              <a:r>
                <a:rPr sz="3100" spc="-4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265" dirty="0">
                  <a:latin typeface="Arial" panose="020B0604020202020204" pitchFamily="34" charset="0"/>
                  <a:cs typeface="Arial" panose="020B0604020202020204" pitchFamily="34" charset="0"/>
                </a:rPr>
                <a:t>da</a:t>
              </a:r>
              <a:r>
                <a:rPr sz="3100" spc="5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270" dirty="0">
                  <a:latin typeface="Arial" panose="020B0604020202020204" pitchFamily="34" charset="0"/>
                  <a:cs typeface="Arial" panose="020B0604020202020204" pitchFamily="34" charset="0"/>
                </a:rPr>
                <a:t>IA</a:t>
              </a:r>
              <a:r>
                <a:rPr sz="3100" spc="-8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210" dirty="0">
                  <a:latin typeface="Arial" panose="020B0604020202020204" pitchFamily="34" charset="0"/>
                  <a:cs typeface="Arial" panose="020B0604020202020204" pitchFamily="34" charset="0"/>
                </a:rPr>
                <a:t>encontra</a:t>
              </a:r>
              <a:r>
                <a:rPr sz="3100" spc="18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29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sz="3100" spc="-4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265" dirty="0">
                  <a:latin typeface="Arial" panose="020B0604020202020204" pitchFamily="34" charset="0"/>
                  <a:cs typeface="Arial" panose="020B0604020202020204" pitchFamily="34" charset="0"/>
                </a:rPr>
                <a:t>sua</a:t>
              </a:r>
              <a:r>
                <a:rPr sz="3100" spc="2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100" spc="-185" dirty="0">
                  <a:latin typeface="Arial" panose="020B0604020202020204" pitchFamily="34" charset="0"/>
                  <a:cs typeface="Arial" panose="020B0604020202020204" pitchFamily="34" charset="0"/>
                </a:rPr>
                <a:t>necessidade </a:t>
              </a:r>
              <a:r>
                <a:rPr sz="3100" spc="-80" dirty="0">
                  <a:latin typeface="Arial" panose="020B0604020202020204" pitchFamily="34" charset="0"/>
                  <a:cs typeface="Arial" panose="020B0604020202020204" pitchFamily="34" charset="0"/>
                </a:rPr>
                <a:t>específica.</a:t>
              </a:r>
              <a:endParaRPr sz="31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080" algn="ctr">
                <a:lnSpc>
                  <a:spcPts val="3535"/>
                </a:lnSpc>
                <a:spcBef>
                  <a:spcPts val="2160"/>
                </a:spcBef>
              </a:pPr>
              <a:r>
                <a:rPr sz="3100" b="1" spc="-55" dirty="0">
                  <a:latin typeface="Arial" panose="020B0604020202020204" pitchFamily="34" charset="0"/>
                  <a:cs typeface="Arial" panose="020B0604020202020204" pitchFamily="34" charset="0"/>
                </a:rPr>
                <a:t>Exemplo:</a:t>
              </a:r>
              <a:endParaRPr sz="3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700" marR="5080" algn="ctr">
                <a:lnSpc>
                  <a:spcPts val="3250"/>
                </a:lnSpc>
                <a:spcBef>
                  <a:spcPts val="165"/>
                </a:spcBef>
              </a:pPr>
              <a:r>
                <a:rPr sz="2950" spc="-100" dirty="0">
                  <a:latin typeface="Arial" panose="020B0604020202020204" pitchFamily="34" charset="0"/>
                  <a:cs typeface="Arial" panose="020B0604020202020204" pitchFamily="34" charset="0"/>
                </a:rPr>
                <a:t>“Meu</a:t>
              </a:r>
              <a:r>
                <a:rPr sz="2950" spc="-6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80" dirty="0">
                  <a:latin typeface="Arial" panose="020B0604020202020204" pitchFamily="34" charset="0"/>
                  <a:cs typeface="Arial" panose="020B0604020202020204" pitchFamily="34" charset="0"/>
                </a:rPr>
                <a:t>cliente</a:t>
              </a:r>
              <a:r>
                <a:rPr sz="2950" spc="-8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114" dirty="0">
                  <a:latin typeface="Arial" panose="020B0604020202020204" pitchFamily="34" charset="0"/>
                  <a:cs typeface="Arial" panose="020B0604020202020204" pitchFamily="34" charset="0"/>
                </a:rPr>
                <a:t>recebeu</a:t>
              </a:r>
              <a:r>
                <a:rPr sz="2950" spc="-4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265" dirty="0">
                  <a:latin typeface="Arial" panose="020B0604020202020204" pitchFamily="34" charset="0"/>
                  <a:cs typeface="Arial" panose="020B0604020202020204" pitchFamily="34" charset="0"/>
                </a:rPr>
                <a:t>uma</a:t>
              </a:r>
              <a:r>
                <a:rPr sz="2950" spc="5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130" dirty="0">
                  <a:latin typeface="Arial" panose="020B0604020202020204" pitchFamily="34" charset="0"/>
                  <a:cs typeface="Arial" panose="020B0604020202020204" pitchFamily="34" charset="0"/>
                </a:rPr>
                <a:t>cobrança</a:t>
              </a:r>
              <a:r>
                <a:rPr sz="2950" spc="1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dirty="0">
                  <a:latin typeface="Arial" panose="020B0604020202020204" pitchFamily="34" charset="0"/>
                  <a:cs typeface="Arial" panose="020B0604020202020204" pitchFamily="34" charset="0"/>
                </a:rPr>
                <a:t>de</a:t>
              </a:r>
              <a:r>
                <a:rPr sz="2950" spc="-9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165" dirty="0">
                  <a:latin typeface="Arial" panose="020B0604020202020204" pitchFamily="34" charset="0"/>
                  <a:cs typeface="Arial" panose="020B0604020202020204" pitchFamily="34" charset="0"/>
                </a:rPr>
                <a:t>IPTU </a:t>
              </a:r>
              <a:r>
                <a:rPr sz="2950" spc="-125" dirty="0">
                  <a:latin typeface="Arial" panose="020B0604020202020204" pitchFamily="34" charset="0"/>
                  <a:cs typeface="Arial" panose="020B0604020202020204" pitchFamily="34" charset="0"/>
                </a:rPr>
                <a:t>sobre</a:t>
              </a:r>
              <a:r>
                <a:rPr sz="2950" spc="-3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290" dirty="0">
                  <a:latin typeface="Arial" panose="020B0604020202020204" pitchFamily="34" charset="0"/>
                  <a:cs typeface="Arial" panose="020B0604020202020204" pitchFamily="34" charset="0"/>
                </a:rPr>
                <a:t>um</a:t>
              </a:r>
              <a:r>
                <a:rPr sz="2950" spc="2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185" dirty="0">
                  <a:latin typeface="Arial" panose="020B0604020202020204" pitchFamily="34" charset="0"/>
                  <a:cs typeface="Arial" panose="020B0604020202020204" pitchFamily="34" charset="0"/>
                </a:rPr>
                <a:t>imóvel</a:t>
              </a:r>
              <a:r>
                <a:rPr sz="2950" spc="2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120" dirty="0">
                  <a:latin typeface="Arial" panose="020B0604020202020204" pitchFamily="34" charset="0"/>
                  <a:cs typeface="Arial" panose="020B0604020202020204" pitchFamily="34" charset="0"/>
                </a:rPr>
                <a:t>que</a:t>
              </a:r>
              <a:r>
                <a:rPr sz="2950" spc="-16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50" dirty="0">
                  <a:latin typeface="Arial" panose="020B0604020202020204" pitchFamily="34" charset="0"/>
                  <a:cs typeface="Arial" panose="020B0604020202020204" pitchFamily="34" charset="0"/>
                </a:rPr>
                <a:t>já</a:t>
              </a:r>
              <a:r>
                <a:rPr sz="2950" spc="-55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2950" spc="-10" dirty="0">
                  <a:latin typeface="Arial" panose="020B0604020202020204" pitchFamily="34" charset="0"/>
                  <a:cs typeface="Arial" panose="020B0604020202020204" pitchFamily="34" charset="0"/>
                </a:rPr>
                <a:t>vendeu''</a:t>
              </a:r>
              <a:endParaRPr sz="29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object 4"/>
            <p:cNvSpPr txBox="1"/>
            <p:nvPr/>
          </p:nvSpPr>
          <p:spPr>
            <a:xfrm>
              <a:off x="1879600" y="2707910"/>
              <a:ext cx="5714999" cy="872675"/>
            </a:xfrm>
            <a:prstGeom prst="rect">
              <a:avLst/>
            </a:prstGeom>
          </p:spPr>
          <p:txBody>
            <a:bodyPr vert="horz" wrap="square" lIns="0" tIns="315595" rIns="0" bIns="0" rtlCol="0">
              <a:spAutoFit/>
            </a:bodyPr>
            <a:lstStyle/>
            <a:p>
              <a:pPr marR="12700" algn="ctr">
                <a:lnSpc>
                  <a:spcPct val="100000"/>
                </a:lnSpc>
                <a:spcBef>
                  <a:spcPts val="2485"/>
                </a:spcBef>
              </a:pPr>
              <a:r>
                <a:rPr sz="3600" spc="-75" dirty="0">
                  <a:solidFill>
                    <a:srgbClr val="3452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Atribua</a:t>
              </a:r>
              <a:r>
                <a:rPr sz="3600" spc="-5" dirty="0">
                  <a:solidFill>
                    <a:srgbClr val="3452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600" spc="-80" dirty="0">
                  <a:solidFill>
                    <a:srgbClr val="334D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um</a:t>
              </a:r>
              <a:r>
                <a:rPr sz="3600" spc="-155" dirty="0">
                  <a:solidFill>
                    <a:srgbClr val="334D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600" spc="-270" dirty="0" err="1" smtClean="0">
                  <a:solidFill>
                    <a:srgbClr val="3856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</a:t>
              </a:r>
              <a:r>
                <a:rPr lang="pt-BR" sz="3600" spc="-270" dirty="0" smtClean="0">
                  <a:solidFill>
                    <a:srgbClr val="3856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sz="3600" spc="-270" dirty="0" smtClean="0">
                  <a:solidFill>
                    <a:srgbClr val="3856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</a:t>
              </a:r>
              <a:r>
                <a:rPr sz="3600" spc="55" dirty="0" smtClean="0">
                  <a:solidFill>
                    <a:srgbClr val="3856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BR" sz="3600" spc="55" dirty="0" smtClean="0">
                  <a:solidFill>
                    <a:srgbClr val="3856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a</a:t>
              </a:r>
              <a:r>
                <a:rPr sz="3600" spc="-175" dirty="0" smtClean="0">
                  <a:solidFill>
                    <a:srgbClr val="314F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3600" spc="-25" dirty="0" smtClean="0">
                  <a:solidFill>
                    <a:srgbClr val="314F6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IA</a:t>
              </a:r>
              <a:endParaRPr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1908727" y="2411600"/>
            <a:ext cx="941420" cy="841148"/>
            <a:chOff x="12181751" y="2948336"/>
            <a:chExt cx="1082698" cy="135789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81751" y="3278069"/>
              <a:ext cx="246818" cy="10281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22201" y="3715456"/>
              <a:ext cx="330200" cy="4552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22200" y="3264436"/>
              <a:ext cx="330200" cy="3677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46031" y="3278070"/>
              <a:ext cx="269151" cy="10281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81751" y="2948336"/>
              <a:ext cx="1082698" cy="2780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36769" y="32104"/>
            <a:ext cx="9474886" cy="2064668"/>
          </a:xfrm>
          <a:prstGeom prst="rect">
            <a:avLst/>
          </a:prstGeom>
        </p:spPr>
        <p:txBody>
          <a:bodyPr vert="horz" wrap="square" lIns="0" tIns="581660" rIns="0" bIns="0" rtlCol="0">
            <a:spAutoFit/>
          </a:bodyPr>
          <a:lstStyle/>
          <a:p>
            <a:pPr marL="654050" algn="ctr">
              <a:lnSpc>
                <a:spcPct val="100000"/>
              </a:lnSpc>
              <a:spcBef>
                <a:spcPts val="105"/>
              </a:spcBef>
            </a:pPr>
            <a:r>
              <a:rPr sz="4800" spc="85" dirty="0">
                <a:cs typeface="Times New Roman"/>
              </a:rPr>
              <a:t>Instruindo</a:t>
            </a:r>
            <a:r>
              <a:rPr sz="4800" spc="-95" dirty="0">
                <a:cs typeface="Times New Roman"/>
              </a:rPr>
              <a:t> </a:t>
            </a:r>
            <a:r>
              <a:rPr sz="4800" spc="135" dirty="0">
                <a:cs typeface="Times New Roman"/>
              </a:rPr>
              <a:t>a</a:t>
            </a:r>
            <a:r>
              <a:rPr sz="4800" spc="-530" dirty="0">
                <a:cs typeface="Times New Roman"/>
              </a:rPr>
              <a:t> </a:t>
            </a:r>
            <a:r>
              <a:rPr sz="4800" spc="-170" dirty="0">
                <a:cs typeface="Times New Roman"/>
              </a:rPr>
              <a:t>Ação</a:t>
            </a:r>
            <a:r>
              <a:rPr sz="4800" spc="-185" dirty="0">
                <a:cs typeface="Times New Roman"/>
              </a:rPr>
              <a:t> </a:t>
            </a:r>
            <a:r>
              <a:rPr sz="4800" spc="90" dirty="0">
                <a:cs typeface="Times New Roman"/>
              </a:rPr>
              <a:t>e</a:t>
            </a:r>
            <a:r>
              <a:rPr sz="4800" spc="-325" dirty="0">
                <a:cs typeface="Times New Roman"/>
              </a:rPr>
              <a:t> </a:t>
            </a:r>
            <a:r>
              <a:rPr sz="4800" dirty="0">
                <a:cs typeface="Times New Roman"/>
              </a:rPr>
              <a:t>a</a:t>
            </a:r>
            <a:r>
              <a:rPr sz="4800" spc="-200" dirty="0">
                <a:cs typeface="Times New Roman"/>
              </a:rPr>
              <a:t> </a:t>
            </a:r>
            <a:r>
              <a:rPr sz="4800" dirty="0" err="1" smtClean="0">
                <a:cs typeface="Times New Roman"/>
              </a:rPr>
              <a:t>Entrega</a:t>
            </a:r>
            <a:r>
              <a:rPr lang="pt-BR" sz="4800" spc="-254" dirty="0" smtClean="0">
                <a:cs typeface="Times New Roman"/>
              </a:rPr>
              <a:t/>
            </a:r>
            <a:br>
              <a:rPr lang="pt-BR" sz="4800" spc="-254" dirty="0" smtClean="0">
                <a:cs typeface="Times New Roman"/>
              </a:rPr>
            </a:br>
            <a:r>
              <a:rPr lang="pt-BR" sz="4800" spc="-280" dirty="0">
                <a:solidFill>
                  <a:srgbClr val="FF0000"/>
                </a:solidFill>
                <a:cs typeface="Times New Roman"/>
              </a:rPr>
              <a:t>(T)</a:t>
            </a:r>
            <a:r>
              <a:rPr lang="pt-BR" sz="4800" spc="-280" dirty="0">
                <a:cs typeface="Times New Roman"/>
              </a:rPr>
              <a:t> </a:t>
            </a:r>
            <a:r>
              <a:rPr sz="4800" spc="-20" dirty="0" smtClean="0">
                <a:cs typeface="Times New Roman"/>
              </a:rPr>
              <a:t>Tarefa</a:t>
            </a:r>
            <a:r>
              <a:rPr sz="4800" spc="35" dirty="0" smtClean="0">
                <a:cs typeface="Times New Roman"/>
              </a:rPr>
              <a:t> </a:t>
            </a:r>
            <a:r>
              <a:rPr sz="4800" spc="-130" dirty="0" smtClean="0">
                <a:cs typeface="Times New Roman"/>
              </a:rPr>
              <a:t> </a:t>
            </a:r>
            <a:r>
              <a:rPr sz="4800" dirty="0">
                <a:cs typeface="Times New Roman"/>
              </a:rPr>
              <a:t>e</a:t>
            </a:r>
            <a:r>
              <a:rPr sz="4800" spc="-100" dirty="0">
                <a:cs typeface="Times New Roman"/>
              </a:rPr>
              <a:t> </a:t>
            </a:r>
            <a:r>
              <a:rPr lang="pt-BR" sz="4800" spc="-315" dirty="0">
                <a:solidFill>
                  <a:srgbClr val="FF0000"/>
                </a:solidFill>
                <a:cs typeface="Times New Roman"/>
              </a:rPr>
              <a:t>(F)</a:t>
            </a:r>
            <a:r>
              <a:rPr lang="pt-BR" sz="4800" spc="-315" dirty="0">
                <a:cs typeface="Times New Roman"/>
              </a:rPr>
              <a:t> </a:t>
            </a:r>
            <a:r>
              <a:rPr sz="4800" dirty="0" smtClean="0">
                <a:cs typeface="Times New Roman"/>
              </a:rPr>
              <a:t>Formato</a:t>
            </a:r>
            <a:r>
              <a:rPr sz="4800" spc="-95" dirty="0" smtClean="0">
                <a:cs typeface="Times New Roman"/>
              </a:rPr>
              <a:t> </a:t>
            </a:r>
            <a:endParaRPr sz="4800" dirty="0">
              <a:cs typeface="Times New Roman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1440933" y="2413189"/>
            <a:ext cx="7633280" cy="5196607"/>
            <a:chOff x="1509166" y="3352800"/>
            <a:chExt cx="6424295" cy="5614632"/>
          </a:xfrm>
        </p:grpSpPr>
        <p:pic>
          <p:nvPicPr>
            <p:cNvPr id="2" name="object 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87800" y="3352800"/>
              <a:ext cx="1166867" cy="990600"/>
            </a:xfrm>
            <a:prstGeom prst="rect">
              <a:avLst/>
            </a:prstGeom>
          </p:spPr>
        </p:pic>
        <p:sp>
          <p:nvSpPr>
            <p:cNvPr id="9" name="object 9"/>
            <p:cNvSpPr txBox="1"/>
            <p:nvPr/>
          </p:nvSpPr>
          <p:spPr>
            <a:xfrm>
              <a:off x="1509166" y="4344332"/>
              <a:ext cx="6424295" cy="2671362"/>
            </a:xfrm>
            <a:prstGeom prst="rect">
              <a:avLst/>
            </a:prstGeom>
          </p:spPr>
          <p:txBody>
            <a:bodyPr vert="horz" wrap="square" lIns="0" tIns="297180" rIns="0" bIns="0" rtlCol="0">
              <a:spAutoFit/>
            </a:bodyPr>
            <a:lstStyle/>
            <a:p>
              <a:pPr marL="3175" algn="ctr">
                <a:lnSpc>
                  <a:spcPct val="100000"/>
                </a:lnSpc>
                <a:spcBef>
                  <a:spcPts val="2340"/>
                </a:spcBef>
              </a:pPr>
              <a:r>
                <a:rPr sz="4200" dirty="0">
                  <a:solidFill>
                    <a:srgbClr val="3F726E"/>
                  </a:solidFill>
                  <a:latin typeface="Times New Roman"/>
                  <a:cs typeface="Times New Roman"/>
                </a:rPr>
                <a:t>De</a:t>
              </a:r>
              <a:r>
                <a:rPr sz="4200" spc="-10" dirty="0">
                  <a:solidFill>
                    <a:srgbClr val="3F726E"/>
                  </a:solidFill>
                  <a:latin typeface="Times New Roman"/>
                  <a:cs typeface="Times New Roman"/>
                </a:rPr>
                <a:t> </a:t>
              </a:r>
              <a:r>
                <a:rPr sz="4200" spc="100" dirty="0">
                  <a:solidFill>
                    <a:srgbClr val="497C75"/>
                  </a:solidFill>
                  <a:latin typeface="Times New Roman"/>
                  <a:cs typeface="Times New Roman"/>
                </a:rPr>
                <a:t>um</a:t>
              </a:r>
              <a:r>
                <a:rPr sz="4200" spc="35" dirty="0">
                  <a:solidFill>
                    <a:srgbClr val="497C75"/>
                  </a:solidFill>
                  <a:latin typeface="Times New Roman"/>
                  <a:cs typeface="Times New Roman"/>
                </a:rPr>
                <a:t> </a:t>
              </a:r>
              <a:r>
                <a:rPr lang="pt-BR" sz="4200" spc="90" dirty="0">
                  <a:solidFill>
                    <a:srgbClr val="427B72"/>
                  </a:solidFill>
                  <a:latin typeface="Times New Roman"/>
                  <a:cs typeface="Times New Roman"/>
                </a:rPr>
                <a:t>c</a:t>
              </a:r>
              <a:r>
                <a:rPr sz="4200" spc="90" dirty="0" err="1" smtClean="0">
                  <a:solidFill>
                    <a:srgbClr val="427B72"/>
                  </a:solidFill>
                  <a:latin typeface="Times New Roman"/>
                  <a:cs typeface="Times New Roman"/>
                </a:rPr>
                <a:t>omando</a:t>
              </a:r>
              <a:r>
                <a:rPr sz="4200" spc="175" dirty="0" smtClean="0">
                  <a:solidFill>
                    <a:srgbClr val="427B72"/>
                  </a:solidFill>
                  <a:latin typeface="Times New Roman"/>
                  <a:cs typeface="Times New Roman"/>
                </a:rPr>
                <a:t> </a:t>
              </a:r>
              <a:r>
                <a:rPr lang="pt-BR" sz="4200" spc="-10" dirty="0" err="1">
                  <a:solidFill>
                    <a:srgbClr val="3B7069"/>
                  </a:solidFill>
                  <a:latin typeface="Times New Roman"/>
                  <a:cs typeface="Times New Roman"/>
                </a:rPr>
                <a:t>c</a:t>
              </a:r>
              <a:r>
                <a:rPr sz="4200" spc="-10" dirty="0" smtClean="0">
                  <a:solidFill>
                    <a:srgbClr val="3B7069"/>
                  </a:solidFill>
                  <a:latin typeface="Times New Roman"/>
                  <a:cs typeface="Times New Roman"/>
                </a:rPr>
                <a:t>la</a:t>
              </a:r>
              <a:r>
                <a:rPr lang="pt-BR" sz="4200" spc="-10" dirty="0" smtClean="0">
                  <a:solidFill>
                    <a:srgbClr val="3B7069"/>
                  </a:solidFill>
                  <a:latin typeface="Times New Roman"/>
                  <a:cs typeface="Times New Roman"/>
                </a:rPr>
                <a:t>r</a:t>
              </a:r>
              <a:r>
                <a:rPr sz="4200" spc="-10" dirty="0" smtClean="0">
                  <a:solidFill>
                    <a:srgbClr val="3B7069"/>
                  </a:solidFill>
                  <a:latin typeface="Times New Roman"/>
                  <a:cs typeface="Times New Roman"/>
                </a:rPr>
                <a:t>o</a:t>
              </a:r>
              <a:endParaRPr sz="4200" dirty="0">
                <a:latin typeface="Times New Roman"/>
                <a:cs typeface="Times New Roman"/>
              </a:endParaRPr>
            </a:p>
            <a:p>
              <a:pPr marR="1905" algn="ctr">
                <a:lnSpc>
                  <a:spcPts val="3460"/>
                </a:lnSpc>
                <a:spcBef>
                  <a:spcPts val="1660"/>
                </a:spcBef>
              </a:pPr>
              <a:r>
                <a:rPr sz="3100" spc="-360" dirty="0">
                  <a:latin typeface="Times New Roman"/>
                  <a:cs typeface="Times New Roman"/>
                </a:rPr>
                <a:t>A</a:t>
              </a:r>
              <a:r>
                <a:rPr sz="3100" spc="-260" dirty="0">
                  <a:latin typeface="Times New Roman"/>
                  <a:cs typeface="Times New Roman"/>
                </a:rPr>
                <a:t> </a:t>
              </a:r>
              <a:r>
                <a:rPr sz="3100" spc="-65" dirty="0">
                  <a:latin typeface="Times New Roman"/>
                  <a:cs typeface="Times New Roman"/>
                </a:rPr>
                <a:t>ação</a:t>
              </a:r>
              <a:r>
                <a:rPr sz="3100" spc="-160" dirty="0">
                  <a:latin typeface="Times New Roman"/>
                  <a:cs typeface="Times New Roman"/>
                </a:rPr>
                <a:t> </a:t>
              </a:r>
              <a:r>
                <a:rPr sz="3100" spc="-10" dirty="0">
                  <a:latin typeface="Times New Roman"/>
                  <a:cs typeface="Times New Roman"/>
                </a:rPr>
                <a:t>que</a:t>
              </a:r>
              <a:r>
                <a:rPr sz="3100" spc="-200" dirty="0">
                  <a:latin typeface="Times New Roman"/>
                  <a:cs typeface="Times New Roman"/>
                </a:rPr>
                <a:t> </a:t>
              </a:r>
              <a:r>
                <a:rPr sz="3100" spc="-114" dirty="0">
                  <a:latin typeface="Times New Roman"/>
                  <a:cs typeface="Times New Roman"/>
                </a:rPr>
                <a:t>você</a:t>
              </a:r>
              <a:r>
                <a:rPr sz="3100" spc="-130" dirty="0">
                  <a:latin typeface="Times New Roman"/>
                  <a:cs typeface="Times New Roman"/>
                </a:rPr>
                <a:t> </a:t>
              </a:r>
              <a:r>
                <a:rPr sz="3100" spc="-20" dirty="0">
                  <a:latin typeface="Times New Roman"/>
                  <a:cs typeface="Times New Roman"/>
                </a:rPr>
                <a:t>quer</a:t>
              </a:r>
              <a:r>
                <a:rPr sz="3100" spc="-170" dirty="0">
                  <a:latin typeface="Times New Roman"/>
                  <a:cs typeface="Times New Roman"/>
                </a:rPr>
                <a:t> </a:t>
              </a:r>
              <a:r>
                <a:rPr sz="3100" spc="-10" dirty="0">
                  <a:latin typeface="Times New Roman"/>
                  <a:cs typeface="Times New Roman"/>
                </a:rPr>
                <a:t>que</a:t>
              </a:r>
              <a:r>
                <a:rPr sz="3100" spc="-185" dirty="0">
                  <a:latin typeface="Times New Roman"/>
                  <a:cs typeface="Times New Roman"/>
                </a:rPr>
                <a:t> </a:t>
              </a:r>
              <a:r>
                <a:rPr sz="3100" dirty="0">
                  <a:latin typeface="Times New Roman"/>
                  <a:cs typeface="Times New Roman"/>
                </a:rPr>
                <a:t>a</a:t>
              </a:r>
              <a:r>
                <a:rPr sz="3100" spc="75" dirty="0">
                  <a:latin typeface="Times New Roman"/>
                  <a:cs typeface="Times New Roman"/>
                </a:rPr>
                <a:t> </a:t>
              </a:r>
              <a:r>
                <a:rPr sz="3100" spc="-445" dirty="0">
                  <a:latin typeface="Times New Roman"/>
                  <a:cs typeface="Times New Roman"/>
                </a:rPr>
                <a:t>IA</a:t>
              </a:r>
              <a:r>
                <a:rPr sz="3100" spc="-220" dirty="0">
                  <a:latin typeface="Times New Roman"/>
                  <a:cs typeface="Times New Roman"/>
                </a:rPr>
                <a:t> </a:t>
              </a:r>
              <a:r>
                <a:rPr sz="3100" spc="-10" dirty="0">
                  <a:latin typeface="Times New Roman"/>
                  <a:cs typeface="Times New Roman"/>
                </a:rPr>
                <a:t>execute.</a:t>
              </a:r>
              <a:endParaRPr sz="3100" dirty="0">
                <a:latin typeface="Times New Roman"/>
                <a:cs typeface="Times New Roman"/>
              </a:endParaRPr>
            </a:p>
            <a:p>
              <a:pPr marL="12700" marR="5080" algn="ctr">
                <a:lnSpc>
                  <a:spcPts val="3200"/>
                </a:lnSpc>
                <a:spcBef>
                  <a:spcPts val="280"/>
                </a:spcBef>
              </a:pPr>
              <a:r>
                <a:rPr sz="3100" spc="-155" dirty="0">
                  <a:latin typeface="Times New Roman"/>
                  <a:cs typeface="Times New Roman"/>
                </a:rPr>
                <a:t>Use</a:t>
              </a:r>
              <a:r>
                <a:rPr sz="3100" spc="-195" dirty="0">
                  <a:latin typeface="Times New Roman"/>
                  <a:cs typeface="Times New Roman"/>
                </a:rPr>
                <a:t> </a:t>
              </a:r>
              <a:r>
                <a:rPr sz="3100" spc="-45" dirty="0">
                  <a:latin typeface="Times New Roman"/>
                  <a:cs typeface="Times New Roman"/>
                </a:rPr>
                <a:t>verbos</a:t>
              </a:r>
              <a:r>
                <a:rPr sz="3100" spc="-125" dirty="0">
                  <a:latin typeface="Times New Roman"/>
                  <a:cs typeface="Times New Roman"/>
                </a:rPr>
                <a:t> </a:t>
              </a:r>
              <a:r>
                <a:rPr sz="3100" spc="-10" dirty="0">
                  <a:latin typeface="Times New Roman"/>
                  <a:cs typeface="Times New Roman"/>
                </a:rPr>
                <a:t>de</a:t>
              </a:r>
              <a:r>
                <a:rPr sz="3100" spc="-220" dirty="0">
                  <a:latin typeface="Times New Roman"/>
                  <a:cs typeface="Times New Roman"/>
                </a:rPr>
                <a:t> </a:t>
              </a:r>
              <a:r>
                <a:rPr sz="3100" spc="-60" dirty="0">
                  <a:latin typeface="Times New Roman"/>
                  <a:cs typeface="Times New Roman"/>
                </a:rPr>
                <a:t>ação</a:t>
              </a:r>
              <a:r>
                <a:rPr sz="3100" spc="-160" dirty="0">
                  <a:latin typeface="Times New Roman"/>
                  <a:cs typeface="Times New Roman"/>
                </a:rPr>
                <a:t> </a:t>
              </a:r>
              <a:r>
                <a:rPr sz="3100" spc="110" dirty="0">
                  <a:latin typeface="Times New Roman"/>
                  <a:cs typeface="Times New Roman"/>
                </a:rPr>
                <a:t>e</a:t>
              </a:r>
              <a:r>
                <a:rPr sz="3100" spc="-305" dirty="0">
                  <a:latin typeface="Times New Roman"/>
                  <a:cs typeface="Times New Roman"/>
                </a:rPr>
                <a:t> </a:t>
              </a:r>
              <a:r>
                <a:rPr sz="3100" spc="-70" dirty="0">
                  <a:latin typeface="Times New Roman"/>
                  <a:cs typeface="Times New Roman"/>
                </a:rPr>
                <a:t>seja</a:t>
              </a:r>
              <a:r>
                <a:rPr sz="3100" spc="-75" dirty="0">
                  <a:latin typeface="Times New Roman"/>
                  <a:cs typeface="Times New Roman"/>
                </a:rPr>
                <a:t> </a:t>
              </a:r>
              <a:r>
                <a:rPr sz="3100" dirty="0">
                  <a:latin typeface="Times New Roman"/>
                  <a:cs typeface="Times New Roman"/>
                </a:rPr>
                <a:t>o</a:t>
              </a:r>
              <a:r>
                <a:rPr sz="3100" spc="-75" dirty="0">
                  <a:latin typeface="Times New Roman"/>
                  <a:cs typeface="Times New Roman"/>
                </a:rPr>
                <a:t> </a:t>
              </a:r>
              <a:r>
                <a:rPr sz="3100" spc="-160" dirty="0">
                  <a:latin typeface="Times New Roman"/>
                  <a:cs typeface="Times New Roman"/>
                </a:rPr>
                <a:t>mais</a:t>
              </a:r>
              <a:r>
                <a:rPr sz="3100" spc="-270" dirty="0">
                  <a:latin typeface="Times New Roman"/>
                  <a:cs typeface="Times New Roman"/>
                </a:rPr>
                <a:t> </a:t>
              </a:r>
              <a:r>
                <a:rPr sz="3100" spc="-60" dirty="0">
                  <a:latin typeface="Times New Roman"/>
                  <a:cs typeface="Times New Roman"/>
                </a:rPr>
                <a:t>específico </a:t>
              </a:r>
              <a:r>
                <a:rPr sz="3100" spc="-114" dirty="0">
                  <a:latin typeface="Times New Roman"/>
                  <a:cs typeface="Times New Roman"/>
                </a:rPr>
                <a:t>possível.</a:t>
              </a:r>
              <a:r>
                <a:rPr sz="3100" spc="-85" dirty="0">
                  <a:latin typeface="Times New Roman"/>
                  <a:cs typeface="Times New Roman"/>
                </a:rPr>
                <a:t> </a:t>
              </a:r>
              <a:r>
                <a:rPr sz="3100" spc="-140" dirty="0">
                  <a:latin typeface="Times New Roman"/>
                  <a:cs typeface="Times New Roman"/>
                </a:rPr>
                <a:t>Esta</a:t>
              </a:r>
              <a:r>
                <a:rPr sz="3100" spc="-65" dirty="0">
                  <a:latin typeface="Times New Roman"/>
                  <a:cs typeface="Times New Roman"/>
                </a:rPr>
                <a:t> </a:t>
              </a:r>
              <a:r>
                <a:rPr sz="3100" spc="110" dirty="0">
                  <a:latin typeface="Times New Roman"/>
                  <a:cs typeface="Times New Roman"/>
                </a:rPr>
                <a:t>é</a:t>
              </a:r>
              <a:r>
                <a:rPr sz="3100" spc="-270" dirty="0">
                  <a:latin typeface="Times New Roman"/>
                  <a:cs typeface="Times New Roman"/>
                </a:rPr>
                <a:t> </a:t>
              </a:r>
              <a:r>
                <a:rPr sz="3100" spc="-105" dirty="0">
                  <a:latin typeface="Times New Roman"/>
                  <a:cs typeface="Times New Roman"/>
                </a:rPr>
                <a:t>a</a:t>
              </a:r>
              <a:r>
                <a:rPr sz="3100" spc="-210" dirty="0">
                  <a:latin typeface="Times New Roman"/>
                  <a:cs typeface="Times New Roman"/>
                </a:rPr>
                <a:t> </a:t>
              </a:r>
              <a:r>
                <a:rPr sz="3100" spc="-60" dirty="0">
                  <a:latin typeface="Times New Roman"/>
                  <a:cs typeface="Times New Roman"/>
                </a:rPr>
                <a:t>sua</a:t>
              </a:r>
              <a:r>
                <a:rPr sz="3100" spc="-135" dirty="0">
                  <a:latin typeface="Times New Roman"/>
                  <a:cs typeface="Times New Roman"/>
                </a:rPr>
                <a:t> </a:t>
              </a:r>
              <a:r>
                <a:rPr sz="3100" spc="-50" dirty="0">
                  <a:latin typeface="Times New Roman"/>
                  <a:cs typeface="Times New Roman"/>
                </a:rPr>
                <a:t>ordem</a:t>
              </a:r>
              <a:r>
                <a:rPr sz="3100" spc="-30" dirty="0">
                  <a:latin typeface="Times New Roman"/>
                  <a:cs typeface="Times New Roman"/>
                </a:rPr>
                <a:t> </a:t>
              </a:r>
              <a:r>
                <a:rPr sz="3100" spc="-10" dirty="0">
                  <a:latin typeface="Times New Roman"/>
                  <a:cs typeface="Times New Roman"/>
                </a:rPr>
                <a:t>direta.</a:t>
              </a:r>
              <a:endParaRPr sz="3100" dirty="0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691397" y="7121172"/>
              <a:ext cx="6242063" cy="184626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40640" algn="ctr">
                <a:lnSpc>
                  <a:spcPts val="3250"/>
                </a:lnSpc>
                <a:spcBef>
                  <a:spcPts val="125"/>
                </a:spcBef>
              </a:pPr>
              <a:r>
                <a:rPr sz="2750" b="1" spc="-10" dirty="0">
                  <a:latin typeface="Times New Roman"/>
                  <a:cs typeface="Times New Roman"/>
                </a:rPr>
                <a:t>Exemplo:</a:t>
              </a:r>
              <a:endParaRPr sz="2750" b="1" dirty="0">
                <a:latin typeface="Times New Roman"/>
                <a:cs typeface="Times New Roman"/>
              </a:endParaRPr>
            </a:p>
            <a:p>
              <a:pPr marL="12065" marR="5080" algn="ctr">
                <a:lnSpc>
                  <a:spcPts val="3250"/>
                </a:lnSpc>
                <a:spcBef>
                  <a:spcPts val="100"/>
                </a:spcBef>
              </a:pPr>
              <a:r>
                <a:rPr sz="2750" dirty="0">
                  <a:latin typeface="Times New Roman"/>
                  <a:cs typeface="Times New Roman"/>
                </a:rPr>
                <a:t>“Elabore</a:t>
              </a:r>
              <a:r>
                <a:rPr sz="2750" spc="285" dirty="0">
                  <a:latin typeface="Times New Roman"/>
                  <a:cs typeface="Times New Roman"/>
                </a:rPr>
                <a:t> </a:t>
              </a:r>
              <a:r>
                <a:rPr sz="2750" dirty="0">
                  <a:latin typeface="Times New Roman"/>
                  <a:cs typeface="Times New Roman"/>
                </a:rPr>
                <a:t>uma</a:t>
              </a:r>
              <a:r>
                <a:rPr sz="2750" spc="420" dirty="0">
                  <a:latin typeface="Times New Roman"/>
                  <a:cs typeface="Times New Roman"/>
                </a:rPr>
                <a:t> </a:t>
              </a:r>
              <a:r>
                <a:rPr sz="2750" dirty="0">
                  <a:latin typeface="Times New Roman"/>
                  <a:cs typeface="Times New Roman"/>
                </a:rPr>
                <a:t>minuta</a:t>
              </a:r>
              <a:r>
                <a:rPr sz="2750" spc="235" dirty="0">
                  <a:latin typeface="Times New Roman"/>
                  <a:cs typeface="Times New Roman"/>
                </a:rPr>
                <a:t> </a:t>
              </a:r>
              <a:r>
                <a:rPr sz="2750" dirty="0">
                  <a:latin typeface="Times New Roman"/>
                  <a:cs typeface="Times New Roman"/>
                </a:rPr>
                <a:t>de</a:t>
              </a:r>
              <a:r>
                <a:rPr sz="2750" spc="240" dirty="0">
                  <a:latin typeface="Times New Roman"/>
                  <a:cs typeface="Times New Roman"/>
                </a:rPr>
                <a:t> </a:t>
              </a:r>
              <a:r>
                <a:rPr sz="2750" spc="75" dirty="0">
                  <a:latin typeface="Times New Roman"/>
                  <a:cs typeface="Times New Roman"/>
                </a:rPr>
                <a:t>defesa </a:t>
              </a:r>
              <a:r>
                <a:rPr sz="2750" spc="95" dirty="0">
                  <a:latin typeface="Times New Roman"/>
                  <a:cs typeface="Times New Roman"/>
                </a:rPr>
                <a:t>administrativa</a:t>
              </a:r>
              <a:r>
                <a:rPr sz="2750" spc="25" dirty="0">
                  <a:latin typeface="Times New Roman"/>
                  <a:cs typeface="Times New Roman"/>
                </a:rPr>
                <a:t> </a:t>
              </a:r>
              <a:r>
                <a:rPr sz="2750" spc="130" dirty="0">
                  <a:latin typeface="Times New Roman"/>
                  <a:cs typeface="Times New Roman"/>
                </a:rPr>
                <a:t>questionando</a:t>
              </a:r>
              <a:r>
                <a:rPr sz="2750" spc="50" dirty="0">
                  <a:latin typeface="Times New Roman"/>
                  <a:cs typeface="Times New Roman"/>
                </a:rPr>
                <a:t> </a:t>
              </a:r>
              <a:r>
                <a:rPr sz="2750" spc="-50" dirty="0">
                  <a:latin typeface="Times New Roman"/>
                  <a:cs typeface="Times New Roman"/>
                </a:rPr>
                <a:t>a</a:t>
              </a:r>
              <a:endParaRPr sz="2750" dirty="0">
                <a:latin typeface="Times New Roman"/>
                <a:cs typeface="Times New Roman"/>
              </a:endParaRPr>
            </a:p>
            <a:p>
              <a:pPr marR="167640" algn="ctr">
                <a:lnSpc>
                  <a:spcPts val="3180"/>
                </a:lnSpc>
              </a:pPr>
              <a:r>
                <a:rPr sz="2900" spc="-10" dirty="0">
                  <a:latin typeface="Times New Roman"/>
                  <a:cs typeface="Times New Roman"/>
                </a:rPr>
                <a:t>cobrança'’</a:t>
              </a:r>
              <a:endParaRPr sz="2900" dirty="0">
                <a:latin typeface="Times New Roman"/>
                <a:cs typeface="Times New Roman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717506" y="3016633"/>
            <a:ext cx="7261603" cy="5306581"/>
          </a:xfrm>
          <a:prstGeom prst="rect">
            <a:avLst/>
          </a:prstGeom>
        </p:spPr>
        <p:txBody>
          <a:bodyPr vert="horz" wrap="square" lIns="0" tIns="2971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40"/>
              </a:spcBef>
            </a:pPr>
            <a:r>
              <a:rPr sz="4200" dirty="0">
                <a:solidFill>
                  <a:srgbClr val="80666E"/>
                </a:solidFill>
                <a:latin typeface="Cambria"/>
                <a:cs typeface="Cambria"/>
              </a:rPr>
              <a:t>Exija</a:t>
            </a:r>
            <a:r>
              <a:rPr sz="4200" spc="45" dirty="0">
                <a:solidFill>
                  <a:srgbClr val="80666E"/>
                </a:solidFill>
                <a:latin typeface="Cambria"/>
                <a:cs typeface="Cambria"/>
              </a:rPr>
              <a:t> </a:t>
            </a:r>
            <a:r>
              <a:rPr sz="4200" spc="80" dirty="0">
                <a:solidFill>
                  <a:srgbClr val="776069"/>
                </a:solidFill>
                <a:latin typeface="Cambria"/>
                <a:cs typeface="Cambria"/>
              </a:rPr>
              <a:t>a</a:t>
            </a:r>
            <a:r>
              <a:rPr sz="4200" spc="-155" dirty="0">
                <a:solidFill>
                  <a:srgbClr val="776069"/>
                </a:solidFill>
                <a:latin typeface="Cambria"/>
                <a:cs typeface="Cambria"/>
              </a:rPr>
              <a:t> </a:t>
            </a:r>
            <a:r>
              <a:rPr lang="pt-BR" sz="4200" spc="-175" dirty="0" err="1">
                <a:solidFill>
                  <a:srgbClr val="7E6470"/>
                </a:solidFill>
                <a:latin typeface="Cambria"/>
                <a:cs typeface="Cambria"/>
              </a:rPr>
              <a:t>e</a:t>
            </a:r>
            <a:r>
              <a:rPr lang="pt-BR" sz="4200" spc="-175" dirty="0" err="1" smtClean="0">
                <a:solidFill>
                  <a:srgbClr val="7E6470"/>
                </a:solidFill>
                <a:latin typeface="Cambria"/>
                <a:cs typeface="Cambria"/>
              </a:rPr>
              <a:t>stru</a:t>
            </a:r>
            <a:r>
              <a:rPr sz="4200" spc="-175" dirty="0" smtClean="0">
                <a:solidFill>
                  <a:srgbClr val="7E6470"/>
                </a:solidFill>
                <a:latin typeface="Cambria"/>
                <a:cs typeface="Cambria"/>
              </a:rPr>
              <a:t>tura</a:t>
            </a:r>
            <a:r>
              <a:rPr sz="4200" spc="220" dirty="0" smtClean="0">
                <a:solidFill>
                  <a:srgbClr val="7E6470"/>
                </a:solidFill>
                <a:latin typeface="Cambria"/>
                <a:cs typeface="Cambria"/>
              </a:rPr>
              <a:t> </a:t>
            </a:r>
            <a:r>
              <a:rPr lang="pt-BR" sz="4200" spc="-10" dirty="0">
                <a:solidFill>
                  <a:srgbClr val="7C606E"/>
                </a:solidFill>
                <a:latin typeface="Cambria"/>
                <a:cs typeface="Cambria"/>
              </a:rPr>
              <a:t>d</a:t>
            </a:r>
            <a:r>
              <a:rPr sz="4200" spc="-10" dirty="0" err="1" smtClean="0">
                <a:solidFill>
                  <a:srgbClr val="7C606E"/>
                </a:solidFill>
                <a:latin typeface="Cambria"/>
                <a:cs typeface="Cambria"/>
              </a:rPr>
              <a:t>esejada</a:t>
            </a:r>
            <a:r>
              <a:rPr sz="4200" spc="-10" dirty="0">
                <a:solidFill>
                  <a:srgbClr val="7C606E"/>
                </a:solidFill>
                <a:latin typeface="Cambria"/>
                <a:cs typeface="Cambria"/>
              </a:rPr>
              <a:t>.</a:t>
            </a:r>
            <a:endParaRPr sz="4200" dirty="0">
              <a:latin typeface="Cambria"/>
              <a:cs typeface="Cambria"/>
            </a:endParaRPr>
          </a:p>
          <a:p>
            <a:pPr marL="127000" marR="109220" indent="-5715" algn="ctr">
              <a:lnSpc>
                <a:spcPts val="3200"/>
              </a:lnSpc>
              <a:spcBef>
                <a:spcPts val="2200"/>
              </a:spcBef>
            </a:pPr>
            <a:r>
              <a:rPr sz="3100" b="1" spc="-80" dirty="0">
                <a:latin typeface="Calibri"/>
                <a:cs typeface="Calibri"/>
              </a:rPr>
              <a:t>Como</a:t>
            </a:r>
            <a:r>
              <a:rPr sz="3100" b="1" spc="-135" dirty="0">
                <a:latin typeface="Calibri"/>
                <a:cs typeface="Calibri"/>
              </a:rPr>
              <a:t> </a:t>
            </a:r>
            <a:r>
              <a:rPr sz="3100" b="1" spc="-65" dirty="0">
                <a:latin typeface="Calibri"/>
                <a:cs typeface="Calibri"/>
              </a:rPr>
              <a:t>a</a:t>
            </a:r>
            <a:r>
              <a:rPr sz="3100" b="1" spc="-215" dirty="0">
                <a:latin typeface="Calibri"/>
                <a:cs typeface="Calibri"/>
              </a:rPr>
              <a:t> </a:t>
            </a:r>
            <a:r>
              <a:rPr sz="3100" b="1" spc="-90" dirty="0">
                <a:latin typeface="Calibri"/>
                <a:cs typeface="Calibri"/>
              </a:rPr>
              <a:t>resposta</a:t>
            </a:r>
            <a:r>
              <a:rPr sz="3100" b="1" spc="-160" dirty="0">
                <a:latin typeface="Calibri"/>
                <a:cs typeface="Calibri"/>
              </a:rPr>
              <a:t> </a:t>
            </a:r>
            <a:r>
              <a:rPr sz="3100" b="1" spc="-100" dirty="0">
                <a:latin typeface="Calibri"/>
                <a:cs typeface="Calibri"/>
              </a:rPr>
              <a:t>deve</a:t>
            </a:r>
            <a:r>
              <a:rPr sz="3100" b="1" spc="-150" dirty="0">
                <a:latin typeface="Calibri"/>
                <a:cs typeface="Calibri"/>
              </a:rPr>
              <a:t> </a:t>
            </a:r>
            <a:r>
              <a:rPr sz="3100" b="1" spc="-45" dirty="0">
                <a:latin typeface="Calibri"/>
                <a:cs typeface="Calibri"/>
              </a:rPr>
              <a:t>ser</a:t>
            </a:r>
            <a:r>
              <a:rPr sz="3100" b="1" spc="-105" dirty="0">
                <a:latin typeface="Calibri"/>
                <a:cs typeface="Calibri"/>
              </a:rPr>
              <a:t> </a:t>
            </a:r>
            <a:r>
              <a:rPr sz="3100" b="1" spc="-100" dirty="0">
                <a:latin typeface="Calibri"/>
                <a:cs typeface="Calibri"/>
              </a:rPr>
              <a:t>apresentada? </a:t>
            </a:r>
            <a:endParaRPr lang="pt-BR" sz="3100" b="1" spc="-100" dirty="0" smtClean="0">
              <a:latin typeface="Calibri"/>
              <a:cs typeface="Calibri"/>
            </a:endParaRPr>
          </a:p>
          <a:p>
            <a:pPr marL="127000" marR="109220" indent="-5715" algn="ctr">
              <a:lnSpc>
                <a:spcPts val="3200"/>
              </a:lnSpc>
              <a:spcBef>
                <a:spcPts val="2200"/>
              </a:spcBef>
            </a:pPr>
            <a:r>
              <a:rPr sz="3100" b="1" spc="-70" dirty="0" smtClean="0">
                <a:latin typeface="Calibri"/>
                <a:cs typeface="Calibri"/>
              </a:rPr>
              <a:t>Em</a:t>
            </a:r>
            <a:r>
              <a:rPr sz="3100" b="1" spc="-160" dirty="0" smtClean="0">
                <a:latin typeface="Calibri"/>
                <a:cs typeface="Calibri"/>
              </a:rPr>
              <a:t> </a:t>
            </a:r>
            <a:r>
              <a:rPr sz="3100" b="1" spc="-105" dirty="0">
                <a:latin typeface="Calibri"/>
                <a:cs typeface="Calibri"/>
              </a:rPr>
              <a:t>tópicos,</a:t>
            </a:r>
            <a:r>
              <a:rPr sz="3100" b="1" spc="-80" dirty="0">
                <a:latin typeface="Calibri"/>
                <a:cs typeface="Calibri"/>
              </a:rPr>
              <a:t> </a:t>
            </a:r>
            <a:r>
              <a:rPr sz="3100" b="1" spc="-125" dirty="0">
                <a:latin typeface="Calibri"/>
                <a:cs typeface="Calibri"/>
              </a:rPr>
              <a:t>tabela,</a:t>
            </a:r>
            <a:r>
              <a:rPr sz="3100" b="1" spc="-85" dirty="0">
                <a:latin typeface="Calibri"/>
                <a:cs typeface="Calibri"/>
              </a:rPr>
              <a:t> </a:t>
            </a:r>
            <a:r>
              <a:rPr sz="3100" b="1" spc="-100" dirty="0">
                <a:latin typeface="Calibri"/>
                <a:cs typeface="Calibri"/>
              </a:rPr>
              <a:t>parágrafos,</a:t>
            </a:r>
            <a:r>
              <a:rPr sz="3100" b="1" spc="-130" dirty="0">
                <a:latin typeface="Calibri"/>
                <a:cs typeface="Calibri"/>
              </a:rPr>
              <a:t> </a:t>
            </a:r>
            <a:r>
              <a:rPr sz="3100" b="1" spc="-40" dirty="0">
                <a:latin typeface="Calibri"/>
                <a:cs typeface="Calibri"/>
              </a:rPr>
              <a:t>petição? </a:t>
            </a:r>
            <a:endParaRPr lang="pt-BR" sz="3100" b="1" spc="-40" dirty="0" smtClean="0">
              <a:latin typeface="Calibri"/>
              <a:cs typeface="Calibri"/>
            </a:endParaRPr>
          </a:p>
          <a:p>
            <a:pPr marL="127000" marR="109220" indent="-5715" algn="ctr">
              <a:lnSpc>
                <a:spcPts val="3200"/>
              </a:lnSpc>
              <a:spcBef>
                <a:spcPts val="2200"/>
              </a:spcBef>
            </a:pPr>
            <a:r>
              <a:rPr sz="3100" spc="-55" dirty="0" err="1" smtClean="0">
                <a:latin typeface="Calibri"/>
                <a:cs typeface="Calibri"/>
              </a:rPr>
              <a:t>Defina</a:t>
            </a:r>
            <a:r>
              <a:rPr sz="3100" spc="-130" dirty="0" smtClean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o</a:t>
            </a:r>
            <a:r>
              <a:rPr sz="3100" spc="-360" dirty="0">
                <a:latin typeface="Calibri"/>
                <a:cs typeface="Calibri"/>
              </a:rPr>
              <a:t> </a:t>
            </a:r>
            <a:r>
              <a:rPr sz="3100" spc="-110" dirty="0">
                <a:latin typeface="Calibri"/>
                <a:cs typeface="Calibri"/>
              </a:rPr>
              <a:t>formato</a:t>
            </a:r>
            <a:r>
              <a:rPr sz="3100" spc="-114" dirty="0">
                <a:latin typeface="Calibri"/>
                <a:cs typeface="Calibri"/>
              </a:rPr>
              <a:t> </a:t>
            </a:r>
            <a:r>
              <a:rPr sz="3100" spc="-75" dirty="0">
                <a:latin typeface="Calibri"/>
                <a:cs typeface="Calibri"/>
              </a:rPr>
              <a:t>para</a:t>
            </a:r>
            <a:r>
              <a:rPr sz="3100" spc="-160" dirty="0">
                <a:latin typeface="Calibri"/>
                <a:cs typeface="Calibri"/>
              </a:rPr>
              <a:t> </a:t>
            </a:r>
            <a:r>
              <a:rPr sz="3100" spc="-70" dirty="0">
                <a:latin typeface="Calibri"/>
                <a:cs typeface="Calibri"/>
              </a:rPr>
              <a:t>facilitar</a:t>
            </a:r>
            <a:r>
              <a:rPr sz="3100" spc="-40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o</a:t>
            </a:r>
            <a:r>
              <a:rPr sz="3100" spc="-235" dirty="0">
                <a:latin typeface="Calibri"/>
                <a:cs typeface="Calibri"/>
              </a:rPr>
              <a:t> </a:t>
            </a:r>
            <a:r>
              <a:rPr sz="3100" spc="-95" dirty="0" err="1">
                <a:latin typeface="Calibri"/>
                <a:cs typeface="Calibri"/>
              </a:rPr>
              <a:t>uso</a:t>
            </a:r>
            <a:r>
              <a:rPr sz="3100" spc="-150" dirty="0">
                <a:latin typeface="Calibri"/>
                <a:cs typeface="Calibri"/>
              </a:rPr>
              <a:t> </a:t>
            </a:r>
            <a:endParaRPr lang="pt-BR" sz="3100" spc="-150" dirty="0" smtClean="0">
              <a:latin typeface="Calibri"/>
              <a:cs typeface="Calibri"/>
            </a:endParaRPr>
          </a:p>
          <a:p>
            <a:pPr marL="127000" marR="109220" indent="-5715" algn="ctr">
              <a:lnSpc>
                <a:spcPts val="3200"/>
              </a:lnSpc>
              <a:spcBef>
                <a:spcPts val="2200"/>
              </a:spcBef>
            </a:pPr>
            <a:r>
              <a:rPr sz="3100" spc="-50" dirty="0" smtClean="0">
                <a:latin typeface="Calibri"/>
                <a:cs typeface="Calibri"/>
              </a:rPr>
              <a:t>e </a:t>
            </a:r>
            <a:r>
              <a:rPr sz="3100" spc="-95" dirty="0">
                <a:latin typeface="Calibri"/>
                <a:cs typeface="Calibri"/>
              </a:rPr>
              <a:t>economizar</a:t>
            </a:r>
            <a:r>
              <a:rPr sz="3100" spc="25" dirty="0">
                <a:latin typeface="Calibri"/>
                <a:cs typeface="Calibri"/>
              </a:rPr>
              <a:t> </a:t>
            </a:r>
            <a:r>
              <a:rPr sz="3100" spc="-100" dirty="0">
                <a:latin typeface="Calibri"/>
                <a:cs typeface="Calibri"/>
              </a:rPr>
              <a:t>seu</a:t>
            </a:r>
            <a:r>
              <a:rPr sz="3100" spc="-18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tempo.</a:t>
            </a:r>
            <a:endParaRPr sz="3100" dirty="0">
              <a:latin typeface="Calibri"/>
              <a:cs typeface="Calibri"/>
            </a:endParaRPr>
          </a:p>
          <a:p>
            <a:pPr marL="43180" algn="ctr">
              <a:lnSpc>
                <a:spcPts val="3695"/>
              </a:lnSpc>
              <a:spcBef>
                <a:spcPts val="2260"/>
              </a:spcBef>
            </a:pPr>
            <a:r>
              <a:rPr sz="3200" b="1" spc="-80" dirty="0">
                <a:latin typeface="Times New Roman"/>
                <a:cs typeface="Times New Roman"/>
              </a:rPr>
              <a:t>Exemplo:</a:t>
            </a:r>
            <a:endParaRPr sz="3200" b="1" dirty="0">
              <a:latin typeface="Times New Roman"/>
              <a:cs typeface="Times New Roman"/>
            </a:endParaRPr>
          </a:p>
          <a:p>
            <a:pPr marL="31750" algn="ctr">
              <a:lnSpc>
                <a:spcPts val="3140"/>
              </a:lnSpc>
            </a:pPr>
            <a:r>
              <a:rPr sz="2850" dirty="0">
                <a:latin typeface="Times New Roman"/>
                <a:cs typeface="Times New Roman"/>
              </a:rPr>
              <a:t>"Apresente</a:t>
            </a:r>
            <a:r>
              <a:rPr sz="2850" spc="250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Times New Roman"/>
                <a:cs typeface="Times New Roman"/>
              </a:rPr>
              <a:t>em</a:t>
            </a:r>
            <a:r>
              <a:rPr sz="2850" spc="150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Times New Roman"/>
                <a:cs typeface="Times New Roman"/>
              </a:rPr>
              <a:t>tópicos,</a:t>
            </a:r>
            <a:r>
              <a:rPr sz="2850" spc="-25" dirty="0">
                <a:latin typeface="Times New Roman"/>
                <a:cs typeface="Times New Roman"/>
              </a:rPr>
              <a:t> </a:t>
            </a:r>
            <a:r>
              <a:rPr sz="2850" spc="85" dirty="0">
                <a:latin typeface="Times New Roman"/>
                <a:cs typeface="Times New Roman"/>
              </a:rPr>
              <a:t>separando</a:t>
            </a:r>
            <a:r>
              <a:rPr sz="2850" spc="-45" dirty="0">
                <a:latin typeface="Times New Roman"/>
                <a:cs typeface="Times New Roman"/>
              </a:rPr>
              <a:t> </a:t>
            </a:r>
            <a:r>
              <a:rPr sz="2850" spc="50" dirty="0">
                <a:latin typeface="Times New Roman"/>
                <a:cs typeface="Times New Roman"/>
              </a:rPr>
              <a:t>fatos,</a:t>
            </a:r>
            <a:endParaRPr sz="2850" dirty="0">
              <a:latin typeface="Times New Roman"/>
              <a:cs typeface="Times New Roman"/>
            </a:endParaRPr>
          </a:p>
          <a:p>
            <a:pPr marL="42545" algn="ctr">
              <a:lnSpc>
                <a:spcPts val="3345"/>
              </a:lnSpc>
            </a:pPr>
            <a:r>
              <a:rPr sz="2900" dirty="0">
                <a:latin typeface="Times New Roman"/>
                <a:cs typeface="Times New Roman"/>
              </a:rPr>
              <a:t>direito</a:t>
            </a:r>
            <a:r>
              <a:rPr sz="2900" spc="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</a:t>
            </a:r>
            <a:r>
              <a:rPr sz="2900" spc="31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pedido."</a:t>
            </a:r>
            <a:endParaRPr sz="2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500" y="2502958"/>
            <a:ext cx="1689100" cy="163724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89616" y="6096000"/>
            <a:ext cx="0" cy="1875789"/>
          </a:xfrm>
          <a:custGeom>
            <a:avLst/>
            <a:gdLst/>
            <a:ahLst/>
            <a:cxnLst/>
            <a:rect l="l" t="t" r="r" b="b"/>
            <a:pathLst>
              <a:path h="1875790">
                <a:moveTo>
                  <a:pt x="0" y="1875366"/>
                </a:moveTo>
                <a:lnTo>
                  <a:pt x="0" y="0"/>
                </a:lnTo>
              </a:path>
            </a:pathLst>
          </a:custGeom>
          <a:ln w="21166">
            <a:solidFill>
              <a:srgbClr val="83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79032" y="6096000"/>
            <a:ext cx="14258290" cy="1875789"/>
            <a:chOff x="1579032" y="6096000"/>
            <a:chExt cx="14258290" cy="1875789"/>
          </a:xfrm>
        </p:grpSpPr>
        <p:sp>
          <p:nvSpPr>
            <p:cNvPr id="5" name="object 5"/>
            <p:cNvSpPr/>
            <p:nvPr/>
          </p:nvSpPr>
          <p:spPr>
            <a:xfrm>
              <a:off x="15826312" y="6096000"/>
              <a:ext cx="0" cy="1875789"/>
            </a:xfrm>
            <a:custGeom>
              <a:avLst/>
              <a:gdLst/>
              <a:ahLst/>
              <a:cxnLst/>
              <a:rect l="l" t="t" r="r" b="b"/>
              <a:pathLst>
                <a:path h="1875790">
                  <a:moveTo>
                    <a:pt x="0" y="1875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83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79032" y="6106583"/>
              <a:ext cx="14258290" cy="0"/>
            </a:xfrm>
            <a:custGeom>
              <a:avLst/>
              <a:gdLst/>
              <a:ahLst/>
              <a:cxnLst/>
              <a:rect l="l" t="t" r="r" b="b"/>
              <a:pathLst>
                <a:path w="14258290">
                  <a:moveTo>
                    <a:pt x="0" y="0"/>
                  </a:moveTo>
                  <a:lnTo>
                    <a:pt x="14257867" y="0"/>
                  </a:lnTo>
                </a:path>
              </a:pathLst>
            </a:custGeom>
            <a:ln w="21166">
              <a:solidFill>
                <a:srgbClr val="83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9032" y="7960783"/>
              <a:ext cx="14258290" cy="0"/>
            </a:xfrm>
            <a:custGeom>
              <a:avLst/>
              <a:gdLst/>
              <a:ahLst/>
              <a:cxnLst/>
              <a:rect l="l" t="t" r="r" b="b"/>
              <a:pathLst>
                <a:path w="14258290">
                  <a:moveTo>
                    <a:pt x="0" y="0"/>
                  </a:moveTo>
                  <a:lnTo>
                    <a:pt x="14257867" y="0"/>
                  </a:lnTo>
                </a:path>
              </a:pathLst>
            </a:custGeom>
            <a:ln w="21166">
              <a:solidFill>
                <a:srgbClr val="83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60600" y="787258"/>
            <a:ext cx="12856845" cy="149335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4800" spc="-345" dirty="0"/>
              <a:t>O</a:t>
            </a:r>
            <a:r>
              <a:rPr sz="4800" spc="170" dirty="0"/>
              <a:t> </a:t>
            </a:r>
            <a:r>
              <a:rPr sz="4800" spc="-10" dirty="0" err="1"/>
              <a:t>Pilar</a:t>
            </a:r>
            <a:r>
              <a:rPr sz="4800" spc="-280" dirty="0"/>
              <a:t> </a:t>
            </a:r>
            <a:r>
              <a:rPr sz="4800" spc="-95" dirty="0" err="1" smtClean="0"/>
              <a:t>Inegociável</a:t>
            </a:r>
            <a:r>
              <a:rPr sz="4800" spc="25" dirty="0" smtClean="0"/>
              <a:t> </a:t>
            </a:r>
            <a:r>
              <a:rPr lang="pt-BR" sz="4800" spc="25" dirty="0" smtClean="0"/>
              <a:t/>
            </a:r>
            <a:br>
              <a:rPr lang="pt-BR" sz="4800" spc="25" dirty="0" smtClean="0"/>
            </a:br>
            <a:r>
              <a:rPr lang="pt-BR" sz="4800" spc="-30" dirty="0">
                <a:solidFill>
                  <a:srgbClr val="FF0000"/>
                </a:solidFill>
              </a:rPr>
              <a:t>(V</a:t>
            </a:r>
            <a:r>
              <a:rPr lang="pt-BR" sz="4800" spc="-30" dirty="0" smtClean="0">
                <a:solidFill>
                  <a:srgbClr val="FF0000"/>
                </a:solidFill>
              </a:rPr>
              <a:t>) </a:t>
            </a:r>
            <a:r>
              <a:rPr sz="4800" spc="-175" dirty="0" smtClean="0"/>
              <a:t>Verdade</a:t>
            </a:r>
            <a:endParaRPr sz="4800" dirty="0"/>
          </a:p>
        </p:txBody>
      </p:sp>
      <p:sp>
        <p:nvSpPr>
          <p:cNvPr id="9" name="object 9"/>
          <p:cNvSpPr txBox="1"/>
          <p:nvPr/>
        </p:nvSpPr>
        <p:spPr>
          <a:xfrm>
            <a:off x="1829125" y="4357158"/>
            <a:ext cx="13971269" cy="158985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065" marR="5080" algn="ctr">
              <a:lnSpc>
                <a:spcPts val="3600"/>
              </a:lnSpc>
              <a:spcBef>
                <a:spcPts val="760"/>
              </a:spcBef>
            </a:pPr>
            <a:r>
              <a:rPr sz="3550" spc="-135" dirty="0">
                <a:latin typeface="Calibri"/>
                <a:cs typeface="Calibri"/>
              </a:rPr>
              <a:t>Este</a:t>
            </a:r>
            <a:r>
              <a:rPr sz="3550" spc="-280" dirty="0">
                <a:latin typeface="Calibri"/>
                <a:cs typeface="Calibri"/>
              </a:rPr>
              <a:t> </a:t>
            </a:r>
            <a:r>
              <a:rPr sz="3550" spc="-95" dirty="0">
                <a:latin typeface="Calibri"/>
                <a:cs typeface="Calibri"/>
              </a:rPr>
              <a:t>é</a:t>
            </a:r>
            <a:r>
              <a:rPr sz="3550" spc="-265" dirty="0">
                <a:latin typeface="Calibri"/>
                <a:cs typeface="Calibri"/>
              </a:rPr>
              <a:t> </a:t>
            </a:r>
            <a:r>
              <a:rPr sz="3550" spc="-140" dirty="0">
                <a:latin typeface="Calibri"/>
                <a:cs typeface="Calibri"/>
              </a:rPr>
              <a:t>o</a:t>
            </a:r>
            <a:r>
              <a:rPr sz="3550" spc="-325" dirty="0">
                <a:latin typeface="Calibri"/>
                <a:cs typeface="Calibri"/>
              </a:rPr>
              <a:t> </a:t>
            </a:r>
            <a:r>
              <a:rPr sz="3550" spc="-204" dirty="0">
                <a:latin typeface="Calibri"/>
                <a:cs typeface="Calibri"/>
              </a:rPr>
              <a:t>seu</a:t>
            </a:r>
            <a:r>
              <a:rPr sz="3550" spc="-140" dirty="0">
                <a:latin typeface="Calibri"/>
                <a:cs typeface="Calibri"/>
              </a:rPr>
              <a:t> </a:t>
            </a:r>
            <a:r>
              <a:rPr sz="3550" spc="-260" dirty="0">
                <a:latin typeface="Calibri"/>
                <a:cs typeface="Calibri"/>
              </a:rPr>
              <a:t>comando</a:t>
            </a:r>
            <a:r>
              <a:rPr sz="3550" spc="-145" dirty="0">
                <a:latin typeface="Calibri"/>
                <a:cs typeface="Calibri"/>
              </a:rPr>
              <a:t> </a:t>
            </a:r>
            <a:r>
              <a:rPr sz="3550" spc="-175" dirty="0">
                <a:latin typeface="Calibri"/>
                <a:cs typeface="Calibri"/>
              </a:rPr>
              <a:t>de</a:t>
            </a:r>
            <a:r>
              <a:rPr sz="3550" spc="-285" dirty="0">
                <a:latin typeface="Calibri"/>
                <a:cs typeface="Calibri"/>
              </a:rPr>
              <a:t> </a:t>
            </a:r>
            <a:r>
              <a:rPr sz="3550" spc="-210" dirty="0">
                <a:latin typeface="Calibri"/>
                <a:cs typeface="Calibri"/>
              </a:rPr>
              <a:t>segurança.</a:t>
            </a:r>
            <a:r>
              <a:rPr sz="3550" spc="-105" dirty="0">
                <a:latin typeface="Calibri"/>
                <a:cs typeface="Calibri"/>
              </a:rPr>
              <a:t> </a:t>
            </a:r>
            <a:r>
              <a:rPr sz="3550" spc="-235" dirty="0">
                <a:latin typeface="Calibri"/>
                <a:cs typeface="Calibri"/>
              </a:rPr>
              <a:t>Uma</a:t>
            </a:r>
            <a:r>
              <a:rPr sz="3550" spc="-305" dirty="0">
                <a:latin typeface="Calibri"/>
                <a:cs typeface="Calibri"/>
              </a:rPr>
              <a:t> </a:t>
            </a:r>
            <a:r>
              <a:rPr sz="3550" spc="-175" dirty="0">
                <a:latin typeface="Calibri"/>
                <a:cs typeface="Calibri"/>
              </a:rPr>
              <a:t>instruçâo</a:t>
            </a:r>
            <a:r>
              <a:rPr sz="3550" spc="-50" dirty="0">
                <a:latin typeface="Calibri"/>
                <a:cs typeface="Calibri"/>
              </a:rPr>
              <a:t> </a:t>
            </a:r>
            <a:r>
              <a:rPr sz="3550" spc="-195" dirty="0">
                <a:latin typeface="Calibri"/>
                <a:cs typeface="Calibri"/>
              </a:rPr>
              <a:t>absoluta</a:t>
            </a:r>
            <a:r>
              <a:rPr sz="3550" spc="-80" dirty="0">
                <a:latin typeface="Calibri"/>
                <a:cs typeface="Calibri"/>
              </a:rPr>
              <a:t> </a:t>
            </a:r>
            <a:r>
              <a:rPr sz="3550" spc="-185" dirty="0">
                <a:latin typeface="Calibri"/>
                <a:cs typeface="Calibri"/>
              </a:rPr>
              <a:t>para</a:t>
            </a:r>
            <a:r>
              <a:rPr sz="3550" spc="-220" dirty="0">
                <a:latin typeface="Calibri"/>
                <a:cs typeface="Calibri"/>
              </a:rPr>
              <a:t> </a:t>
            </a:r>
            <a:r>
              <a:rPr sz="3550" spc="-229" dirty="0">
                <a:latin typeface="Calibri"/>
                <a:cs typeface="Calibri"/>
              </a:rPr>
              <a:t>que</a:t>
            </a:r>
            <a:r>
              <a:rPr sz="3550" spc="-254" dirty="0">
                <a:latin typeface="Calibri"/>
                <a:cs typeface="Calibri"/>
              </a:rPr>
              <a:t> </a:t>
            </a:r>
            <a:r>
              <a:rPr sz="3550" spc="-25" dirty="0">
                <a:latin typeface="Calibri"/>
                <a:cs typeface="Calibri"/>
              </a:rPr>
              <a:t>a</a:t>
            </a:r>
            <a:r>
              <a:rPr sz="3550" spc="-315" dirty="0">
                <a:latin typeface="Calibri"/>
                <a:cs typeface="Calibri"/>
              </a:rPr>
              <a:t> </a:t>
            </a:r>
            <a:r>
              <a:rPr sz="3550" spc="-40" dirty="0">
                <a:latin typeface="Calibri"/>
                <a:cs typeface="Calibri"/>
              </a:rPr>
              <a:t>IA</a:t>
            </a:r>
            <a:r>
              <a:rPr sz="3550" spc="-360" dirty="0">
                <a:latin typeface="Calibri"/>
                <a:cs typeface="Calibri"/>
              </a:rPr>
              <a:t> </a:t>
            </a:r>
            <a:r>
              <a:rPr sz="3550" spc="-210" dirty="0">
                <a:latin typeface="Calibri"/>
                <a:cs typeface="Calibri"/>
              </a:rPr>
              <a:t>não</a:t>
            </a:r>
            <a:r>
              <a:rPr sz="3550" spc="-225" dirty="0">
                <a:latin typeface="Calibri"/>
                <a:cs typeface="Calibri"/>
              </a:rPr>
              <a:t> </a:t>
            </a:r>
            <a:r>
              <a:rPr sz="3550" spc="-35" dirty="0">
                <a:latin typeface="Calibri"/>
                <a:cs typeface="Calibri"/>
              </a:rPr>
              <a:t>invente </a:t>
            </a:r>
            <a:r>
              <a:rPr sz="3550" spc="-145" dirty="0">
                <a:latin typeface="Calibri"/>
                <a:cs typeface="Calibri"/>
              </a:rPr>
              <a:t>leis,</a:t>
            </a:r>
            <a:r>
              <a:rPr sz="3550" spc="-295" dirty="0">
                <a:latin typeface="Calibri"/>
                <a:cs typeface="Calibri"/>
              </a:rPr>
              <a:t> </a:t>
            </a:r>
            <a:r>
              <a:rPr sz="3550" spc="-145" dirty="0">
                <a:latin typeface="Calibri"/>
                <a:cs typeface="Calibri"/>
              </a:rPr>
              <a:t>decretos</a:t>
            </a:r>
            <a:r>
              <a:rPr sz="3550" spc="-145" dirty="0" smtClean="0">
                <a:latin typeface="Calibri"/>
                <a:cs typeface="Calibri"/>
              </a:rPr>
              <a:t>,</a:t>
            </a:r>
            <a:r>
              <a:rPr lang="pt-BR" sz="3550" spc="-145" dirty="0" smtClean="0">
                <a:latin typeface="Calibri"/>
                <a:cs typeface="Calibri"/>
              </a:rPr>
              <a:t> </a:t>
            </a:r>
            <a:r>
              <a:rPr sz="3550" spc="-145" dirty="0" smtClean="0">
                <a:latin typeface="Calibri"/>
                <a:cs typeface="Calibri"/>
              </a:rPr>
              <a:t>jurisprudências</a:t>
            </a:r>
            <a:r>
              <a:rPr sz="3550" spc="-320" dirty="0" smtClean="0">
                <a:latin typeface="Calibri"/>
                <a:cs typeface="Calibri"/>
              </a:rPr>
              <a:t> </a:t>
            </a:r>
            <a:r>
              <a:rPr sz="3550" spc="-180" dirty="0">
                <a:latin typeface="Calibri"/>
                <a:cs typeface="Calibri"/>
              </a:rPr>
              <a:t>ou</a:t>
            </a:r>
            <a:r>
              <a:rPr sz="3550" spc="-305" dirty="0">
                <a:latin typeface="Calibri"/>
                <a:cs typeface="Calibri"/>
              </a:rPr>
              <a:t> </a:t>
            </a:r>
            <a:r>
              <a:rPr sz="3550" spc="-220" dirty="0">
                <a:latin typeface="Calibri"/>
                <a:cs typeface="Calibri"/>
              </a:rPr>
              <a:t>qualquer</a:t>
            </a:r>
            <a:r>
              <a:rPr sz="3550" spc="110" dirty="0">
                <a:latin typeface="Calibri"/>
                <a:cs typeface="Calibri"/>
              </a:rPr>
              <a:t> </a:t>
            </a:r>
            <a:r>
              <a:rPr sz="3550" spc="-180" dirty="0">
                <a:latin typeface="Calibri"/>
                <a:cs typeface="Calibri"/>
              </a:rPr>
              <a:t>outra</a:t>
            </a:r>
            <a:r>
              <a:rPr sz="3550" spc="-190" dirty="0">
                <a:latin typeface="Calibri"/>
                <a:cs typeface="Calibri"/>
              </a:rPr>
              <a:t> </a:t>
            </a:r>
            <a:r>
              <a:rPr sz="3550" spc="-235" dirty="0">
                <a:latin typeface="Calibri"/>
                <a:cs typeface="Calibri"/>
              </a:rPr>
              <a:t>informação.</a:t>
            </a:r>
            <a:r>
              <a:rPr sz="3550" spc="75" dirty="0">
                <a:latin typeface="Calibri"/>
                <a:cs typeface="Calibri"/>
              </a:rPr>
              <a:t> </a:t>
            </a:r>
            <a:endParaRPr lang="pt-BR" sz="3550" spc="75" dirty="0" smtClean="0">
              <a:latin typeface="Calibri"/>
              <a:cs typeface="Calibri"/>
            </a:endParaRPr>
          </a:p>
          <a:p>
            <a:pPr marL="12065" marR="5080" algn="ctr">
              <a:lnSpc>
                <a:spcPts val="3600"/>
              </a:lnSpc>
              <a:spcBef>
                <a:spcPts val="760"/>
              </a:spcBef>
            </a:pPr>
            <a:r>
              <a:rPr sz="3550" dirty="0" smtClean="0">
                <a:latin typeface="Calibri"/>
                <a:cs typeface="Calibri"/>
              </a:rPr>
              <a:t>A</a:t>
            </a:r>
            <a:r>
              <a:rPr sz="3550" spc="-290" dirty="0" smtClean="0">
                <a:latin typeface="Calibri"/>
                <a:cs typeface="Calibri"/>
              </a:rPr>
              <a:t> </a:t>
            </a:r>
            <a:r>
              <a:rPr sz="3550" dirty="0">
                <a:latin typeface="Calibri"/>
                <a:cs typeface="Calibri"/>
              </a:rPr>
              <a:t>IA</a:t>
            </a:r>
            <a:r>
              <a:rPr sz="3550" spc="-360" dirty="0">
                <a:latin typeface="Calibri"/>
                <a:cs typeface="Calibri"/>
              </a:rPr>
              <a:t> </a:t>
            </a:r>
            <a:r>
              <a:rPr sz="3550" spc="-204" dirty="0">
                <a:latin typeface="Calibri"/>
                <a:cs typeface="Calibri"/>
              </a:rPr>
              <a:t>deve</a:t>
            </a:r>
            <a:r>
              <a:rPr sz="3550" spc="-210" dirty="0">
                <a:latin typeface="Calibri"/>
                <a:cs typeface="Calibri"/>
              </a:rPr>
              <a:t> </a:t>
            </a:r>
            <a:r>
              <a:rPr sz="3550" spc="-135" dirty="0">
                <a:latin typeface="Calibri"/>
                <a:cs typeface="Calibri"/>
              </a:rPr>
              <a:t>se</a:t>
            </a:r>
            <a:r>
              <a:rPr sz="3550" spc="-305" dirty="0">
                <a:latin typeface="Calibri"/>
                <a:cs typeface="Calibri"/>
              </a:rPr>
              <a:t> </a:t>
            </a:r>
            <a:r>
              <a:rPr sz="3550" spc="-20" dirty="0">
                <a:latin typeface="Calibri"/>
                <a:cs typeface="Calibri"/>
              </a:rPr>
              <a:t>ater </a:t>
            </a:r>
            <a:r>
              <a:rPr sz="3550" spc="-204" dirty="0">
                <a:latin typeface="Calibri"/>
                <a:cs typeface="Calibri"/>
              </a:rPr>
              <a:t>estritamente</a:t>
            </a:r>
            <a:r>
              <a:rPr sz="3550" spc="120" dirty="0">
                <a:latin typeface="Calibri"/>
                <a:cs typeface="Calibri"/>
              </a:rPr>
              <a:t> </a:t>
            </a:r>
            <a:r>
              <a:rPr sz="3550" spc="-160" dirty="0">
                <a:latin typeface="Calibri"/>
                <a:cs typeface="Calibri"/>
              </a:rPr>
              <a:t>a</a:t>
            </a:r>
            <a:r>
              <a:rPr sz="3550" spc="-250" dirty="0">
                <a:latin typeface="Calibri"/>
                <a:cs typeface="Calibri"/>
              </a:rPr>
              <a:t> </a:t>
            </a:r>
            <a:r>
              <a:rPr sz="3550" spc="-195" dirty="0">
                <a:latin typeface="Calibri"/>
                <a:cs typeface="Calibri"/>
              </a:rPr>
              <a:t>fontes</a:t>
            </a:r>
            <a:r>
              <a:rPr sz="3550" spc="-220" dirty="0">
                <a:latin typeface="Calibri"/>
                <a:cs typeface="Calibri"/>
              </a:rPr>
              <a:t> </a:t>
            </a:r>
            <a:r>
              <a:rPr sz="3550" spc="-180" dirty="0">
                <a:latin typeface="Calibri"/>
                <a:cs typeface="Calibri"/>
              </a:rPr>
              <a:t>públicas,</a:t>
            </a:r>
            <a:r>
              <a:rPr sz="3550" spc="-145" dirty="0">
                <a:latin typeface="Calibri"/>
                <a:cs typeface="Calibri"/>
              </a:rPr>
              <a:t> </a:t>
            </a:r>
            <a:r>
              <a:rPr sz="3550" spc="-150" dirty="0">
                <a:latin typeface="Calibri"/>
                <a:cs typeface="Calibri"/>
              </a:rPr>
              <a:t>reais</a:t>
            </a:r>
            <a:r>
              <a:rPr sz="3550" spc="-254" dirty="0">
                <a:latin typeface="Calibri"/>
                <a:cs typeface="Calibri"/>
              </a:rPr>
              <a:t> </a:t>
            </a:r>
            <a:r>
              <a:rPr sz="3550" spc="-95" dirty="0">
                <a:latin typeface="Calibri"/>
                <a:cs typeface="Calibri"/>
              </a:rPr>
              <a:t>e</a:t>
            </a:r>
            <a:r>
              <a:rPr sz="3550" spc="-275" dirty="0">
                <a:latin typeface="Calibri"/>
                <a:cs typeface="Calibri"/>
              </a:rPr>
              <a:t> </a:t>
            </a:r>
            <a:r>
              <a:rPr sz="3550" spc="-50" dirty="0">
                <a:latin typeface="Calibri"/>
                <a:cs typeface="Calibri"/>
              </a:rPr>
              <a:t>verificáveis.</a:t>
            </a:r>
            <a:endParaRPr sz="355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1216" y="6208183"/>
            <a:ext cx="14033500" cy="1651000"/>
          </a:xfrm>
          <a:prstGeom prst="rect">
            <a:avLst/>
          </a:prstGeom>
          <a:ln w="29633">
            <a:solidFill>
              <a:srgbClr val="80384B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302895" marR="226060" algn="ctr">
              <a:lnSpc>
                <a:spcPts val="3550"/>
              </a:lnSpc>
              <a:spcBef>
                <a:spcPts val="925"/>
              </a:spcBef>
            </a:pPr>
            <a:r>
              <a:rPr sz="3100" spc="-70" dirty="0">
                <a:latin typeface="Arial MT"/>
                <a:cs typeface="Arial MT"/>
              </a:rPr>
              <a:t>Apresente</a:t>
            </a:r>
            <a:r>
              <a:rPr sz="3100" spc="15" dirty="0">
                <a:latin typeface="Arial MT"/>
                <a:cs typeface="Arial MT"/>
              </a:rPr>
              <a:t> </a:t>
            </a:r>
            <a:r>
              <a:rPr sz="3100" spc="-125" dirty="0">
                <a:latin typeface="Arial MT"/>
                <a:cs typeface="Arial MT"/>
              </a:rPr>
              <a:t>apenas</a:t>
            </a:r>
            <a:r>
              <a:rPr sz="3100" spc="-70" dirty="0">
                <a:latin typeface="Arial MT"/>
                <a:cs typeface="Arial MT"/>
              </a:rPr>
              <a:t> </a:t>
            </a:r>
            <a:r>
              <a:rPr sz="3100" spc="-145" dirty="0">
                <a:latin typeface="Arial MT"/>
                <a:cs typeface="Arial MT"/>
              </a:rPr>
              <a:t>a</a:t>
            </a:r>
            <a:r>
              <a:rPr sz="3100" spc="-275" dirty="0">
                <a:latin typeface="Arial MT"/>
                <a:cs typeface="Arial MT"/>
              </a:rPr>
              <a:t> </a:t>
            </a:r>
            <a:r>
              <a:rPr sz="3100" spc="-40" dirty="0">
                <a:latin typeface="Arial MT"/>
                <a:cs typeface="Arial MT"/>
              </a:rPr>
              <a:t>verdade.</a:t>
            </a:r>
            <a:r>
              <a:rPr sz="3100" spc="-235" dirty="0">
                <a:latin typeface="Arial MT"/>
                <a:cs typeface="Arial MT"/>
              </a:rPr>
              <a:t> </a:t>
            </a:r>
            <a:r>
              <a:rPr sz="3100" spc="-105" dirty="0">
                <a:latin typeface="Arial MT"/>
                <a:cs typeface="Arial MT"/>
              </a:rPr>
              <a:t>Não</a:t>
            </a:r>
            <a:r>
              <a:rPr sz="3100" spc="-26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invente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90" dirty="0">
                <a:latin typeface="Arial MT"/>
                <a:cs typeface="Arial MT"/>
              </a:rPr>
              <a:t>leis,</a:t>
            </a:r>
            <a:r>
              <a:rPr sz="3100" spc="-420" dirty="0">
                <a:latin typeface="Arial MT"/>
                <a:cs typeface="Arial MT"/>
              </a:rPr>
              <a:t> </a:t>
            </a:r>
            <a:r>
              <a:rPr sz="3100" spc="-80" dirty="0">
                <a:latin typeface="Arial MT"/>
                <a:cs typeface="Arial MT"/>
              </a:rPr>
              <a:t>decretos,</a:t>
            </a:r>
            <a:r>
              <a:rPr sz="3100" spc="-180" dirty="0">
                <a:latin typeface="Arial MT"/>
                <a:cs typeface="Arial MT"/>
              </a:rPr>
              <a:t> </a:t>
            </a:r>
            <a:r>
              <a:rPr sz="3100" spc="-65" dirty="0">
                <a:latin typeface="Arial MT"/>
                <a:cs typeface="Arial MT"/>
              </a:rPr>
              <a:t>jurisprudências,</a:t>
            </a:r>
            <a:r>
              <a:rPr sz="3100" spc="-360" dirty="0">
                <a:latin typeface="Arial MT"/>
                <a:cs typeface="Arial MT"/>
              </a:rPr>
              <a:t> </a:t>
            </a:r>
            <a:r>
              <a:rPr sz="3100" spc="-45" dirty="0">
                <a:latin typeface="Arial MT"/>
                <a:cs typeface="Arial MT"/>
              </a:rPr>
              <a:t>súmulas </a:t>
            </a:r>
            <a:r>
              <a:rPr sz="3100" spc="-80" dirty="0">
                <a:latin typeface="Arial MT"/>
                <a:cs typeface="Arial MT"/>
              </a:rPr>
              <a:t>ou</a:t>
            </a:r>
            <a:r>
              <a:rPr sz="3100" spc="-305" dirty="0">
                <a:latin typeface="Arial MT"/>
                <a:cs typeface="Arial MT"/>
              </a:rPr>
              <a:t> </a:t>
            </a:r>
            <a:r>
              <a:rPr sz="3100" spc="-150" dirty="0">
                <a:latin typeface="Arial MT"/>
                <a:cs typeface="Arial MT"/>
              </a:rPr>
              <a:t>decisões.</a:t>
            </a:r>
            <a:r>
              <a:rPr sz="3100" spc="-160" dirty="0">
                <a:latin typeface="Arial MT"/>
                <a:cs typeface="Arial MT"/>
              </a:rPr>
              <a:t> </a:t>
            </a:r>
            <a:r>
              <a:rPr sz="3100" spc="-325" dirty="0">
                <a:latin typeface="Arial MT"/>
                <a:cs typeface="Arial MT"/>
              </a:rPr>
              <a:t>Se</a:t>
            </a:r>
            <a:r>
              <a:rPr sz="3100" spc="-300" dirty="0">
                <a:latin typeface="Arial MT"/>
                <a:cs typeface="Arial MT"/>
              </a:rPr>
              <a:t> </a:t>
            </a:r>
            <a:r>
              <a:rPr sz="3100" spc="-114" dirty="0">
                <a:latin typeface="Arial MT"/>
                <a:cs typeface="Arial MT"/>
              </a:rPr>
              <a:t>não</a:t>
            </a:r>
            <a:r>
              <a:rPr sz="3100" spc="-265" dirty="0">
                <a:latin typeface="Arial MT"/>
                <a:cs typeface="Arial MT"/>
              </a:rPr>
              <a:t> </a:t>
            </a:r>
            <a:r>
              <a:rPr sz="3100" spc="-70" dirty="0">
                <a:latin typeface="Arial MT"/>
                <a:cs typeface="Arial MT"/>
              </a:rPr>
              <a:t>houver</a:t>
            </a:r>
            <a:r>
              <a:rPr sz="3100" spc="-7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fonte</a:t>
            </a:r>
            <a:r>
              <a:rPr sz="3100" spc="-165" dirty="0">
                <a:latin typeface="Arial MT"/>
                <a:cs typeface="Arial MT"/>
              </a:rPr>
              <a:t> </a:t>
            </a:r>
            <a:r>
              <a:rPr sz="3100" spc="-85" dirty="0">
                <a:latin typeface="Arial MT"/>
                <a:cs typeface="Arial MT"/>
              </a:rPr>
              <a:t>pública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spc="-145" dirty="0">
                <a:latin typeface="Arial MT"/>
                <a:cs typeface="Arial MT"/>
              </a:rPr>
              <a:t>e</a:t>
            </a:r>
            <a:r>
              <a:rPr sz="3100" spc="-29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verdadeira,</a:t>
            </a:r>
            <a:r>
              <a:rPr sz="3100" spc="-85" dirty="0">
                <a:latin typeface="Arial MT"/>
                <a:cs typeface="Arial MT"/>
              </a:rPr>
              <a:t> </a:t>
            </a:r>
            <a:r>
              <a:rPr sz="3100" spc="-130" dirty="0">
                <a:latin typeface="Arial MT"/>
                <a:cs typeface="Arial MT"/>
              </a:rPr>
              <a:t>diga</a:t>
            </a:r>
            <a:r>
              <a:rPr sz="3100" spc="-155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’não</a:t>
            </a:r>
            <a:r>
              <a:rPr sz="3100" spc="-195" dirty="0">
                <a:latin typeface="Arial MT"/>
                <a:cs typeface="Arial MT"/>
              </a:rPr>
              <a:t> </a:t>
            </a:r>
            <a:r>
              <a:rPr sz="3100" spc="-114" dirty="0">
                <a:latin typeface="Arial MT"/>
                <a:cs typeface="Arial MT"/>
              </a:rPr>
              <a:t>há</a:t>
            </a:r>
            <a:r>
              <a:rPr sz="3100" spc="-13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registro </a:t>
            </a:r>
            <a:r>
              <a:rPr sz="3100" spc="-45" dirty="0">
                <a:latin typeface="Arial MT"/>
                <a:cs typeface="Arial MT"/>
              </a:rPr>
              <a:t>disponível’.</a:t>
            </a:r>
            <a:r>
              <a:rPr sz="3100" spc="-105" dirty="0">
                <a:latin typeface="Arial MT"/>
                <a:cs typeface="Arial MT"/>
              </a:rPr>
              <a:t> </a:t>
            </a:r>
            <a:r>
              <a:rPr sz="3100" spc="-135" dirty="0">
                <a:latin typeface="Arial MT"/>
                <a:cs typeface="Arial MT"/>
              </a:rPr>
              <a:t>Nunca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crie</a:t>
            </a:r>
            <a:r>
              <a:rPr sz="3100" spc="-26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informações.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87569" y="7990839"/>
            <a:ext cx="13454380" cy="10185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3895"/>
              </a:lnSpc>
              <a:spcBef>
                <a:spcPts val="120"/>
              </a:spcBef>
            </a:pPr>
            <a:r>
              <a:rPr sz="3450" spc="-110" dirty="0">
                <a:latin typeface="Calibri"/>
                <a:cs typeface="Calibri"/>
              </a:rPr>
              <a:t>Importância:</a:t>
            </a:r>
            <a:r>
              <a:rPr sz="3450" spc="10" dirty="0">
                <a:latin typeface="Calibri"/>
                <a:cs typeface="Calibri"/>
              </a:rPr>
              <a:t> </a:t>
            </a:r>
            <a:r>
              <a:rPr sz="3450" spc="-35" dirty="0">
                <a:latin typeface="Calibri"/>
                <a:cs typeface="Calibri"/>
              </a:rPr>
              <a:t>Evita</a:t>
            </a:r>
            <a:r>
              <a:rPr sz="3450" spc="-100" dirty="0">
                <a:latin typeface="Calibri"/>
                <a:cs typeface="Calibri"/>
              </a:rPr>
              <a:t> </a:t>
            </a:r>
            <a:r>
              <a:rPr sz="3450" spc="-135" dirty="0">
                <a:latin typeface="Calibri"/>
                <a:cs typeface="Calibri"/>
              </a:rPr>
              <a:t>alucinações,</a:t>
            </a:r>
            <a:r>
              <a:rPr sz="3450" spc="5" dirty="0">
                <a:latin typeface="Calibri"/>
                <a:cs typeface="Calibri"/>
              </a:rPr>
              <a:t> </a:t>
            </a:r>
            <a:r>
              <a:rPr sz="3450" spc="-145" dirty="0">
                <a:latin typeface="Calibri"/>
                <a:cs typeface="Calibri"/>
              </a:rPr>
              <a:t>garante</a:t>
            </a:r>
            <a:r>
              <a:rPr sz="3450" spc="-15" dirty="0">
                <a:latin typeface="Calibri"/>
                <a:cs typeface="Calibri"/>
              </a:rPr>
              <a:t> </a:t>
            </a:r>
            <a:r>
              <a:rPr sz="3450" dirty="0">
                <a:latin typeface="Calibri"/>
                <a:cs typeface="Calibri"/>
              </a:rPr>
              <a:t>a</a:t>
            </a:r>
            <a:r>
              <a:rPr sz="3450" spc="-365" dirty="0">
                <a:latin typeface="Calibri"/>
                <a:cs typeface="Calibri"/>
              </a:rPr>
              <a:t> </a:t>
            </a:r>
            <a:r>
              <a:rPr sz="3450" spc="-145" dirty="0">
                <a:latin typeface="Calibri"/>
                <a:cs typeface="Calibri"/>
              </a:rPr>
              <a:t>verdade</a:t>
            </a:r>
            <a:r>
              <a:rPr sz="3450" spc="-55" dirty="0">
                <a:latin typeface="Calibri"/>
                <a:cs typeface="Calibri"/>
              </a:rPr>
              <a:t> </a:t>
            </a:r>
            <a:r>
              <a:rPr sz="3450" spc="-130" dirty="0">
                <a:latin typeface="Calibri"/>
                <a:cs typeface="Calibri"/>
              </a:rPr>
              <a:t>absoluta</a:t>
            </a:r>
            <a:r>
              <a:rPr sz="3450" spc="-114" dirty="0">
                <a:latin typeface="Calibri"/>
                <a:cs typeface="Calibri"/>
              </a:rPr>
              <a:t> </a:t>
            </a:r>
            <a:r>
              <a:rPr sz="3450" spc="-40" dirty="0">
                <a:latin typeface="Calibri"/>
                <a:cs typeface="Calibri"/>
              </a:rPr>
              <a:t>e</a:t>
            </a:r>
            <a:r>
              <a:rPr sz="3450" spc="-254" dirty="0">
                <a:latin typeface="Calibri"/>
                <a:cs typeface="Calibri"/>
              </a:rPr>
              <a:t> </a:t>
            </a:r>
            <a:r>
              <a:rPr sz="3450" spc="-105" dirty="0">
                <a:latin typeface="Calibri"/>
                <a:cs typeface="Calibri"/>
              </a:rPr>
              <a:t>a</a:t>
            </a:r>
            <a:r>
              <a:rPr sz="3450" spc="-200" dirty="0">
                <a:latin typeface="Calibri"/>
                <a:cs typeface="Calibri"/>
              </a:rPr>
              <a:t> </a:t>
            </a:r>
            <a:r>
              <a:rPr sz="3450" spc="-135" dirty="0">
                <a:latin typeface="Calibri"/>
                <a:cs typeface="Calibri"/>
              </a:rPr>
              <a:t>segurança</a:t>
            </a:r>
            <a:r>
              <a:rPr sz="3450" spc="-65" dirty="0">
                <a:latin typeface="Calibri"/>
                <a:cs typeface="Calibri"/>
              </a:rPr>
              <a:t> </a:t>
            </a:r>
            <a:r>
              <a:rPr sz="3450" spc="-10" dirty="0">
                <a:latin typeface="Calibri"/>
                <a:cs typeface="Calibri"/>
              </a:rPr>
              <a:t>jurídica.</a:t>
            </a:r>
            <a:endParaRPr sz="3450" dirty="0">
              <a:latin typeface="Calibri"/>
              <a:cs typeface="Calibri"/>
            </a:endParaRPr>
          </a:p>
          <a:p>
            <a:pPr marL="16510" algn="ctr">
              <a:lnSpc>
                <a:spcPts val="3895"/>
              </a:lnSpc>
            </a:pPr>
            <a:r>
              <a:rPr sz="3450" b="1" spc="-165" dirty="0">
                <a:latin typeface="Calibri"/>
                <a:cs typeface="Calibri"/>
              </a:rPr>
              <a:t>Lembre-</a:t>
            </a:r>
            <a:r>
              <a:rPr sz="3450" b="1" spc="-100" dirty="0">
                <a:latin typeface="Calibri"/>
                <a:cs typeface="Calibri"/>
              </a:rPr>
              <a:t>se:</a:t>
            </a:r>
            <a:r>
              <a:rPr sz="3450" b="1" spc="20" dirty="0">
                <a:latin typeface="Calibri"/>
                <a:cs typeface="Calibri"/>
              </a:rPr>
              <a:t> </a:t>
            </a:r>
            <a:r>
              <a:rPr sz="3450" spc="-80" dirty="0">
                <a:latin typeface="Calibri"/>
                <a:cs typeface="Calibri"/>
              </a:rPr>
              <a:t>o</a:t>
            </a:r>
            <a:r>
              <a:rPr sz="3450" spc="-330" dirty="0">
                <a:latin typeface="Calibri"/>
                <a:cs typeface="Calibri"/>
              </a:rPr>
              <a:t> </a:t>
            </a:r>
            <a:r>
              <a:rPr sz="3450" spc="-165" dirty="0">
                <a:latin typeface="Calibri"/>
                <a:cs typeface="Calibri"/>
              </a:rPr>
              <a:t>advogado</a:t>
            </a:r>
            <a:r>
              <a:rPr sz="3450" spc="-40" dirty="0">
                <a:latin typeface="Calibri"/>
                <a:cs typeface="Calibri"/>
              </a:rPr>
              <a:t> </a:t>
            </a:r>
            <a:r>
              <a:rPr sz="3450" spc="-130" dirty="0">
                <a:latin typeface="Calibri"/>
                <a:cs typeface="Calibri"/>
              </a:rPr>
              <a:t>confere</a:t>
            </a:r>
            <a:r>
              <a:rPr sz="3450" spc="-135" dirty="0">
                <a:latin typeface="Calibri"/>
                <a:cs typeface="Calibri"/>
              </a:rPr>
              <a:t> </a:t>
            </a:r>
            <a:r>
              <a:rPr sz="3450" dirty="0">
                <a:latin typeface="Calibri"/>
                <a:cs typeface="Calibri"/>
              </a:rPr>
              <a:t>a</a:t>
            </a:r>
            <a:r>
              <a:rPr sz="3450" spc="-370" dirty="0">
                <a:latin typeface="Calibri"/>
                <a:cs typeface="Calibri"/>
              </a:rPr>
              <a:t> </a:t>
            </a:r>
            <a:r>
              <a:rPr sz="3450" spc="-125" dirty="0">
                <a:latin typeface="Calibri"/>
                <a:cs typeface="Calibri"/>
              </a:rPr>
              <a:t>fonte</a:t>
            </a:r>
            <a:r>
              <a:rPr sz="3450" spc="-145" dirty="0">
                <a:latin typeface="Calibri"/>
                <a:cs typeface="Calibri"/>
              </a:rPr>
              <a:t> </a:t>
            </a:r>
            <a:r>
              <a:rPr sz="3450" spc="-135" dirty="0">
                <a:latin typeface="Calibri"/>
                <a:cs typeface="Calibri"/>
              </a:rPr>
              <a:t>antes</a:t>
            </a:r>
            <a:r>
              <a:rPr sz="3450" spc="-185" dirty="0">
                <a:latin typeface="Calibri"/>
                <a:cs typeface="Calibri"/>
              </a:rPr>
              <a:t> </a:t>
            </a:r>
            <a:r>
              <a:rPr sz="3450" spc="-114" dirty="0">
                <a:latin typeface="Calibri"/>
                <a:cs typeface="Calibri"/>
              </a:rPr>
              <a:t>de</a:t>
            </a:r>
            <a:r>
              <a:rPr sz="3450" spc="-295" dirty="0">
                <a:latin typeface="Calibri"/>
                <a:cs typeface="Calibri"/>
              </a:rPr>
              <a:t> </a:t>
            </a:r>
            <a:r>
              <a:rPr sz="3450" spc="-10" dirty="0">
                <a:latin typeface="Calibri"/>
                <a:cs typeface="Calibri"/>
              </a:rPr>
              <a:t>usar.</a:t>
            </a:r>
            <a:endParaRPr sz="345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6204" y="883002"/>
            <a:ext cx="13230860" cy="840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350" dirty="0"/>
              <a:t>A</a:t>
            </a:r>
            <a:r>
              <a:rPr sz="5350" spc="-295" dirty="0"/>
              <a:t> </a:t>
            </a:r>
            <a:r>
              <a:rPr sz="5350" spc="-75" dirty="0"/>
              <a:t>Transformação</a:t>
            </a:r>
            <a:r>
              <a:rPr sz="5350" spc="75" dirty="0"/>
              <a:t> </a:t>
            </a:r>
            <a:r>
              <a:rPr sz="5350" dirty="0"/>
              <a:t>na</a:t>
            </a:r>
            <a:r>
              <a:rPr sz="5350" spc="-295" dirty="0"/>
              <a:t> </a:t>
            </a:r>
            <a:r>
              <a:rPr sz="5350" spc="-20" dirty="0"/>
              <a:t>Prática:</a:t>
            </a:r>
            <a:r>
              <a:rPr sz="5350" spc="-170" dirty="0"/>
              <a:t> </a:t>
            </a:r>
            <a:r>
              <a:rPr sz="5350" spc="120" dirty="0"/>
              <a:t>De</a:t>
            </a:r>
            <a:r>
              <a:rPr sz="5350" spc="-375" dirty="0"/>
              <a:t> </a:t>
            </a:r>
            <a:r>
              <a:rPr sz="5350" spc="-25" dirty="0"/>
              <a:t>Vago</a:t>
            </a:r>
            <a:r>
              <a:rPr sz="5350" spc="-160" dirty="0"/>
              <a:t> </a:t>
            </a:r>
            <a:r>
              <a:rPr sz="5350" spc="75" dirty="0"/>
              <a:t>a</a:t>
            </a:r>
            <a:r>
              <a:rPr sz="5350" spc="-445" dirty="0"/>
              <a:t> </a:t>
            </a:r>
            <a:r>
              <a:rPr sz="5350" spc="-10" dirty="0"/>
              <a:t>Valioso</a:t>
            </a:r>
            <a:endParaRPr sz="5350"/>
          </a:p>
        </p:txBody>
      </p:sp>
      <p:sp>
        <p:nvSpPr>
          <p:cNvPr id="3" name="object 3"/>
          <p:cNvSpPr txBox="1"/>
          <p:nvPr/>
        </p:nvSpPr>
        <p:spPr>
          <a:xfrm>
            <a:off x="1256991" y="3581400"/>
            <a:ext cx="6136005" cy="1293303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 indent="1272540">
              <a:lnSpc>
                <a:spcPts val="4650"/>
              </a:lnSpc>
              <a:spcBef>
                <a:spcPts val="685"/>
              </a:spcBef>
            </a:pPr>
            <a:r>
              <a:rPr sz="4300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Pedido</a:t>
            </a:r>
            <a:r>
              <a:rPr sz="4300" spc="-160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4300" spc="-10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Comum </a:t>
            </a:r>
            <a:r>
              <a:rPr sz="4000" spc="-50" dirty="0">
                <a:solidFill>
                  <a:srgbClr val="FF0000"/>
                </a:solidFill>
                <a:latin typeface="Cambria"/>
                <a:cs typeface="Cambria"/>
              </a:rPr>
              <a:t>(Resultados</a:t>
            </a:r>
            <a:r>
              <a:rPr sz="4000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4000" spc="-65" dirty="0">
                <a:solidFill>
                  <a:srgbClr val="FF0000"/>
                </a:solidFill>
                <a:latin typeface="Cambria"/>
                <a:cs typeface="Cambria"/>
              </a:rPr>
              <a:t>Imprevisíveis)</a:t>
            </a:r>
            <a:endParaRPr sz="40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7800" y="5486400"/>
            <a:ext cx="3711592" cy="82003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ts val="3110"/>
              </a:lnSpc>
              <a:spcBef>
                <a:spcPts val="135"/>
              </a:spcBef>
            </a:pPr>
            <a:r>
              <a:rPr sz="4000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“Me</a:t>
            </a:r>
            <a:r>
              <a:rPr sz="4000" spc="80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4000" spc="-60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ajude</a:t>
            </a:r>
            <a:r>
              <a:rPr sz="4000" spc="30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4000" spc="-25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com</a:t>
            </a:r>
            <a:endParaRPr sz="4000" dirty="0">
              <a:solidFill>
                <a:schemeClr val="tx2">
                  <a:lumMod val="50000"/>
                </a:schemeClr>
              </a:solidFill>
              <a:latin typeface="Cambria"/>
              <a:cs typeface="Cambria"/>
            </a:endParaRPr>
          </a:p>
          <a:p>
            <a:pPr marL="64135" algn="ctr">
              <a:lnSpc>
                <a:spcPts val="2990"/>
              </a:lnSpc>
            </a:pPr>
            <a:r>
              <a:rPr sz="4000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este</a:t>
            </a:r>
            <a:r>
              <a:rPr sz="4000" spc="135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 </a:t>
            </a:r>
            <a:r>
              <a:rPr sz="4000" spc="-10" dirty="0">
                <a:solidFill>
                  <a:schemeClr val="tx2">
                    <a:lumMod val="50000"/>
                  </a:schemeClr>
                </a:solidFill>
                <a:latin typeface="Cambria"/>
                <a:cs typeface="Cambria"/>
              </a:rPr>
              <a:t>contrato”</a:t>
            </a:r>
            <a:endParaRPr sz="4000" dirty="0">
              <a:solidFill>
                <a:schemeClr val="tx2">
                  <a:lumMod val="50000"/>
                </a:schemeClr>
              </a:solidFill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56600" y="3903486"/>
            <a:ext cx="8305800" cy="4302332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marR="5080" indent="7620">
              <a:lnSpc>
                <a:spcPct val="90400"/>
              </a:lnSpc>
              <a:spcBef>
                <a:spcPts val="445"/>
              </a:spcBef>
            </a:pPr>
            <a:r>
              <a:rPr sz="3200" b="1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3200" b="1" spc="-30" dirty="0">
                <a:latin typeface="Arial" panose="020B0604020202020204" pitchFamily="34" charset="0"/>
                <a:cs typeface="Arial" panose="020B0604020202020204" pitchFamily="34" charset="0"/>
              </a:rPr>
              <a:t>P)</a:t>
            </a:r>
            <a:r>
              <a:rPr sz="3200" b="1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Atue</a:t>
            </a:r>
            <a:r>
              <a:rPr sz="3200" spc="-1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85" dirty="0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32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55" dirty="0">
                <a:latin typeface="Arial" panose="020B0604020202020204" pitchFamily="34" charset="0"/>
                <a:cs typeface="Arial" panose="020B0604020202020204" pitchFamily="34" charset="0"/>
              </a:rPr>
              <a:t>advogado</a:t>
            </a:r>
            <a:r>
              <a:rPr sz="32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45" dirty="0">
                <a:latin typeface="Arial" panose="020B0604020202020204" pitchFamily="34" charset="0"/>
                <a:cs typeface="Arial" panose="020B0604020202020204" pitchFamily="34" charset="0"/>
              </a:rPr>
              <a:t>civilista.</a:t>
            </a:r>
            <a:r>
              <a:rPr sz="3200" spc="45" dirty="0">
                <a:solidFill>
                  <a:srgbClr val="A88C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endParaRPr lang="pt-BR" sz="3200" spc="45" dirty="0" smtClean="0">
              <a:solidFill>
                <a:srgbClr val="A88C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7620">
              <a:lnSpc>
                <a:spcPct val="90400"/>
              </a:lnSpc>
              <a:spcBef>
                <a:spcPts val="445"/>
              </a:spcBef>
            </a:pPr>
            <a:r>
              <a:rPr lang="pt-BR" sz="3200" b="1" spc="4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 </a:t>
            </a:r>
            <a:r>
              <a:rPr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Analise</a:t>
            </a:r>
            <a:r>
              <a:rPr sz="3200" spc="-16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5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sz="32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35" dirty="0">
                <a:latin typeface="Arial" panose="020B0604020202020204" pitchFamily="34" charset="0"/>
                <a:cs typeface="Arial" panose="020B0604020202020204" pitchFamily="34" charset="0"/>
              </a:rPr>
              <a:t>contrato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200" spc="-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0" dirty="0">
                <a:latin typeface="Arial" panose="020B0604020202020204" pitchFamily="34" charset="0"/>
                <a:cs typeface="Arial" panose="020B0604020202020204" pitchFamily="34" charset="0"/>
              </a:rPr>
              <a:t>prestação</a:t>
            </a:r>
            <a:r>
              <a:rPr sz="32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3200" spc="-90" dirty="0"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sz="32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3200" spc="-2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3200" spc="-265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7620">
              <a:lnSpc>
                <a:spcPct val="90400"/>
              </a:lnSpc>
              <a:spcBef>
                <a:spcPts val="445"/>
              </a:spcBef>
            </a:pPr>
            <a:r>
              <a:rPr sz="3200" b="1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3200" b="1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T)</a:t>
            </a:r>
            <a:r>
              <a:rPr sz="3200" b="1" spc="-28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95" dirty="0" err="1">
                <a:latin typeface="Arial" panose="020B0604020202020204" pitchFamily="34" charset="0"/>
                <a:cs typeface="Arial" panose="020B0604020202020204" pitchFamily="34" charset="0"/>
              </a:rPr>
              <a:t>identifique</a:t>
            </a:r>
            <a:r>
              <a:rPr sz="32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spc="50" dirty="0" smtClean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3200" spc="-1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cláusulas</a:t>
            </a:r>
            <a:r>
              <a:rPr lang="pt-BR"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3200" spc="-1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precisam</a:t>
            </a:r>
            <a:r>
              <a:rPr sz="32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sz="32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 err="1">
                <a:latin typeface="Arial" panose="020B0604020202020204" pitchFamily="34" charset="0"/>
                <a:cs typeface="Arial" panose="020B0604020202020204" pitchFamily="34" charset="0"/>
              </a:rPr>
              <a:t>melhoradas</a:t>
            </a:r>
            <a:r>
              <a:rPr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7620">
              <a:lnSpc>
                <a:spcPct val="90400"/>
              </a:lnSpc>
              <a:spcBef>
                <a:spcPts val="445"/>
              </a:spcBef>
            </a:pPr>
            <a:r>
              <a:rPr sz="3200" b="1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3200" b="1" spc="-2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F)</a:t>
            </a:r>
            <a:r>
              <a:rPr sz="3200" b="1" spc="-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75" dirty="0">
                <a:latin typeface="Arial" panose="020B0604020202020204" pitchFamily="34" charset="0"/>
                <a:cs typeface="Arial" panose="020B0604020202020204" pitchFamily="34" charset="0"/>
              </a:rPr>
              <a:t>Apresente</a:t>
            </a:r>
            <a:r>
              <a:rPr sz="32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40" dirty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sz="32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0" dirty="0">
                <a:latin typeface="Arial" panose="020B0604020202020204" pitchFamily="34" charset="0"/>
                <a:cs typeface="Arial" panose="020B0604020202020204" pitchFamily="34" charset="0"/>
              </a:rPr>
              <a:t>formato </a:t>
            </a:r>
            <a:r>
              <a:rPr sz="3200" spc="-65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320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70" dirty="0">
                <a:latin typeface="Arial" panose="020B0604020202020204" pitchFamily="34" charset="0"/>
                <a:cs typeface="Arial" panose="020B0604020202020204" pitchFamily="34" charset="0"/>
              </a:rPr>
              <a:t>tabela 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sz="320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5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sz="32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3200" spc="-2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80" dirty="0" err="1">
                <a:latin typeface="Arial" panose="020B0604020202020204" pitchFamily="34" charset="0"/>
                <a:cs typeface="Arial" panose="020B0604020202020204" pitchFamily="34" charset="0"/>
              </a:rPr>
              <a:t>solução</a:t>
            </a:r>
            <a:r>
              <a:rPr sz="32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sugerida</a:t>
            </a:r>
            <a:r>
              <a:rPr lang="pt-BR"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700" marR="5080" indent="7620">
              <a:lnSpc>
                <a:spcPct val="90400"/>
              </a:lnSpc>
              <a:spcBef>
                <a:spcPts val="445"/>
              </a:spcBef>
            </a:pPr>
            <a:r>
              <a:rPr lang="pt-BR" sz="32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(V) </a:t>
            </a:r>
            <a:r>
              <a:rPr lang="pt-BR"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– Traga a verdade, apenas fatos reais </a:t>
            </a:r>
          </a:p>
          <a:p>
            <a:pPr marL="12700" marR="5080" indent="7620">
              <a:lnSpc>
                <a:spcPct val="90400"/>
              </a:lnSpc>
              <a:spcBef>
                <a:spcPts val="445"/>
              </a:spcBef>
            </a:pPr>
            <a:r>
              <a:rPr lang="pt-BR"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( leis e normas verificáveis) 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63950" y="9422341"/>
            <a:ext cx="13208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8128000" y="2362200"/>
            <a:ext cx="6248400" cy="1387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indent="980440" algn="ctr">
              <a:lnSpc>
                <a:spcPts val="4650"/>
              </a:lnSpc>
              <a:spcBef>
                <a:spcPts val="685"/>
              </a:spcBef>
            </a:pPr>
            <a:r>
              <a:rPr lang="pt-BR" sz="4000" spc="-10" dirty="0" smtClean="0">
                <a:solidFill>
                  <a:schemeClr val="tx1"/>
                </a:solidFill>
                <a:latin typeface="Cambria"/>
                <a:cs typeface="Cambria"/>
              </a:rPr>
              <a:t>Pedido</a:t>
            </a:r>
            <a:r>
              <a:rPr lang="pt-BR" sz="4000" spc="-204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4000" spc="95" dirty="0" smtClean="0">
                <a:solidFill>
                  <a:schemeClr val="tx1"/>
                </a:solidFill>
                <a:latin typeface="Cambria"/>
                <a:cs typeface="Cambria"/>
              </a:rPr>
              <a:t>PCTFV       </a:t>
            </a:r>
          </a:p>
          <a:p>
            <a:pPr marL="12700" marR="5080" indent="980440" algn="ctr">
              <a:lnSpc>
                <a:spcPts val="4650"/>
              </a:lnSpc>
              <a:spcBef>
                <a:spcPts val="685"/>
              </a:spcBef>
            </a:pPr>
            <a:r>
              <a:rPr lang="pt-BR" sz="4000" spc="-35" dirty="0" smtClean="0">
                <a:solidFill>
                  <a:srgbClr val="002060"/>
                </a:solidFill>
                <a:latin typeface="Cambria"/>
                <a:cs typeface="Cambria"/>
              </a:rPr>
              <a:t>(Resultados</a:t>
            </a:r>
            <a:r>
              <a:rPr lang="pt-BR" sz="4000" spc="-160" dirty="0" smtClean="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lang="pt-BR" sz="4000" spc="-160" dirty="0" smtClean="0">
                <a:solidFill>
                  <a:srgbClr val="FF0000"/>
                </a:solidFill>
                <a:latin typeface="Cambria"/>
                <a:cs typeface="Cambria"/>
              </a:rPr>
              <a:t>+</a:t>
            </a:r>
            <a:r>
              <a:rPr lang="pt-BR" sz="4000" spc="-160" dirty="0" smtClean="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lang="pt-BR" sz="4000" spc="-45" dirty="0" smtClean="0">
                <a:solidFill>
                  <a:srgbClr val="002060"/>
                </a:solidFill>
                <a:latin typeface="Cambria"/>
                <a:cs typeface="Cambria"/>
              </a:rPr>
              <a:t>Precisos)</a:t>
            </a:r>
            <a:endParaRPr lang="pt-BR" sz="4000" dirty="0">
              <a:solidFill>
                <a:srgbClr val="002060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7600" y="2054225"/>
            <a:ext cx="7391400" cy="5753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5681" y="836436"/>
            <a:ext cx="8495030" cy="1672589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26670" marR="5080" indent="-14604">
              <a:lnSpc>
                <a:spcPts val="6050"/>
              </a:lnSpc>
              <a:spcBef>
                <a:spcPts val="1019"/>
              </a:spcBef>
            </a:pPr>
            <a:r>
              <a:rPr sz="5750" dirty="0">
                <a:latin typeface="Times New Roman"/>
                <a:cs typeface="Times New Roman"/>
              </a:rPr>
              <a:t>Aplicando</a:t>
            </a:r>
            <a:r>
              <a:rPr sz="5750" spc="-70" dirty="0">
                <a:latin typeface="Times New Roman"/>
                <a:cs typeface="Times New Roman"/>
              </a:rPr>
              <a:t> </a:t>
            </a:r>
            <a:r>
              <a:rPr sz="5750" spc="125" dirty="0">
                <a:latin typeface="Times New Roman"/>
                <a:cs typeface="Times New Roman"/>
              </a:rPr>
              <a:t>a</a:t>
            </a:r>
            <a:r>
              <a:rPr sz="5750" spc="-190" dirty="0">
                <a:latin typeface="Times New Roman"/>
                <a:cs typeface="Times New Roman"/>
              </a:rPr>
              <a:t> </a:t>
            </a:r>
            <a:r>
              <a:rPr sz="5750" dirty="0">
                <a:latin typeface="Times New Roman"/>
                <a:cs typeface="Times New Roman"/>
              </a:rPr>
              <a:t>Fórmula</a:t>
            </a:r>
            <a:r>
              <a:rPr sz="5750" spc="254" dirty="0">
                <a:latin typeface="Times New Roman"/>
                <a:cs typeface="Times New Roman"/>
              </a:rPr>
              <a:t> </a:t>
            </a:r>
            <a:r>
              <a:rPr sz="5750" spc="-385" dirty="0">
                <a:latin typeface="Times New Roman"/>
                <a:cs typeface="Times New Roman"/>
              </a:rPr>
              <a:t>PCTFV </a:t>
            </a:r>
            <a:r>
              <a:rPr sz="5750" spc="155" dirty="0">
                <a:latin typeface="Times New Roman"/>
                <a:cs typeface="Times New Roman"/>
              </a:rPr>
              <a:t>na</a:t>
            </a:r>
            <a:r>
              <a:rPr sz="5750" spc="-165" dirty="0">
                <a:latin typeface="Times New Roman"/>
                <a:cs typeface="Times New Roman"/>
              </a:rPr>
              <a:t> </a:t>
            </a:r>
            <a:r>
              <a:rPr sz="5750" spc="105" dirty="0">
                <a:latin typeface="Times New Roman"/>
                <a:cs typeface="Times New Roman"/>
              </a:rPr>
              <a:t>Prática</a:t>
            </a:r>
            <a:r>
              <a:rPr sz="5750" spc="-30" dirty="0">
                <a:latin typeface="Times New Roman"/>
                <a:cs typeface="Times New Roman"/>
              </a:rPr>
              <a:t> </a:t>
            </a:r>
            <a:r>
              <a:rPr sz="5750" spc="70" dirty="0">
                <a:latin typeface="Times New Roman"/>
                <a:cs typeface="Times New Roman"/>
              </a:rPr>
              <a:t>Jurídica</a:t>
            </a:r>
            <a:endParaRPr sz="5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5681" y="2667000"/>
            <a:ext cx="6176645" cy="4263347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indent="1905">
              <a:lnSpc>
                <a:spcPct val="88700"/>
              </a:lnSpc>
              <a:spcBef>
                <a:spcPts val="605"/>
              </a:spcBef>
            </a:pPr>
            <a:r>
              <a:rPr sz="3750" spc="-275" dirty="0">
                <a:latin typeface="Calibri"/>
                <a:cs typeface="Calibri"/>
              </a:rPr>
              <a:t>Vamos</a:t>
            </a:r>
            <a:r>
              <a:rPr sz="3750" spc="-45" dirty="0">
                <a:latin typeface="Calibri"/>
                <a:cs typeface="Calibri"/>
              </a:rPr>
              <a:t> </a:t>
            </a:r>
            <a:r>
              <a:rPr sz="3750" spc="-204" dirty="0">
                <a:latin typeface="Calibri"/>
                <a:cs typeface="Calibri"/>
              </a:rPr>
              <a:t>analisar</a:t>
            </a:r>
            <a:r>
              <a:rPr sz="3750" spc="-45" dirty="0">
                <a:latin typeface="Calibri"/>
                <a:cs typeface="Calibri"/>
              </a:rPr>
              <a:t> </a:t>
            </a:r>
            <a:r>
              <a:rPr sz="3750" spc="-325" dirty="0">
                <a:latin typeface="Calibri"/>
                <a:cs typeface="Calibri"/>
              </a:rPr>
              <a:t>como</a:t>
            </a:r>
            <a:r>
              <a:rPr sz="3750" spc="-65" dirty="0">
                <a:latin typeface="Calibri"/>
                <a:cs typeface="Calibri"/>
              </a:rPr>
              <a:t> </a:t>
            </a:r>
            <a:r>
              <a:rPr sz="3750" spc="-135" dirty="0">
                <a:latin typeface="Calibri"/>
                <a:cs typeface="Calibri"/>
              </a:rPr>
              <a:t>a</a:t>
            </a:r>
            <a:r>
              <a:rPr sz="3750" spc="-430" dirty="0">
                <a:latin typeface="Calibri"/>
                <a:cs typeface="Calibri"/>
              </a:rPr>
              <a:t> </a:t>
            </a:r>
            <a:r>
              <a:rPr sz="3750" spc="-55" dirty="0">
                <a:latin typeface="Calibri"/>
                <a:cs typeface="Calibri"/>
              </a:rPr>
              <a:t>estrutura </a:t>
            </a:r>
            <a:r>
              <a:rPr sz="3750" dirty="0" smtClean="0">
                <a:latin typeface="Calibri"/>
                <a:cs typeface="Calibri"/>
              </a:rPr>
              <a:t>PCTFV</a:t>
            </a:r>
            <a:r>
              <a:rPr lang="pt-BR" sz="3750" dirty="0" smtClean="0">
                <a:latin typeface="Calibri"/>
                <a:cs typeface="Calibri"/>
              </a:rPr>
              <a:t> </a:t>
            </a:r>
            <a:r>
              <a:rPr sz="3750" dirty="0" smtClean="0">
                <a:latin typeface="Calibri"/>
                <a:cs typeface="Calibri"/>
              </a:rPr>
              <a:t>se</a:t>
            </a:r>
            <a:r>
              <a:rPr sz="3750" spc="-10" dirty="0" smtClean="0">
                <a:latin typeface="Calibri"/>
                <a:cs typeface="Calibri"/>
              </a:rPr>
              <a:t> </a:t>
            </a:r>
            <a:r>
              <a:rPr sz="3750" spc="-200" dirty="0">
                <a:latin typeface="Calibri"/>
                <a:cs typeface="Calibri"/>
              </a:rPr>
              <a:t>aplica</a:t>
            </a:r>
            <a:r>
              <a:rPr sz="3750" spc="-95" dirty="0">
                <a:latin typeface="Calibri"/>
                <a:cs typeface="Calibri"/>
              </a:rPr>
              <a:t> </a:t>
            </a:r>
            <a:r>
              <a:rPr sz="3750" spc="-135" dirty="0">
                <a:latin typeface="Calibri"/>
                <a:cs typeface="Calibri"/>
              </a:rPr>
              <a:t>a</a:t>
            </a:r>
            <a:r>
              <a:rPr sz="3750" spc="-405" dirty="0">
                <a:latin typeface="Calibri"/>
                <a:cs typeface="Calibri"/>
              </a:rPr>
              <a:t> </a:t>
            </a:r>
            <a:r>
              <a:rPr sz="3750" spc="-105" dirty="0" smtClean="0">
                <a:latin typeface="Calibri"/>
                <a:cs typeface="Calibri"/>
              </a:rPr>
              <a:t>cenários</a:t>
            </a:r>
            <a:r>
              <a:rPr lang="pt-BR" sz="3750" spc="-105" dirty="0" smtClean="0">
                <a:latin typeface="Calibri"/>
                <a:cs typeface="Calibri"/>
              </a:rPr>
              <a:t> </a:t>
            </a:r>
            <a:r>
              <a:rPr sz="3750" spc="-105" dirty="0" err="1" smtClean="0">
                <a:latin typeface="Calibri"/>
                <a:cs typeface="Calibri"/>
              </a:rPr>
              <a:t>jurídicos</a:t>
            </a:r>
            <a:r>
              <a:rPr sz="3750" spc="-105" dirty="0" smtClean="0">
                <a:latin typeface="Calibri"/>
                <a:cs typeface="Calibri"/>
              </a:rPr>
              <a:t> </a:t>
            </a:r>
            <a:r>
              <a:rPr sz="3750" spc="-250" dirty="0">
                <a:latin typeface="Calibri"/>
                <a:cs typeface="Calibri"/>
              </a:rPr>
              <a:t>complexos.</a:t>
            </a:r>
            <a:r>
              <a:rPr sz="3750" spc="-155" dirty="0">
                <a:latin typeface="Calibri"/>
                <a:cs typeface="Calibri"/>
              </a:rPr>
              <a:t> </a:t>
            </a:r>
            <a:endParaRPr lang="pt-BR" sz="3750" spc="-155" dirty="0" smtClean="0">
              <a:latin typeface="Calibri"/>
              <a:cs typeface="Calibri"/>
            </a:endParaRPr>
          </a:p>
          <a:p>
            <a:pPr marL="12700" marR="5080" indent="1905">
              <a:lnSpc>
                <a:spcPct val="88700"/>
              </a:lnSpc>
              <a:spcBef>
                <a:spcPts val="605"/>
              </a:spcBef>
            </a:pPr>
            <a:r>
              <a:rPr sz="3750" spc="-70" dirty="0" smtClean="0">
                <a:latin typeface="Calibri"/>
                <a:cs typeface="Calibri"/>
              </a:rPr>
              <a:t>Os</a:t>
            </a:r>
            <a:r>
              <a:rPr sz="3750" spc="-290" dirty="0" smtClean="0">
                <a:latin typeface="Calibri"/>
                <a:cs typeface="Calibri"/>
              </a:rPr>
              <a:t> </a:t>
            </a:r>
            <a:r>
              <a:rPr sz="3750" spc="-265" dirty="0">
                <a:latin typeface="Calibri"/>
                <a:cs typeface="Calibri"/>
              </a:rPr>
              <a:t>exemplos</a:t>
            </a:r>
            <a:r>
              <a:rPr sz="3750" spc="10" dirty="0">
                <a:latin typeface="Calibri"/>
                <a:cs typeface="Calibri"/>
              </a:rPr>
              <a:t> </a:t>
            </a:r>
            <a:r>
              <a:rPr sz="3750" spc="-135" dirty="0">
                <a:latin typeface="Calibri"/>
                <a:cs typeface="Calibri"/>
              </a:rPr>
              <a:t>a</a:t>
            </a:r>
            <a:r>
              <a:rPr sz="3750" spc="-30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seguir </a:t>
            </a:r>
            <a:r>
              <a:rPr sz="3750" spc="-280" dirty="0">
                <a:latin typeface="Calibri"/>
                <a:cs typeface="Calibri"/>
              </a:rPr>
              <a:t>demonstram</a:t>
            </a:r>
            <a:r>
              <a:rPr sz="3750" spc="-55" dirty="0">
                <a:latin typeface="Calibri"/>
                <a:cs typeface="Calibri"/>
              </a:rPr>
              <a:t> </a:t>
            </a:r>
            <a:r>
              <a:rPr sz="3750" spc="-285" dirty="0">
                <a:latin typeface="Calibri"/>
                <a:cs typeface="Calibri"/>
              </a:rPr>
              <a:t>como</a:t>
            </a:r>
            <a:r>
              <a:rPr sz="3750" spc="-254" dirty="0">
                <a:latin typeface="Calibri"/>
                <a:cs typeface="Calibri"/>
              </a:rPr>
              <a:t> </a:t>
            </a:r>
            <a:r>
              <a:rPr sz="3750" spc="-45" dirty="0">
                <a:latin typeface="Calibri"/>
                <a:cs typeface="Calibri"/>
              </a:rPr>
              <a:t>construir </a:t>
            </a:r>
            <a:r>
              <a:rPr sz="3750" spc="-250" dirty="0">
                <a:latin typeface="Calibri"/>
                <a:cs typeface="Calibri"/>
              </a:rPr>
              <a:t>prompts</a:t>
            </a:r>
            <a:r>
              <a:rPr sz="3750" spc="-85" dirty="0">
                <a:latin typeface="Calibri"/>
                <a:cs typeface="Calibri"/>
              </a:rPr>
              <a:t> </a:t>
            </a:r>
            <a:r>
              <a:rPr sz="3750" spc="-215" dirty="0">
                <a:latin typeface="Calibri"/>
                <a:cs typeface="Calibri"/>
              </a:rPr>
              <a:t>robustos</a:t>
            </a:r>
            <a:r>
              <a:rPr sz="3750" spc="30" dirty="0">
                <a:latin typeface="Calibri"/>
                <a:cs typeface="Calibri"/>
              </a:rPr>
              <a:t> </a:t>
            </a:r>
            <a:r>
              <a:rPr sz="3750" spc="-195" dirty="0">
                <a:latin typeface="Calibri"/>
                <a:cs typeface="Calibri"/>
              </a:rPr>
              <a:t>para</a:t>
            </a:r>
            <a:r>
              <a:rPr sz="3750" spc="-300" dirty="0">
                <a:latin typeface="Calibri"/>
                <a:cs typeface="Calibri"/>
              </a:rPr>
              <a:t> </a:t>
            </a:r>
            <a:r>
              <a:rPr sz="3750" spc="-210" dirty="0">
                <a:latin typeface="Calibri"/>
                <a:cs typeface="Calibri"/>
              </a:rPr>
              <a:t>pesquisa</a:t>
            </a:r>
            <a:r>
              <a:rPr sz="3750" spc="-85" dirty="0">
                <a:latin typeface="Calibri"/>
                <a:cs typeface="Calibri"/>
              </a:rPr>
              <a:t> </a:t>
            </a:r>
            <a:r>
              <a:rPr sz="3750" spc="-25" dirty="0">
                <a:latin typeface="Calibri"/>
                <a:cs typeface="Calibri"/>
              </a:rPr>
              <a:t>de </a:t>
            </a:r>
            <a:r>
              <a:rPr sz="3750" spc="-180" dirty="0">
                <a:latin typeface="Calibri"/>
                <a:cs typeface="Calibri"/>
              </a:rPr>
              <a:t>jurisprudência,</a:t>
            </a:r>
            <a:r>
              <a:rPr sz="3750" spc="-290" dirty="0">
                <a:latin typeface="Calibri"/>
                <a:cs typeface="Calibri"/>
              </a:rPr>
              <a:t> </a:t>
            </a:r>
            <a:r>
              <a:rPr sz="3750" spc="-190" dirty="0">
                <a:latin typeface="Calibri"/>
                <a:cs typeface="Calibri"/>
              </a:rPr>
              <a:t>análise</a:t>
            </a:r>
            <a:r>
              <a:rPr sz="3750" spc="-130" dirty="0">
                <a:latin typeface="Calibri"/>
                <a:cs typeface="Calibri"/>
              </a:rPr>
              <a:t> </a:t>
            </a:r>
            <a:r>
              <a:rPr sz="3750" spc="-220" dirty="0">
                <a:latin typeface="Calibri"/>
                <a:cs typeface="Calibri"/>
              </a:rPr>
              <a:t>de</a:t>
            </a:r>
            <a:r>
              <a:rPr sz="3750" spc="-240" dirty="0">
                <a:latin typeface="Calibri"/>
                <a:cs typeface="Calibri"/>
              </a:rPr>
              <a:t> </a:t>
            </a:r>
            <a:r>
              <a:rPr sz="3750" spc="-20" dirty="0">
                <a:latin typeface="Calibri"/>
                <a:cs typeface="Calibri"/>
              </a:rPr>
              <a:t>caso </a:t>
            </a:r>
            <a:r>
              <a:rPr sz="3750" spc="-170" dirty="0">
                <a:latin typeface="Calibri"/>
                <a:cs typeface="Calibri"/>
              </a:rPr>
              <a:t>previdenciários</a:t>
            </a:r>
            <a:r>
              <a:rPr sz="3750" spc="-350" dirty="0">
                <a:latin typeface="Calibri"/>
                <a:cs typeface="Calibri"/>
              </a:rPr>
              <a:t> </a:t>
            </a:r>
            <a:r>
              <a:rPr sz="3750" spc="-65" dirty="0">
                <a:latin typeface="Calibri"/>
                <a:cs typeface="Calibri"/>
              </a:rPr>
              <a:t>e</a:t>
            </a:r>
            <a:r>
              <a:rPr sz="3750" spc="-315" dirty="0">
                <a:latin typeface="Calibri"/>
                <a:cs typeface="Calibri"/>
              </a:rPr>
              <a:t> </a:t>
            </a:r>
            <a:r>
              <a:rPr sz="3750" spc="-225" dirty="0">
                <a:latin typeface="Calibri"/>
                <a:cs typeface="Calibri"/>
              </a:rPr>
              <a:t>elaboração</a:t>
            </a:r>
            <a:r>
              <a:rPr sz="3750" spc="-80" dirty="0">
                <a:latin typeface="Calibri"/>
                <a:cs typeface="Calibri"/>
              </a:rPr>
              <a:t> </a:t>
            </a:r>
            <a:r>
              <a:rPr sz="3750" spc="-25" dirty="0">
                <a:latin typeface="Calibri"/>
                <a:cs typeface="Calibri"/>
              </a:rPr>
              <a:t>de </a:t>
            </a:r>
            <a:r>
              <a:rPr sz="3750" spc="-220" dirty="0">
                <a:latin typeface="Calibri"/>
                <a:cs typeface="Calibri"/>
              </a:rPr>
              <a:t>peças</a:t>
            </a:r>
            <a:r>
              <a:rPr sz="3750" spc="-30" dirty="0">
                <a:latin typeface="Calibri"/>
                <a:cs typeface="Calibri"/>
              </a:rPr>
              <a:t> </a:t>
            </a:r>
            <a:r>
              <a:rPr sz="3750" spc="-105" dirty="0">
                <a:latin typeface="Calibri"/>
                <a:cs typeface="Calibri"/>
              </a:rPr>
              <a:t>trabalhistas.</a:t>
            </a:r>
            <a:endParaRPr sz="375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551885" y="-11005"/>
            <a:ext cx="8495399" cy="1569803"/>
          </a:xfrm>
          <a:prstGeom prst="rect">
            <a:avLst/>
          </a:prstGeom>
        </p:spPr>
        <p:txBody>
          <a:bodyPr vert="horz" wrap="square" lIns="0" tIns="691021" rIns="0" bIns="0" rtlCol="0">
            <a:spAutoFit/>
          </a:bodyPr>
          <a:lstStyle/>
          <a:p>
            <a:pPr marL="556895" marR="5080" indent="-156210" algn="ctr">
              <a:lnSpc>
                <a:spcPts val="6800"/>
              </a:lnSpc>
              <a:spcBef>
                <a:spcPts val="1255"/>
              </a:spcBef>
            </a:pPr>
            <a:r>
              <a:rPr sz="4400" spc="-400" dirty="0"/>
              <a:t>Aplicação</a:t>
            </a:r>
            <a:r>
              <a:rPr sz="4400" spc="215" dirty="0"/>
              <a:t> </a:t>
            </a:r>
            <a:r>
              <a:rPr sz="4400" spc="-330" dirty="0"/>
              <a:t>Prática:</a:t>
            </a:r>
            <a:r>
              <a:rPr sz="4400" dirty="0"/>
              <a:t> </a:t>
            </a:r>
            <a:r>
              <a:rPr sz="4400" spc="-390" dirty="0"/>
              <a:t>Análise</a:t>
            </a:r>
            <a:r>
              <a:rPr sz="4400" spc="155" dirty="0"/>
              <a:t> </a:t>
            </a:r>
            <a:r>
              <a:rPr sz="4400" spc="-350" dirty="0"/>
              <a:t>de</a:t>
            </a:r>
            <a:r>
              <a:rPr sz="4400" spc="-145" dirty="0"/>
              <a:t> </a:t>
            </a:r>
            <a:r>
              <a:rPr sz="4400" spc="-270" dirty="0" smtClean="0"/>
              <a:t>Caso</a:t>
            </a:r>
            <a:r>
              <a:rPr lang="pt-BR" sz="4400" spc="-270" dirty="0" smtClean="0"/>
              <a:t> 1 </a:t>
            </a:r>
            <a:r>
              <a:rPr sz="4400" spc="-275" dirty="0" smtClean="0"/>
              <a:t> </a:t>
            </a:r>
            <a:endParaRPr sz="4400" dirty="0"/>
          </a:p>
        </p:txBody>
      </p:sp>
      <p:sp>
        <p:nvSpPr>
          <p:cNvPr id="27" name="Retângulo 26"/>
          <p:cNvSpPr/>
          <p:nvPr/>
        </p:nvSpPr>
        <p:spPr>
          <a:xfrm>
            <a:off x="1131137" y="1828800"/>
            <a:ext cx="2675840" cy="6086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8755" algn="ctr">
              <a:lnSpc>
                <a:spcPct val="100000"/>
              </a:lnSpc>
            </a:pPr>
            <a:endParaRPr lang="pt-BR" sz="2400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4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7021037" y="1828800"/>
            <a:ext cx="2839964" cy="6074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970" algn="ctr">
              <a:lnSpc>
                <a:spcPct val="100000"/>
              </a:lnSpc>
              <a:spcBef>
                <a:spcPts val="1210"/>
              </a:spcBef>
              <a:tabLst>
                <a:tab pos="661670" algn="l"/>
              </a:tabLst>
            </a:pPr>
            <a:endParaRPr lang="pt-BR" sz="2400" spc="30" dirty="0" smtClean="0">
              <a:solidFill>
                <a:srgbClr val="446B64"/>
              </a:solidFill>
              <a:latin typeface="Cambria"/>
              <a:cs typeface="Cambria"/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3991192" y="1841500"/>
            <a:ext cx="2905202" cy="6074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8755" algn="ctr">
              <a:lnSpc>
                <a:spcPct val="100000"/>
              </a:lnSpc>
            </a:pPr>
            <a:endParaRPr lang="pt-BR" sz="2400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400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 smtClean="0">
              <a:solidFill>
                <a:schemeClr val="tx1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 smtClean="0">
              <a:solidFill>
                <a:schemeClr val="tx1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-20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9971561" y="1828800"/>
            <a:ext cx="3103499" cy="6086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9390" algn="ctr">
              <a:lnSpc>
                <a:spcPct val="100000"/>
              </a:lnSpc>
            </a:pPr>
            <a:endParaRPr lang="pt-BR" sz="2400" dirty="0" smtClean="0">
              <a:solidFill>
                <a:srgbClr val="7259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9390" algn="ctr">
              <a:lnSpc>
                <a:spcPct val="100000"/>
              </a:lnSpc>
            </a:pPr>
            <a:endParaRPr lang="pt-BR" sz="2400" dirty="0">
              <a:solidFill>
                <a:srgbClr val="7259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9390" algn="ctr">
              <a:lnSpc>
                <a:spcPct val="100000"/>
              </a:lnSpc>
            </a:pPr>
            <a:endParaRPr lang="pt-BR" sz="2400" dirty="0" smtClean="0">
              <a:solidFill>
                <a:srgbClr val="7259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13257483" y="1803400"/>
            <a:ext cx="2947717" cy="6074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1615" algn="ctr">
              <a:lnSpc>
                <a:spcPct val="100000"/>
              </a:lnSpc>
            </a:pPr>
            <a:endParaRPr lang="pt-BR" sz="2400" dirty="0" smtClean="0">
              <a:solidFill>
                <a:srgbClr val="873A4D"/>
              </a:solidFill>
              <a:latin typeface="Cambria"/>
              <a:cs typeface="Cambria"/>
            </a:endParaRPr>
          </a:p>
        </p:txBody>
      </p:sp>
      <p:pic>
        <p:nvPicPr>
          <p:cNvPr id="3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127" y="1955800"/>
            <a:ext cx="999110" cy="817888"/>
          </a:xfrm>
          <a:prstGeom prst="rect">
            <a:avLst/>
          </a:prstGeom>
        </p:spPr>
      </p:pic>
      <p:pic>
        <p:nvPicPr>
          <p:cNvPr id="33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4128" y="1943099"/>
            <a:ext cx="876300" cy="990600"/>
          </a:xfrm>
          <a:prstGeom prst="rect">
            <a:avLst/>
          </a:prstGeom>
        </p:spPr>
      </p:pic>
      <p:pic>
        <p:nvPicPr>
          <p:cNvPr id="3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4350" y="1930400"/>
            <a:ext cx="876300" cy="990600"/>
          </a:xfrm>
          <a:prstGeom prst="rect">
            <a:avLst/>
          </a:prstGeom>
        </p:spPr>
      </p:pic>
      <p:pic>
        <p:nvPicPr>
          <p:cNvPr id="3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16380" y="1930400"/>
            <a:ext cx="965200" cy="977900"/>
          </a:xfrm>
          <a:prstGeom prst="rect">
            <a:avLst/>
          </a:prstGeom>
        </p:spPr>
      </p:pic>
      <p:pic>
        <p:nvPicPr>
          <p:cNvPr id="3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18092" y="1892300"/>
            <a:ext cx="876300" cy="990600"/>
          </a:xfrm>
          <a:prstGeom prst="rect">
            <a:avLst/>
          </a:prstGeom>
        </p:spPr>
      </p:pic>
      <p:sp>
        <p:nvSpPr>
          <p:cNvPr id="37" name="Retângulo 36"/>
          <p:cNvSpPr/>
          <p:nvPr/>
        </p:nvSpPr>
        <p:spPr>
          <a:xfrm>
            <a:off x="3976288" y="3460323"/>
            <a:ext cx="2796762" cy="412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indent="8255">
              <a:lnSpc>
                <a:spcPct val="90800"/>
              </a:lnSpc>
              <a:spcBef>
                <a:spcPts val="365"/>
              </a:spcBef>
            </a:pPr>
            <a:r>
              <a:rPr lang="pt-BR" sz="2400" spc="-65" dirty="0" smtClean="0">
                <a:latin typeface="Arial" panose="020B0604020202020204" pitchFamily="34" charset="0"/>
                <a:cs typeface="Arial" panose="020B0604020202020204" pitchFamily="34" charset="0"/>
              </a:rPr>
              <a:t>Você</a:t>
            </a:r>
            <a:r>
              <a:rPr lang="pt-BR" sz="2400" spc="-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75" dirty="0" smtClean="0">
                <a:latin typeface="Arial" panose="020B0604020202020204" pitchFamily="34" charset="0"/>
                <a:cs typeface="Arial" panose="020B0604020202020204" pitchFamily="34" charset="0"/>
              </a:rPr>
              <a:t>precisa</a:t>
            </a:r>
            <a:r>
              <a:rPr lang="pt-BR" sz="2400" spc="-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pt-BR" sz="2400" spc="-16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existe</a:t>
            </a:r>
            <a:r>
              <a:rPr lang="pt-BR" sz="2400" spc="-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jurisprudência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consolidada</a:t>
            </a:r>
            <a:r>
              <a:rPr lang="pt-BR" sz="2400" spc="-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45" dirty="0" smtClean="0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lang="pt-BR" sz="2400" spc="-9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possibilidade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de</a:t>
            </a:r>
            <a:r>
              <a:rPr lang="pt-BR" sz="2400" spc="-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prisão prisão</a:t>
            </a: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civil</a:t>
            </a: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dívida </a:t>
            </a: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alimentar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pt-BR" sz="2400" spc="-1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inadimplência </a:t>
            </a:r>
            <a:r>
              <a:rPr lang="pt-BR" sz="2400" spc="-40" dirty="0" smtClean="0">
                <a:latin typeface="Arial" panose="020B0604020202020204" pitchFamily="34" charset="0"/>
                <a:cs typeface="Arial" panose="020B0604020202020204" pitchFamily="34" charset="0"/>
              </a:rPr>
              <a:t>reiterada,</a:t>
            </a:r>
            <a:r>
              <a:rPr lang="pt-BR" sz="2400" spc="-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2400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pt-BR" sz="2400" spc="-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em </a:t>
            </a:r>
            <a:r>
              <a:rPr lang="pt-BR" sz="2400" spc="-40" dirty="0" smtClean="0">
                <a:latin typeface="Arial" panose="020B0604020202020204" pitchFamily="34" charset="0"/>
                <a:cs typeface="Arial" panose="020B0604020202020204" pitchFamily="34" charset="0"/>
              </a:rPr>
              <a:t>decisões</a:t>
            </a:r>
            <a:r>
              <a:rPr lang="pt-BR" sz="2400" spc="-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dos</a:t>
            </a:r>
            <a:r>
              <a:rPr lang="pt-BR" sz="2400" spc="-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últimos</a:t>
            </a:r>
            <a:r>
              <a:rPr lang="pt-BR" sz="2400" spc="-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anos.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4090717" y="2773688"/>
            <a:ext cx="24000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55" algn="ctr">
              <a:lnSpc>
                <a:spcPct val="100000"/>
              </a:lnSpc>
            </a:pPr>
            <a:r>
              <a:rPr lang="pt-BR" sz="2800" b="1" spc="8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</a:t>
            </a:r>
            <a:r>
              <a:rPr lang="pt-BR" sz="2800" b="1" spc="-9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pt-BR" sz="2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–</a:t>
            </a:r>
            <a:r>
              <a:rPr lang="pt-BR" sz="2800" b="1" spc="155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pt-BR" sz="2800" b="1" spc="-2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Contexto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1027434" y="3415758"/>
            <a:ext cx="2908478" cy="3904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0025" marR="168275" indent="8255">
              <a:lnSpc>
                <a:spcPct val="86000"/>
              </a:lnSpc>
              <a:spcBef>
                <a:spcPts val="1275"/>
              </a:spcBef>
            </a:pPr>
            <a:r>
              <a:rPr lang="pt-BR" sz="2400" spc="-90" dirty="0" smtClean="0">
                <a:latin typeface="Arial" panose="020B0604020202020204" pitchFamily="34" charset="0"/>
                <a:cs typeface="Arial" panose="020B0604020202020204" pitchFamily="34" charset="0"/>
              </a:rPr>
              <a:t>Você</a:t>
            </a:r>
            <a:r>
              <a:rPr lang="pt-BR" sz="2400" spc="-12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pt-BR" sz="2400" spc="-155" dirty="0" smtClean="0">
                <a:latin typeface="Arial" panose="020B0604020202020204" pitchFamily="34" charset="0"/>
                <a:cs typeface="Arial" panose="020B0604020202020204" pitchFamily="34" charset="0"/>
              </a:rPr>
              <a:t> um</a:t>
            </a:r>
            <a:r>
              <a:rPr lang="pt-BR" sz="2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advogado </a:t>
            </a:r>
            <a:r>
              <a:rPr lang="pt-BR" sz="2400" spc="-95" dirty="0" smtClean="0">
                <a:latin typeface="Arial" panose="020B0604020202020204" pitchFamily="34" charset="0"/>
                <a:cs typeface="Arial" panose="020B0604020202020204" pitchFamily="34" charset="0"/>
              </a:rPr>
              <a:t>civilista e criminalista.</a:t>
            </a:r>
            <a:r>
              <a:rPr lang="pt-BR" sz="2400" spc="-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29" dirty="0" smtClean="0">
                <a:latin typeface="Arial" panose="020B0604020202020204" pitchFamily="34" charset="0"/>
                <a:cs typeface="Arial" panose="020B0604020202020204" pitchFamily="34" charset="0"/>
              </a:rPr>
              <a:t>Com </a:t>
            </a:r>
            <a:r>
              <a:rPr lang="pt-BR" sz="2400" spc="-120" dirty="0" smtClean="0">
                <a:latin typeface="Arial" panose="020B0604020202020204" pitchFamily="34" charset="0"/>
                <a:cs typeface="Arial" panose="020B0604020202020204" pitchFamily="34" charset="0"/>
              </a:rPr>
              <a:t>mestrado</a:t>
            </a:r>
            <a:r>
              <a:rPr lang="pt-BR" sz="2400" spc="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14" dirty="0" smtClean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sz="2400" spc="-1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Direito </a:t>
            </a:r>
            <a:r>
              <a:rPr lang="pt-BR" sz="2400" spc="-60" dirty="0" smtClean="0">
                <a:latin typeface="Arial" panose="020B0604020202020204" pitchFamily="34" charset="0"/>
                <a:cs typeface="Arial" panose="020B0604020202020204" pitchFamily="34" charset="0"/>
              </a:rPr>
              <a:t>Processual</a:t>
            </a:r>
            <a:r>
              <a:rPr lang="pt-BR" sz="24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experiência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em </a:t>
            </a:r>
            <a:r>
              <a:rPr lang="pt-BR" sz="2400" spc="-90" dirty="0" smtClean="0">
                <a:latin typeface="Arial" panose="020B0604020202020204" pitchFamily="34" charset="0"/>
                <a:cs typeface="Arial" panose="020B0604020202020204" pitchFamily="34" charset="0"/>
              </a:rPr>
              <a:t>pesquisa</a:t>
            </a:r>
            <a:r>
              <a:rPr lang="pt-BR" sz="24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400" spc="-55" dirty="0" smtClean="0">
                <a:latin typeface="Arial" panose="020B0604020202020204" pitchFamily="34" charset="0"/>
                <a:cs typeface="Arial" panose="020B0604020202020204" pitchFamily="34" charset="0"/>
              </a:rPr>
              <a:t>jurisprudência no</a:t>
            </a:r>
            <a:r>
              <a:rPr lang="pt-BR" sz="24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STF, </a:t>
            </a:r>
            <a:r>
              <a:rPr lang="pt-BR" sz="2400" spc="60" dirty="0" smtClean="0">
                <a:latin typeface="Arial" panose="020B0604020202020204" pitchFamily="34" charset="0"/>
                <a:cs typeface="Arial" panose="020B0604020202020204" pitchFamily="34" charset="0"/>
              </a:rPr>
              <a:t>STJ</a:t>
            </a:r>
            <a:r>
              <a:rPr lang="pt-BR" sz="2400" spc="-17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5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2400" spc="-2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Tribunais Regionais.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1277663" y="2773687"/>
            <a:ext cx="1875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55" algn="ctr">
              <a:lnSpc>
                <a:spcPct val="100000"/>
              </a:lnSpc>
            </a:pPr>
            <a:r>
              <a:rPr lang="pt-BR" sz="2800" b="1" spc="80" dirty="0" smtClean="0">
                <a:solidFill>
                  <a:srgbClr val="33485D"/>
                </a:solidFill>
                <a:latin typeface="Cambria"/>
                <a:cs typeface="Cambria"/>
              </a:rPr>
              <a:t>P</a:t>
            </a:r>
            <a:r>
              <a:rPr lang="pt-BR" sz="2800" b="1" spc="-90" dirty="0" smtClean="0">
                <a:solidFill>
                  <a:srgbClr val="33485D"/>
                </a:solidFill>
                <a:latin typeface="Cambria"/>
                <a:cs typeface="Cambria"/>
              </a:rPr>
              <a:t> </a:t>
            </a:r>
            <a:r>
              <a:rPr lang="pt-BR" sz="2800" b="1" dirty="0" smtClean="0">
                <a:solidFill>
                  <a:srgbClr val="2F2F2F"/>
                </a:solidFill>
                <a:latin typeface="Cambria"/>
                <a:cs typeface="Cambria"/>
              </a:rPr>
              <a:t>–</a:t>
            </a:r>
            <a:r>
              <a:rPr lang="pt-BR" sz="2800" b="1" spc="155" dirty="0" smtClean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lang="pt-BR" sz="2800" b="1" spc="-20" dirty="0" smtClean="0">
                <a:solidFill>
                  <a:srgbClr val="3A4F64"/>
                </a:solidFill>
                <a:latin typeface="Cambria"/>
                <a:cs typeface="Cambria"/>
              </a:rPr>
              <a:t>Papel</a:t>
            </a:r>
          </a:p>
        </p:txBody>
      </p:sp>
      <p:sp>
        <p:nvSpPr>
          <p:cNvPr id="41" name="Retângulo 40"/>
          <p:cNvSpPr/>
          <p:nvPr/>
        </p:nvSpPr>
        <p:spPr>
          <a:xfrm>
            <a:off x="7711470" y="2908299"/>
            <a:ext cx="1569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210"/>
              </a:spcBef>
              <a:tabLst>
                <a:tab pos="661670" algn="l"/>
              </a:tabLst>
            </a:pPr>
            <a:r>
              <a:rPr lang="pt-BR" sz="2800" b="1" spc="30" dirty="0" smtClean="0">
                <a:solidFill>
                  <a:schemeClr val="tx1"/>
                </a:solidFill>
                <a:latin typeface="Cambria"/>
                <a:cs typeface="Cambria"/>
              </a:rPr>
              <a:t>T-</a:t>
            </a:r>
            <a:r>
              <a:rPr lang="pt-BR" sz="2800" b="1" spc="-95" dirty="0" smtClean="0">
                <a:solidFill>
                  <a:schemeClr val="tx1"/>
                </a:solidFill>
                <a:latin typeface="Cambria"/>
                <a:cs typeface="Cambria"/>
              </a:rPr>
              <a:t>Tarefa</a:t>
            </a:r>
            <a:endParaRPr lang="pt-BR" sz="28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6839376" y="3504520"/>
            <a:ext cx="3218286" cy="4178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4945" marR="81915" indent="6350">
              <a:lnSpc>
                <a:spcPct val="86600"/>
              </a:lnSpc>
              <a:spcBef>
                <a:spcPts val="1260"/>
              </a:spcBef>
            </a:pP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Liste</a:t>
            </a:r>
            <a:r>
              <a:rPr lang="pt-BR" sz="2400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80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BR" sz="2400" spc="-25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acórdãos </a:t>
            </a: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relevantes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 (STF,</a:t>
            </a:r>
            <a:r>
              <a:rPr lang="pt-BR" sz="2400" spc="-1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STJ</a:t>
            </a:r>
            <a:r>
              <a:rPr lang="pt-BR" sz="2400" spc="25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ou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TRFs)</a:t>
            </a:r>
            <a:r>
              <a:rPr lang="pt-BR" sz="24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24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ementas 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completas.</a:t>
            </a:r>
            <a:r>
              <a:rPr lang="pt-BR" sz="2400" spc="-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Indique</a:t>
            </a:r>
            <a:r>
              <a:rPr lang="pt-BR" sz="2400" spc="-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orientação </a:t>
            </a:r>
            <a:r>
              <a:rPr lang="pt-BR" sz="2400" spc="-55" dirty="0" smtClean="0">
                <a:latin typeface="Arial" panose="020B0604020202020204" pitchFamily="34" charset="0"/>
                <a:cs typeface="Arial" panose="020B0604020202020204" pitchFamily="34" charset="0"/>
              </a:rPr>
              <a:t>predominante.</a:t>
            </a:r>
            <a:r>
              <a:rPr lang="pt-BR" sz="24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Cite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artigos</a:t>
            </a:r>
            <a:r>
              <a:rPr lang="pt-BR" sz="2400" spc="-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400" spc="-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lei</a:t>
            </a:r>
            <a:r>
              <a:rPr lang="pt-BR" sz="2400" spc="-6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súmulas.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Classifique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400" spc="-2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risco jurídico (alto/médio/baixo).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2565">
              <a:lnSpc>
                <a:spcPts val="1830"/>
              </a:lnSpc>
            </a:pP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Inclua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0660">
              <a:lnSpc>
                <a:spcPts val="2490"/>
              </a:lnSpc>
            </a:pP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completas.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tângulo 42"/>
          <p:cNvSpPr/>
          <p:nvPr/>
        </p:nvSpPr>
        <p:spPr>
          <a:xfrm>
            <a:off x="10169870" y="2946400"/>
            <a:ext cx="22047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9390" algn="ctr">
              <a:lnSpc>
                <a:spcPct val="100000"/>
              </a:lnSpc>
            </a:pPr>
            <a:r>
              <a:rPr lang="pt-BR" sz="2800" b="1" dirty="0" smtClean="0">
                <a:solidFill>
                  <a:schemeClr val="tx1"/>
                </a:solidFill>
                <a:latin typeface="Cambria"/>
                <a:cs typeface="Cambria"/>
              </a:rPr>
              <a:t>F</a:t>
            </a:r>
            <a:r>
              <a:rPr lang="pt-BR" sz="2800" b="1" spc="-70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800" b="1" dirty="0" smtClean="0">
                <a:solidFill>
                  <a:schemeClr val="tx1"/>
                </a:solidFill>
                <a:latin typeface="Cambria"/>
                <a:cs typeface="Cambria"/>
              </a:rPr>
              <a:t>-</a:t>
            </a:r>
            <a:r>
              <a:rPr lang="pt-BR" sz="2800" b="1" spc="215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800" b="1" spc="-100" dirty="0" smtClean="0">
                <a:solidFill>
                  <a:schemeClr val="tx1"/>
                </a:solidFill>
                <a:latin typeface="Cambria"/>
                <a:cs typeface="Cambria"/>
              </a:rPr>
              <a:t>Formato</a:t>
            </a:r>
            <a:endParaRPr lang="pt-BR" sz="28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4" name="Retângulo 43"/>
          <p:cNvSpPr/>
          <p:nvPr/>
        </p:nvSpPr>
        <p:spPr>
          <a:xfrm>
            <a:off x="13418207" y="2908299"/>
            <a:ext cx="22551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1615" algn="ctr">
              <a:lnSpc>
                <a:spcPct val="100000"/>
              </a:lnSpc>
            </a:pPr>
            <a:r>
              <a:rPr lang="pt-BR" sz="2800" b="1" dirty="0" smtClean="0">
                <a:solidFill>
                  <a:schemeClr val="tx1"/>
                </a:solidFill>
                <a:latin typeface="Cambria"/>
                <a:cs typeface="Cambria"/>
              </a:rPr>
              <a:t>V</a:t>
            </a:r>
            <a:r>
              <a:rPr lang="pt-BR" sz="2800" b="1" spc="5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800" b="1" dirty="0" smtClean="0">
                <a:solidFill>
                  <a:schemeClr val="tx1"/>
                </a:solidFill>
                <a:latin typeface="Cambria"/>
                <a:cs typeface="Cambria"/>
              </a:rPr>
              <a:t>-</a:t>
            </a:r>
            <a:r>
              <a:rPr lang="pt-BR" sz="2800" b="1" spc="220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800" b="1" spc="-190" dirty="0" smtClean="0">
                <a:solidFill>
                  <a:schemeClr val="tx1"/>
                </a:solidFill>
                <a:latin typeface="Cambria"/>
                <a:cs typeface="Cambria"/>
              </a:rPr>
              <a:t>Ver</a:t>
            </a:r>
            <a:r>
              <a:rPr lang="pt-BR" sz="2800" b="1" spc="-20" dirty="0" smtClean="0">
                <a:solidFill>
                  <a:schemeClr val="tx1"/>
                </a:solidFill>
                <a:latin typeface="Cambria"/>
                <a:cs typeface="Cambria"/>
              </a:rPr>
              <a:t>dade</a:t>
            </a:r>
            <a:endParaRPr lang="pt-BR" sz="28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5" name="Retângulo 44"/>
          <p:cNvSpPr/>
          <p:nvPr/>
        </p:nvSpPr>
        <p:spPr>
          <a:xfrm>
            <a:off x="9861001" y="4282597"/>
            <a:ext cx="333015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0025" marR="251460">
              <a:lnSpc>
                <a:spcPct val="85000"/>
              </a:lnSpc>
              <a:spcBef>
                <a:spcPts val="1220"/>
              </a:spcBef>
            </a:pPr>
            <a:r>
              <a:rPr lang="pt-BR" sz="2400" spc="-114" dirty="0" smtClean="0">
                <a:latin typeface="Arial" panose="020B0604020202020204" pitchFamily="34" charset="0"/>
                <a:cs typeface="Arial" panose="020B0604020202020204" pitchFamily="34" charset="0"/>
              </a:rPr>
              <a:t>Resposta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29" dirty="0" smtClean="0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sz="2400" spc="-1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tópicos </a:t>
            </a:r>
            <a:r>
              <a:rPr lang="pt-BR" sz="2400" spc="-145" dirty="0" smtClean="0">
                <a:latin typeface="Arial" panose="020B0604020202020204" pitchFamily="34" charset="0"/>
                <a:cs typeface="Arial" panose="020B0604020202020204" pitchFamily="34" charset="0"/>
              </a:rPr>
              <a:t>numerados.</a:t>
            </a:r>
            <a:r>
              <a:rPr lang="pt-BR" sz="2400" spc="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com </a:t>
            </a:r>
            <a:r>
              <a:rPr lang="pt-BR" sz="2400" spc="-95" dirty="0" smtClean="0">
                <a:latin typeface="Arial" panose="020B0604020202020204" pitchFamily="34" charset="0"/>
                <a:cs typeface="Arial" panose="020B0604020202020204" pitchFamily="34" charset="0"/>
              </a:rPr>
              <a:t>citações</a:t>
            </a:r>
            <a:r>
              <a:rPr lang="pt-BR" sz="24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entre</a:t>
            </a:r>
            <a:r>
              <a:rPr lang="pt-BR" sz="2400" spc="-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aspas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2400" spc="-55" dirty="0" smtClean="0">
                <a:latin typeface="Arial" panose="020B0604020202020204" pitchFamily="34" charset="0"/>
                <a:cs typeface="Arial" panose="020B0604020202020204" pitchFamily="34" charset="0"/>
              </a:rPr>
              <a:t>links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90" dirty="0" smtClean="0">
                <a:latin typeface="Arial" panose="020B0604020202020204" pitchFamily="34" charset="0"/>
                <a:cs typeface="Arial" panose="020B0604020202020204" pitchFamily="34" charset="0"/>
              </a:rPr>
              <a:t>públicos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 quando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disponíveis.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tângulo 45"/>
          <p:cNvSpPr/>
          <p:nvPr/>
        </p:nvSpPr>
        <p:spPr>
          <a:xfrm>
            <a:off x="13072684" y="3476796"/>
            <a:ext cx="3155540" cy="4413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7804" marR="177800" indent="3175">
              <a:lnSpc>
                <a:spcPct val="90300"/>
              </a:lnSpc>
              <a:spcBef>
                <a:spcPts val="1245"/>
              </a:spcBef>
            </a:pP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Apresente</a:t>
            </a:r>
            <a:r>
              <a:rPr lang="pt-BR" sz="2400" spc="-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apenas</a:t>
            </a:r>
            <a:r>
              <a:rPr lang="pt-BR" sz="2400" spc="-9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400" spc="-105" dirty="0" smtClean="0">
                <a:latin typeface="Arial" panose="020B0604020202020204" pitchFamily="34" charset="0"/>
                <a:cs typeface="Arial" panose="020B0604020202020204" pitchFamily="34" charset="0"/>
              </a:rPr>
              <a:t>verdade.</a:t>
            </a:r>
            <a:r>
              <a:rPr lang="pt-BR" sz="2400" spc="-8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85" dirty="0" smtClean="0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invente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leis,</a:t>
            </a:r>
            <a:r>
              <a:rPr lang="pt-BR" sz="2400" spc="-1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decretos, jurisprudências, </a:t>
            </a:r>
            <a:r>
              <a:rPr lang="pt-BR" sz="2400" spc="-45" dirty="0" smtClean="0">
                <a:latin typeface="Arial" panose="020B0604020202020204" pitchFamily="34" charset="0"/>
                <a:cs typeface="Arial" panose="020B0604020202020204" pitchFamily="34" charset="0"/>
              </a:rPr>
              <a:t>súmulas</a:t>
            </a:r>
            <a:r>
              <a:rPr lang="pt-BR" sz="2400" spc="-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70" dirty="0" smtClean="0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pt-BR" sz="24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decisões.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pt-BR" sz="2400" spc="-2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lang="pt-BR" sz="2400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houver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fonte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pública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2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verdadeira, 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diga</a:t>
            </a:r>
            <a:r>
              <a:rPr lang="pt-BR" sz="2400" spc="-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'não</a:t>
            </a:r>
            <a:r>
              <a:rPr lang="pt-BR" sz="2400" spc="-6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há</a:t>
            </a:r>
            <a:r>
              <a:rPr lang="pt-BR" sz="2400" spc="-1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registro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disponível'</a:t>
            </a:r>
            <a:r>
              <a:rPr lang="pt-BR" sz="24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Nunca</a:t>
            </a:r>
            <a:r>
              <a:rPr lang="pt-BR" sz="24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crie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informações.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089312" y="-58608"/>
            <a:ext cx="8909548" cy="1569803"/>
          </a:xfrm>
          <a:prstGeom prst="rect">
            <a:avLst/>
          </a:prstGeom>
        </p:spPr>
        <p:txBody>
          <a:bodyPr vert="horz" wrap="square" lIns="0" tIns="691021" rIns="0" bIns="0" rtlCol="0">
            <a:spAutoFit/>
          </a:bodyPr>
          <a:lstStyle/>
          <a:p>
            <a:pPr marL="556895" marR="5080" indent="-156210" algn="ctr">
              <a:lnSpc>
                <a:spcPts val="6800"/>
              </a:lnSpc>
              <a:spcBef>
                <a:spcPts val="1255"/>
              </a:spcBef>
            </a:pPr>
            <a:r>
              <a:rPr sz="4400" spc="-400" dirty="0"/>
              <a:t>Aplicação</a:t>
            </a:r>
            <a:r>
              <a:rPr sz="4400" spc="215" dirty="0"/>
              <a:t> </a:t>
            </a:r>
            <a:r>
              <a:rPr sz="4400" spc="-330" dirty="0"/>
              <a:t>Prática:</a:t>
            </a:r>
            <a:r>
              <a:rPr sz="4400" dirty="0"/>
              <a:t> </a:t>
            </a:r>
            <a:r>
              <a:rPr sz="4400" spc="-390" dirty="0"/>
              <a:t>Análise</a:t>
            </a:r>
            <a:r>
              <a:rPr sz="4400" spc="155" dirty="0"/>
              <a:t> </a:t>
            </a:r>
            <a:r>
              <a:rPr sz="4400" spc="-350" dirty="0"/>
              <a:t>de</a:t>
            </a:r>
            <a:r>
              <a:rPr sz="4400" spc="-145" dirty="0"/>
              <a:t> </a:t>
            </a:r>
            <a:r>
              <a:rPr sz="4400" spc="-270" dirty="0" smtClean="0"/>
              <a:t>Caso</a:t>
            </a:r>
            <a:r>
              <a:rPr lang="pt-BR" sz="4400" spc="-270" dirty="0" smtClean="0"/>
              <a:t> 2</a:t>
            </a:r>
            <a:endParaRPr sz="4400" dirty="0"/>
          </a:p>
        </p:txBody>
      </p:sp>
      <p:sp>
        <p:nvSpPr>
          <p:cNvPr id="27" name="Retângulo 26"/>
          <p:cNvSpPr/>
          <p:nvPr/>
        </p:nvSpPr>
        <p:spPr>
          <a:xfrm>
            <a:off x="1131137" y="1828800"/>
            <a:ext cx="2675840" cy="6086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8755" algn="ctr">
              <a:lnSpc>
                <a:spcPct val="100000"/>
              </a:lnSpc>
            </a:pPr>
            <a:endParaRPr lang="pt-BR" sz="2400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4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7021037" y="1828800"/>
            <a:ext cx="2839964" cy="6074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970" algn="ctr">
              <a:lnSpc>
                <a:spcPct val="100000"/>
              </a:lnSpc>
              <a:spcBef>
                <a:spcPts val="1210"/>
              </a:spcBef>
              <a:tabLst>
                <a:tab pos="661670" algn="l"/>
              </a:tabLst>
            </a:pPr>
            <a:endParaRPr lang="pt-BR" sz="2400" spc="30" dirty="0" smtClean="0">
              <a:solidFill>
                <a:srgbClr val="446B64"/>
              </a:solidFill>
              <a:latin typeface="Cambria"/>
              <a:cs typeface="Cambria"/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3991192" y="1841500"/>
            <a:ext cx="2905202" cy="6074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8755" algn="ctr">
              <a:lnSpc>
                <a:spcPct val="100000"/>
              </a:lnSpc>
            </a:pPr>
            <a:endParaRPr lang="pt-BR" sz="2400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400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 smtClean="0">
              <a:solidFill>
                <a:schemeClr val="tx1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 smtClean="0">
              <a:solidFill>
                <a:schemeClr val="tx1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-20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9971561" y="1828800"/>
            <a:ext cx="3103499" cy="6086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9390" algn="ctr">
              <a:lnSpc>
                <a:spcPct val="100000"/>
              </a:lnSpc>
            </a:pPr>
            <a:endParaRPr lang="pt-BR" sz="2400" dirty="0" smtClean="0">
              <a:solidFill>
                <a:srgbClr val="725964"/>
              </a:solidFill>
              <a:latin typeface="Cambria"/>
              <a:cs typeface="Cambria"/>
            </a:endParaRPr>
          </a:p>
          <a:p>
            <a:pPr marL="199390" algn="ctr">
              <a:lnSpc>
                <a:spcPct val="100000"/>
              </a:lnSpc>
            </a:pPr>
            <a:endParaRPr lang="pt-BR" sz="2400" dirty="0">
              <a:solidFill>
                <a:srgbClr val="725964"/>
              </a:solidFill>
              <a:latin typeface="Cambria"/>
              <a:cs typeface="Cambria"/>
            </a:endParaRPr>
          </a:p>
          <a:p>
            <a:pPr marL="199390" algn="ctr">
              <a:lnSpc>
                <a:spcPct val="100000"/>
              </a:lnSpc>
            </a:pPr>
            <a:endParaRPr lang="pt-BR" sz="2400" dirty="0" smtClean="0">
              <a:solidFill>
                <a:srgbClr val="725964"/>
              </a:solidFill>
              <a:latin typeface="Cambria"/>
              <a:cs typeface="Cambria"/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13257483" y="1803400"/>
            <a:ext cx="2947717" cy="6074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1615" algn="ctr">
              <a:lnSpc>
                <a:spcPct val="100000"/>
              </a:lnSpc>
            </a:pPr>
            <a:endParaRPr lang="pt-BR" sz="2400" dirty="0" smtClean="0">
              <a:solidFill>
                <a:srgbClr val="873A4D"/>
              </a:solidFill>
              <a:latin typeface="Cambria"/>
              <a:cs typeface="Cambria"/>
            </a:endParaRPr>
          </a:p>
        </p:txBody>
      </p:sp>
      <p:pic>
        <p:nvPicPr>
          <p:cNvPr id="3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127" y="1955800"/>
            <a:ext cx="1003300" cy="863600"/>
          </a:xfrm>
          <a:prstGeom prst="rect">
            <a:avLst/>
          </a:prstGeom>
        </p:spPr>
      </p:pic>
      <p:pic>
        <p:nvPicPr>
          <p:cNvPr id="33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4128" y="1943099"/>
            <a:ext cx="876300" cy="990600"/>
          </a:xfrm>
          <a:prstGeom prst="rect">
            <a:avLst/>
          </a:prstGeom>
        </p:spPr>
      </p:pic>
      <p:pic>
        <p:nvPicPr>
          <p:cNvPr id="3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4350" y="1930400"/>
            <a:ext cx="876300" cy="990600"/>
          </a:xfrm>
          <a:prstGeom prst="rect">
            <a:avLst/>
          </a:prstGeom>
        </p:spPr>
      </p:pic>
      <p:pic>
        <p:nvPicPr>
          <p:cNvPr id="3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16380" y="1930400"/>
            <a:ext cx="965200" cy="977900"/>
          </a:xfrm>
          <a:prstGeom prst="rect">
            <a:avLst/>
          </a:prstGeom>
        </p:spPr>
      </p:pic>
      <p:pic>
        <p:nvPicPr>
          <p:cNvPr id="3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18092" y="1892300"/>
            <a:ext cx="876300" cy="990600"/>
          </a:xfrm>
          <a:prstGeom prst="rect">
            <a:avLst/>
          </a:prstGeom>
        </p:spPr>
      </p:pic>
      <p:sp>
        <p:nvSpPr>
          <p:cNvPr id="37" name="Retângulo 36"/>
          <p:cNvSpPr/>
          <p:nvPr/>
        </p:nvSpPr>
        <p:spPr>
          <a:xfrm>
            <a:off x="3778639" y="3836760"/>
            <a:ext cx="317493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8755"/>
            <a:r>
              <a:rPr lang="pt-BR" sz="2400" spc="-15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r>
              <a:rPr lang="pt-BR" sz="2400" spc="-10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2400" spc="-23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sexo </a:t>
            </a:r>
            <a:r>
              <a:rPr lang="pt-BR" sz="2400" spc="-204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feminino,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6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</a:t>
            </a:r>
            <a:r>
              <a:rPr lang="pt-BR" sz="2400" spc="-7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9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anos,</a:t>
            </a:r>
            <a:r>
              <a:rPr lang="pt-BR" sz="2400" spc="-9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7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</a:t>
            </a:r>
            <a:r>
              <a:rPr lang="pt-BR" sz="2400" spc="-17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anos</a:t>
            </a:r>
            <a:r>
              <a:rPr lang="pt-BR" sz="2400" spc="-1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9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400" spc="-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35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contribuiçáo</a:t>
            </a:r>
            <a:r>
              <a:rPr lang="pt-BR" sz="2400" spc="-13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recebeu </a:t>
            </a:r>
            <a:r>
              <a:rPr lang="pt-BR" sz="2400" spc="-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indeferimento </a:t>
            </a:r>
            <a:r>
              <a:rPr lang="pt-BR" sz="2400" spc="-5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administrativo </a:t>
            </a:r>
            <a:r>
              <a:rPr lang="pt-BR" sz="2400" spc="-1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alegando</a:t>
            </a:r>
            <a:r>
              <a:rPr lang="pt-BR" sz="2400" spc="-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falta</a:t>
            </a:r>
            <a:r>
              <a:rPr lang="pt-BR" sz="2400" spc="-25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4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400" spc="-10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pt-BR" sz="2400" spc="-7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dias</a:t>
            </a:r>
            <a:r>
              <a:rPr lang="pt-BR" sz="2400" spc="-17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400" spc="-2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carência.</a:t>
            </a:r>
            <a:endParaRPr lang="pt-BR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4262673" y="2921000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55" algn="ctr">
              <a:lnSpc>
                <a:spcPct val="100000"/>
              </a:lnSpc>
            </a:pPr>
            <a:r>
              <a:rPr lang="pt-BR" sz="2400" b="1" spc="8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</a:t>
            </a:r>
            <a:r>
              <a:rPr lang="pt-BR" sz="2400" b="1" spc="-9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pt-BR" sz="24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–</a:t>
            </a:r>
            <a:r>
              <a:rPr lang="pt-BR" sz="2400" b="1" spc="155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pt-BR" sz="2400" b="1" spc="-2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Contexto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1057799" y="3984493"/>
            <a:ext cx="2908478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9865" marR="194310" indent="5080">
              <a:lnSpc>
                <a:spcPct val="79700"/>
              </a:lnSpc>
              <a:spcBef>
                <a:spcPts val="1240"/>
              </a:spcBef>
            </a:pPr>
            <a:r>
              <a:rPr lang="pt-BR" sz="2400" spc="-21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Você</a:t>
            </a:r>
            <a:r>
              <a:rPr lang="pt-BR" sz="2400" spc="-204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3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pt-BR" sz="2400" spc="-31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14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advogado </a:t>
            </a:r>
            <a:r>
              <a:rPr lang="pt-BR" sz="2400" spc="-8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previdenciário</a:t>
            </a:r>
            <a:r>
              <a:rPr lang="pt-BR" sz="2400" spc="-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</a:t>
            </a:r>
            <a:r>
              <a:rPr lang="pt-B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pt-BR" sz="2400" spc="-2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anos</a:t>
            </a:r>
            <a:r>
              <a:rPr lang="pt-BR" sz="2400" spc="-17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400" spc="-114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experiência</a:t>
            </a:r>
            <a:r>
              <a:rPr lang="pt-BR" sz="2400" spc="6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</a:t>
            </a:r>
            <a:r>
              <a:rPr lang="pt-BR" sz="2400" spc="-1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concessão</a:t>
            </a:r>
            <a:r>
              <a:rPr lang="pt-BR" sz="2400" spc="-9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400" spc="-1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aposentadoria</a:t>
            </a:r>
            <a:r>
              <a:rPr lang="pt-BR" sz="2400" spc="-6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pt-BR" sz="2400" spc="-19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pt-BR" sz="2400" spc="-1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contribuição</a:t>
            </a:r>
            <a:r>
              <a:rPr lang="pt-BR" sz="2400" spc="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9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perante </a:t>
            </a:r>
            <a:r>
              <a:rPr lang="pt-BR" sz="2400" spc="-3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400" spc="-254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INSS.</a:t>
            </a:r>
            <a:endParaRPr lang="pt-BR" sz="24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1314864" y="2933699"/>
            <a:ext cx="16655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55" algn="ctr">
              <a:lnSpc>
                <a:spcPct val="100000"/>
              </a:lnSpc>
            </a:pPr>
            <a:r>
              <a:rPr lang="pt-BR" sz="2400" b="1" spc="80" dirty="0" smtClean="0">
                <a:solidFill>
                  <a:srgbClr val="33485D"/>
                </a:solidFill>
                <a:latin typeface="Cambria"/>
                <a:cs typeface="Cambria"/>
              </a:rPr>
              <a:t>P</a:t>
            </a:r>
            <a:r>
              <a:rPr lang="pt-BR" sz="2400" b="1" spc="-90" dirty="0" smtClean="0">
                <a:solidFill>
                  <a:srgbClr val="33485D"/>
                </a:solidFill>
                <a:latin typeface="Cambria"/>
                <a:cs typeface="Cambria"/>
              </a:rPr>
              <a:t> </a:t>
            </a:r>
            <a:r>
              <a:rPr lang="pt-BR" sz="2400" b="1" dirty="0" smtClean="0">
                <a:solidFill>
                  <a:srgbClr val="2F2F2F"/>
                </a:solidFill>
                <a:latin typeface="Cambria"/>
                <a:cs typeface="Cambria"/>
              </a:rPr>
              <a:t>–</a:t>
            </a:r>
            <a:r>
              <a:rPr lang="pt-BR" sz="2400" b="1" spc="155" dirty="0" smtClean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lang="pt-BR" sz="2400" b="1" spc="-20" dirty="0" smtClean="0">
                <a:solidFill>
                  <a:srgbClr val="3A4F64"/>
                </a:solidFill>
                <a:latin typeface="Cambria"/>
                <a:cs typeface="Cambria"/>
              </a:rPr>
              <a:t>Papel</a:t>
            </a:r>
          </a:p>
        </p:txBody>
      </p:sp>
      <p:sp>
        <p:nvSpPr>
          <p:cNvPr id="41" name="Retângulo 40"/>
          <p:cNvSpPr/>
          <p:nvPr/>
        </p:nvSpPr>
        <p:spPr>
          <a:xfrm>
            <a:off x="7811657" y="2908299"/>
            <a:ext cx="1369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210"/>
              </a:spcBef>
              <a:tabLst>
                <a:tab pos="661670" algn="l"/>
              </a:tabLst>
            </a:pPr>
            <a:r>
              <a:rPr lang="pt-BR" sz="2400" b="1" spc="30" dirty="0" smtClean="0">
                <a:solidFill>
                  <a:schemeClr val="tx1"/>
                </a:solidFill>
                <a:latin typeface="Cambria"/>
                <a:cs typeface="Cambria"/>
              </a:rPr>
              <a:t>T-</a:t>
            </a:r>
            <a:r>
              <a:rPr lang="pt-BR" sz="2400" b="1" spc="-95" dirty="0" smtClean="0">
                <a:solidFill>
                  <a:schemeClr val="tx1"/>
                </a:solidFill>
                <a:latin typeface="Cambria"/>
                <a:cs typeface="Cambria"/>
              </a:rPr>
              <a:t>Tarefa</a:t>
            </a:r>
            <a:endParaRPr lang="pt-BR" sz="24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7051321" y="3875595"/>
            <a:ext cx="2920240" cy="3226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 indent="10160" algn="l">
              <a:spcBef>
                <a:spcPts val="1400"/>
              </a:spcBef>
            </a:pPr>
            <a:r>
              <a:rPr lang="pt-BR" sz="2400" spc="-17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Confira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400" spc="-1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7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</a:t>
            </a:r>
            <a:r>
              <a:rPr lang="pt-BR" sz="2400" spc="-14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400" spc="-17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contribuição</a:t>
            </a:r>
            <a:r>
              <a:rPr lang="pt-BR" sz="2400" spc="1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pt-BR" sz="2400" spc="-1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aposentadoria.</a:t>
            </a:r>
            <a:r>
              <a:rPr lang="pt-BR" sz="2400" spc="-3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Liste </a:t>
            </a:r>
            <a:r>
              <a:rPr lang="pt-BR" sz="2400" spc="-14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cálculos</a:t>
            </a:r>
            <a:r>
              <a:rPr lang="pt-BR" sz="2400" spc="-7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exatos </a:t>
            </a:r>
            <a:r>
              <a:rPr lang="pt-BR" sz="2400" spc="-204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(somatória,</a:t>
            </a:r>
            <a:r>
              <a:rPr lang="pt-BR" sz="2400" spc="5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fator </a:t>
            </a:r>
            <a:r>
              <a:rPr lang="pt-BR" sz="2400" spc="-24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previdenciário,</a:t>
            </a:r>
            <a:r>
              <a:rPr lang="pt-BR" sz="2400" spc="-1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etc.). </a:t>
            </a:r>
          </a:p>
          <a:p>
            <a:pPr marR="5080" indent="10160" algn="l">
              <a:spcBef>
                <a:spcPts val="1400"/>
              </a:spcBef>
            </a:pPr>
            <a:r>
              <a:rPr lang="pt-BR" sz="2400" spc="-2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Indique</a:t>
            </a:r>
            <a:r>
              <a:rPr lang="pt-BR" sz="2400" spc="-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29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2400" spc="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</a:t>
            </a:r>
            <a:r>
              <a:rPr lang="pt-BR" sz="2400" spc="-6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</a:t>
            </a:r>
            <a:r>
              <a:rPr lang="pt-BR" sz="2400" spc="-13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renda</a:t>
            </a:r>
            <a:r>
              <a:rPr lang="pt-BR" sz="2400" spc="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mensal.</a:t>
            </a:r>
            <a:endParaRPr lang="pt-BR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tângulo 42"/>
          <p:cNvSpPr/>
          <p:nvPr/>
        </p:nvSpPr>
        <p:spPr>
          <a:xfrm>
            <a:off x="10303721" y="2946400"/>
            <a:ext cx="19370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9390" algn="ctr">
              <a:lnSpc>
                <a:spcPct val="100000"/>
              </a:lnSpc>
            </a:pPr>
            <a:r>
              <a:rPr lang="pt-BR" sz="2400" b="1" dirty="0" smtClean="0">
                <a:solidFill>
                  <a:schemeClr val="tx1"/>
                </a:solidFill>
                <a:latin typeface="Cambria"/>
                <a:cs typeface="Cambria"/>
              </a:rPr>
              <a:t>F</a:t>
            </a:r>
            <a:r>
              <a:rPr lang="pt-BR" sz="2400" b="1" spc="-70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400" b="1" dirty="0" smtClean="0">
                <a:solidFill>
                  <a:schemeClr val="tx1"/>
                </a:solidFill>
                <a:latin typeface="Cambria"/>
                <a:cs typeface="Cambria"/>
              </a:rPr>
              <a:t>-</a:t>
            </a:r>
            <a:r>
              <a:rPr lang="pt-BR" sz="2400" b="1" spc="215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400" b="1" spc="-100" dirty="0" smtClean="0">
                <a:solidFill>
                  <a:schemeClr val="tx1"/>
                </a:solidFill>
                <a:latin typeface="Cambria"/>
                <a:cs typeface="Cambria"/>
              </a:rPr>
              <a:t>Formato</a:t>
            </a:r>
            <a:endParaRPr lang="pt-BR" sz="24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4" name="Retângulo 43"/>
          <p:cNvSpPr/>
          <p:nvPr/>
        </p:nvSpPr>
        <p:spPr>
          <a:xfrm>
            <a:off x="13552058" y="2908299"/>
            <a:ext cx="198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1615" algn="ctr">
              <a:lnSpc>
                <a:spcPct val="100000"/>
              </a:lnSpc>
            </a:pPr>
            <a:r>
              <a:rPr lang="pt-BR" sz="2400" b="1" dirty="0" smtClean="0">
                <a:solidFill>
                  <a:schemeClr val="tx1"/>
                </a:solidFill>
                <a:latin typeface="Cambria"/>
                <a:cs typeface="Cambria"/>
              </a:rPr>
              <a:t>V</a:t>
            </a:r>
            <a:r>
              <a:rPr lang="pt-BR" sz="2400" b="1" spc="5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400" b="1" dirty="0" smtClean="0">
                <a:solidFill>
                  <a:schemeClr val="tx1"/>
                </a:solidFill>
                <a:latin typeface="Cambria"/>
                <a:cs typeface="Cambria"/>
              </a:rPr>
              <a:t>-</a:t>
            </a:r>
            <a:r>
              <a:rPr lang="pt-BR" sz="2400" b="1" spc="220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400" b="1" spc="-190" dirty="0" smtClean="0">
                <a:solidFill>
                  <a:schemeClr val="tx1"/>
                </a:solidFill>
                <a:latin typeface="Cambria"/>
                <a:cs typeface="Cambria"/>
              </a:rPr>
              <a:t>Ver</a:t>
            </a:r>
            <a:r>
              <a:rPr lang="pt-BR" sz="2400" b="1" spc="-20" dirty="0" smtClean="0">
                <a:solidFill>
                  <a:schemeClr val="tx1"/>
                </a:solidFill>
                <a:latin typeface="Cambria"/>
                <a:cs typeface="Cambria"/>
              </a:rPr>
              <a:t>dade</a:t>
            </a:r>
            <a:endParaRPr lang="pt-BR" sz="24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5" name="Retângulo 44"/>
          <p:cNvSpPr/>
          <p:nvPr/>
        </p:nvSpPr>
        <p:spPr>
          <a:xfrm>
            <a:off x="13075060" y="3456528"/>
            <a:ext cx="3427233" cy="4334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1454" marR="448309" algn="l">
              <a:spcBef>
                <a:spcPts val="1400"/>
              </a:spcBef>
            </a:pPr>
            <a:r>
              <a:rPr lang="pt-BR" sz="2400" spc="-9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Baseie-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pt-BR" sz="2400" spc="-9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exclusivamente</a:t>
            </a:r>
            <a:r>
              <a:rPr lang="pt-BR" sz="2400" spc="-30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</a:t>
            </a:r>
            <a:r>
              <a:rPr lang="pt-BR" sz="2400" spc="-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legislação</a:t>
            </a:r>
            <a:r>
              <a:rPr lang="pt-BR" sz="2400" spc="4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vigente </a:t>
            </a:r>
            <a:r>
              <a:rPr lang="pt-BR" sz="2400" spc="-1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(Lei</a:t>
            </a:r>
            <a:r>
              <a:rPr lang="pt-BR" sz="2400" spc="-7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8.213/91, 8.21291, Decreto 3.048/99 </a:t>
            </a:r>
          </a:p>
          <a:p>
            <a:pPr marL="211454" marR="448309" algn="l">
              <a:spcBef>
                <a:spcPts val="1400"/>
              </a:spcBef>
            </a:pPr>
            <a:r>
              <a:rPr lang="pt-BR" sz="2400" spc="-1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3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 </a:t>
            </a:r>
            <a:r>
              <a:rPr lang="pt-BR" sz="2400" spc="-114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103/2019),</a:t>
            </a:r>
            <a:r>
              <a:rPr lang="pt-BR" sz="2400" spc="-6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súmulas </a:t>
            </a:r>
            <a:r>
              <a:rPr lang="pt-BR" sz="2400" spc="-5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2400" spc="-2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decisões</a:t>
            </a:r>
            <a:r>
              <a:rPr lang="pt-BR" sz="2400" spc="-4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7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reais</a:t>
            </a:r>
            <a:r>
              <a:rPr lang="pt-BR" sz="2400" spc="-16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2400" spc="-6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</a:t>
            </a:r>
            <a:r>
              <a:rPr lang="pt-BR" sz="2400" spc="-4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400" spc="-21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</a:t>
            </a:r>
            <a:r>
              <a:rPr lang="pt-BR" sz="2400" spc="-6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5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2400" spc="-25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8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lang="pt-BR" sz="2400" spc="-3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7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oficial.</a:t>
            </a: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tângulo 45"/>
          <p:cNvSpPr/>
          <p:nvPr/>
        </p:nvSpPr>
        <p:spPr>
          <a:xfrm>
            <a:off x="9848301" y="4000500"/>
            <a:ext cx="3469208" cy="2644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7645" algn="l">
              <a:lnSpc>
                <a:spcPts val="2700"/>
              </a:lnSpc>
              <a:spcBef>
                <a:spcPts val="790"/>
              </a:spcBef>
            </a:pPr>
            <a:r>
              <a:rPr lang="pt-BR" sz="2400" spc="-17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Resposta</a:t>
            </a:r>
            <a:r>
              <a:rPr lang="pt-BR" sz="2400" spc="-6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pt-BR" sz="2400" spc="-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tópicos:</a:t>
            </a:r>
            <a:endParaRPr lang="pt-BR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9905" marR="790575" indent="-254000" algn="l">
              <a:lnSpc>
                <a:spcPts val="2400"/>
              </a:lnSpc>
              <a:spcBef>
                <a:spcPts val="280"/>
              </a:spcBef>
              <a:buSzPct val="96000"/>
              <a:buAutoNum type="arabicPeriod"/>
              <a:tabLst>
                <a:tab pos="556260" algn="l"/>
              </a:tabLst>
            </a:pPr>
            <a:r>
              <a:rPr lang="pt-BR" sz="2400" spc="-204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</a:t>
            </a:r>
            <a:r>
              <a:rPr lang="pt-BR" sz="24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	</a:t>
            </a:r>
            <a:r>
              <a:rPr lang="pt-BR" sz="2400" spc="-16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reconhecido;</a:t>
            </a:r>
            <a:endParaRPr lang="pt-BR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0380" indent="-254000" algn="l">
              <a:lnSpc>
                <a:spcPts val="2120"/>
              </a:lnSpc>
              <a:buSzPct val="96000"/>
              <a:buAutoNum type="arabicPeriod"/>
              <a:tabLst>
                <a:tab pos="500380" algn="l"/>
              </a:tabLst>
            </a:pPr>
            <a:r>
              <a:rPr lang="pt-BR" sz="2400" spc="-114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</a:t>
            </a:r>
            <a:r>
              <a:rPr lang="pt-BR" sz="2400" spc="1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endParaRPr lang="pt-BR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52450" algn="l">
              <a:lnSpc>
                <a:spcPts val="2380"/>
              </a:lnSpc>
            </a:pPr>
            <a:r>
              <a:rPr lang="pt-BR" sz="2400" spc="-6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carência,</a:t>
            </a:r>
            <a:endParaRPr lang="pt-BR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indent="-273050" algn="l">
              <a:lnSpc>
                <a:spcPts val="2540"/>
              </a:lnSpc>
              <a:buAutoNum type="arabicPeriod" startAt="3"/>
              <a:tabLst>
                <a:tab pos="548640" algn="l"/>
              </a:tabLst>
            </a:pPr>
            <a:r>
              <a:rPr lang="pt-BR" sz="2400" spc="-21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Cálculo</a:t>
            </a:r>
            <a:r>
              <a:rPr lang="pt-BR" sz="2400" spc="-1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31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pt-BR" sz="2400" spc="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RMI,</a:t>
            </a:r>
            <a:endParaRPr lang="pt-BR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56260" marR="1056005" indent="-278765" algn="l">
              <a:lnSpc>
                <a:spcPts val="2400"/>
              </a:lnSpc>
              <a:spcBef>
                <a:spcPts val="260"/>
              </a:spcBef>
              <a:buAutoNum type="arabicPeriod" startAt="3"/>
              <a:tabLst>
                <a:tab pos="556260" algn="l"/>
                <a:tab pos="561975" algn="l"/>
              </a:tabLst>
            </a:pPr>
            <a:r>
              <a:rPr lang="pt-BR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400" spc="-15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lang="pt-BR" sz="2400" spc="-10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3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400" spc="-35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recurso.</a:t>
            </a:r>
          </a:p>
        </p:txBody>
      </p:sp>
    </p:spTree>
    <p:extLst>
      <p:ext uri="{BB962C8B-B14F-4D97-AF65-F5344CB8AC3E}">
        <p14:creationId xmlns:p14="http://schemas.microsoft.com/office/powerpoint/2010/main" val="220429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350755" y="-96832"/>
            <a:ext cx="8719407" cy="1569803"/>
          </a:xfrm>
          <a:prstGeom prst="rect">
            <a:avLst/>
          </a:prstGeom>
        </p:spPr>
        <p:txBody>
          <a:bodyPr vert="horz" wrap="square" lIns="0" tIns="691021" rIns="0" bIns="0" rtlCol="0">
            <a:spAutoFit/>
          </a:bodyPr>
          <a:lstStyle/>
          <a:p>
            <a:pPr marL="556895" marR="5080" indent="-156210" algn="ctr">
              <a:lnSpc>
                <a:spcPts val="6800"/>
              </a:lnSpc>
              <a:spcBef>
                <a:spcPts val="1255"/>
              </a:spcBef>
            </a:pPr>
            <a:r>
              <a:rPr sz="4400" spc="-400" dirty="0"/>
              <a:t>Aplicação</a:t>
            </a:r>
            <a:r>
              <a:rPr sz="4400" spc="215" dirty="0"/>
              <a:t> </a:t>
            </a:r>
            <a:r>
              <a:rPr sz="4400" spc="-330" dirty="0"/>
              <a:t>Prática:</a:t>
            </a:r>
            <a:r>
              <a:rPr sz="4400" dirty="0"/>
              <a:t> </a:t>
            </a:r>
            <a:r>
              <a:rPr sz="4400" spc="-390" dirty="0"/>
              <a:t>Análise</a:t>
            </a:r>
            <a:r>
              <a:rPr sz="4400" spc="155" dirty="0"/>
              <a:t> </a:t>
            </a:r>
            <a:r>
              <a:rPr sz="4400" spc="-350" dirty="0"/>
              <a:t>de</a:t>
            </a:r>
            <a:r>
              <a:rPr sz="4400" spc="-145" dirty="0"/>
              <a:t> </a:t>
            </a:r>
            <a:r>
              <a:rPr sz="4400" spc="-270" dirty="0" smtClean="0"/>
              <a:t>Caso</a:t>
            </a:r>
            <a:r>
              <a:rPr lang="pt-BR" sz="4400" spc="-270" dirty="0" smtClean="0"/>
              <a:t> 3</a:t>
            </a:r>
            <a:endParaRPr sz="4400" dirty="0"/>
          </a:p>
        </p:txBody>
      </p:sp>
      <p:sp>
        <p:nvSpPr>
          <p:cNvPr id="27" name="Retângulo 26"/>
          <p:cNvSpPr/>
          <p:nvPr/>
        </p:nvSpPr>
        <p:spPr>
          <a:xfrm>
            <a:off x="1131137" y="1828800"/>
            <a:ext cx="2675840" cy="6086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8755" algn="ctr">
              <a:lnSpc>
                <a:spcPct val="100000"/>
              </a:lnSpc>
            </a:pPr>
            <a:endParaRPr lang="pt-BR" sz="2400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4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7021037" y="1828800"/>
            <a:ext cx="2839964" cy="6074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970" algn="ctr">
              <a:lnSpc>
                <a:spcPct val="100000"/>
              </a:lnSpc>
              <a:spcBef>
                <a:spcPts val="1210"/>
              </a:spcBef>
              <a:tabLst>
                <a:tab pos="661670" algn="l"/>
              </a:tabLst>
            </a:pPr>
            <a:endParaRPr lang="pt-BR" sz="2400" spc="30" dirty="0" smtClean="0">
              <a:solidFill>
                <a:srgbClr val="446B64"/>
              </a:solidFill>
              <a:latin typeface="Cambria"/>
              <a:cs typeface="Cambria"/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3991192" y="1841500"/>
            <a:ext cx="2905202" cy="6074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8755" algn="ctr">
              <a:lnSpc>
                <a:spcPct val="100000"/>
              </a:lnSpc>
            </a:pPr>
            <a:endParaRPr lang="pt-BR" sz="2400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400" spc="80" dirty="0" smtClean="0">
              <a:solidFill>
                <a:srgbClr val="33485D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 smtClean="0">
              <a:solidFill>
                <a:schemeClr val="tx1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80" dirty="0" smtClean="0">
              <a:solidFill>
                <a:schemeClr val="tx1"/>
              </a:solidFill>
              <a:latin typeface="Cambria"/>
              <a:cs typeface="Cambria"/>
            </a:endParaRPr>
          </a:p>
          <a:p>
            <a:pPr marL="198755" algn="ctr">
              <a:lnSpc>
                <a:spcPct val="100000"/>
              </a:lnSpc>
            </a:pPr>
            <a:endParaRPr lang="pt-BR" sz="2800" b="1" spc="-20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9971561" y="1762502"/>
            <a:ext cx="3103499" cy="60869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9390" algn="ctr">
              <a:lnSpc>
                <a:spcPct val="100000"/>
              </a:lnSpc>
            </a:pPr>
            <a:endParaRPr lang="pt-BR" sz="2400" dirty="0" smtClean="0">
              <a:solidFill>
                <a:srgbClr val="725964"/>
              </a:solidFill>
              <a:latin typeface="Cambria"/>
              <a:cs typeface="Cambria"/>
            </a:endParaRPr>
          </a:p>
          <a:p>
            <a:pPr marL="199390" algn="ctr">
              <a:lnSpc>
                <a:spcPct val="100000"/>
              </a:lnSpc>
            </a:pPr>
            <a:endParaRPr lang="pt-BR" sz="2400" dirty="0">
              <a:solidFill>
                <a:srgbClr val="725964"/>
              </a:solidFill>
              <a:latin typeface="Cambria"/>
              <a:cs typeface="Cambria"/>
            </a:endParaRPr>
          </a:p>
          <a:p>
            <a:pPr marL="199390" algn="ctr">
              <a:lnSpc>
                <a:spcPct val="100000"/>
              </a:lnSpc>
            </a:pPr>
            <a:endParaRPr lang="pt-BR" sz="2400" dirty="0" smtClean="0">
              <a:solidFill>
                <a:srgbClr val="725964"/>
              </a:solidFill>
              <a:latin typeface="Cambria"/>
              <a:cs typeface="Cambria"/>
            </a:endParaRP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13257483" y="1803400"/>
            <a:ext cx="2947717" cy="6074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1615" algn="ctr">
              <a:lnSpc>
                <a:spcPct val="100000"/>
              </a:lnSpc>
            </a:pPr>
            <a:endParaRPr lang="pt-BR" sz="2400" dirty="0" smtClean="0">
              <a:solidFill>
                <a:srgbClr val="873A4D"/>
              </a:solidFill>
              <a:latin typeface="Cambria"/>
              <a:cs typeface="Cambria"/>
            </a:endParaRPr>
          </a:p>
        </p:txBody>
      </p:sp>
      <p:pic>
        <p:nvPicPr>
          <p:cNvPr id="3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127" y="1955800"/>
            <a:ext cx="1003300" cy="863600"/>
          </a:xfrm>
          <a:prstGeom prst="rect">
            <a:avLst/>
          </a:prstGeom>
        </p:spPr>
      </p:pic>
      <p:pic>
        <p:nvPicPr>
          <p:cNvPr id="33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4128" y="1943099"/>
            <a:ext cx="876300" cy="990600"/>
          </a:xfrm>
          <a:prstGeom prst="rect">
            <a:avLst/>
          </a:prstGeom>
        </p:spPr>
      </p:pic>
      <p:pic>
        <p:nvPicPr>
          <p:cNvPr id="3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4350" y="1930400"/>
            <a:ext cx="876300" cy="990600"/>
          </a:xfrm>
          <a:prstGeom prst="rect">
            <a:avLst/>
          </a:prstGeom>
        </p:spPr>
      </p:pic>
      <p:pic>
        <p:nvPicPr>
          <p:cNvPr id="3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16380" y="1930400"/>
            <a:ext cx="965200" cy="977900"/>
          </a:xfrm>
          <a:prstGeom prst="rect">
            <a:avLst/>
          </a:prstGeom>
        </p:spPr>
      </p:pic>
      <p:pic>
        <p:nvPicPr>
          <p:cNvPr id="3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18092" y="1892300"/>
            <a:ext cx="876300" cy="990600"/>
          </a:xfrm>
          <a:prstGeom prst="rect">
            <a:avLst/>
          </a:prstGeom>
        </p:spPr>
      </p:pic>
      <p:sp>
        <p:nvSpPr>
          <p:cNvPr id="38" name="Retângulo 37"/>
          <p:cNvSpPr/>
          <p:nvPr/>
        </p:nvSpPr>
        <p:spPr>
          <a:xfrm>
            <a:off x="4262673" y="2921000"/>
            <a:ext cx="2109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55" algn="ctr">
              <a:lnSpc>
                <a:spcPct val="100000"/>
              </a:lnSpc>
            </a:pPr>
            <a:r>
              <a:rPr lang="pt-BR" sz="2400" b="1" spc="8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</a:t>
            </a:r>
            <a:r>
              <a:rPr lang="pt-BR" sz="2400" b="1" spc="-9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pt-BR" sz="24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–</a:t>
            </a:r>
            <a:r>
              <a:rPr lang="pt-BR" sz="2400" b="1" spc="155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pt-BR" sz="2400" b="1" spc="-2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Contexto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1020893" y="4239399"/>
            <a:ext cx="2859739" cy="2367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5580" marR="151765" indent="-635">
              <a:lnSpc>
                <a:spcPct val="76500"/>
              </a:lnSpc>
              <a:spcBef>
                <a:spcPts val="1350"/>
              </a:spcBef>
            </a:pPr>
            <a:r>
              <a:rPr lang="pt-BR" sz="2400" spc="-160" dirty="0" smtClean="0">
                <a:latin typeface="Arial" panose="020B0604020202020204" pitchFamily="34" charset="0"/>
                <a:cs typeface="Arial" panose="020B0604020202020204" pitchFamily="34" charset="0"/>
              </a:rPr>
              <a:t>Você</a:t>
            </a:r>
            <a:r>
              <a:rPr lang="pt-BR" sz="2400" spc="-1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55" dirty="0" smtClean="0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pt-BR" sz="2400" spc="-1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60" dirty="0" smtClean="0">
                <a:latin typeface="Arial" panose="020B0604020202020204" pitchFamily="34" charset="0"/>
                <a:cs typeface="Arial" panose="020B0604020202020204" pitchFamily="34" charset="0"/>
              </a:rPr>
              <a:t>advogado </a:t>
            </a:r>
            <a:r>
              <a:rPr lang="pt-BR" sz="2400" spc="-90" dirty="0" smtClean="0">
                <a:latin typeface="Arial" panose="020B0604020202020204" pitchFamily="34" charset="0"/>
                <a:cs typeface="Arial" panose="020B0604020202020204" pitchFamily="34" charset="0"/>
              </a:rPr>
              <a:t>trabalhista</a:t>
            </a: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30" dirty="0" smtClean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2400" spc="-9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pt-BR" sz="2400" spc="-95" dirty="0" smtClean="0">
                <a:latin typeface="Arial" panose="020B0604020202020204" pitchFamily="34" charset="0"/>
                <a:cs typeface="Arial" panose="020B0604020202020204" pitchFamily="34" charset="0"/>
              </a:rPr>
              <a:t>anos</a:t>
            </a:r>
            <a:r>
              <a:rPr lang="pt-BR" sz="2400" spc="-16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90" dirty="0" smtClean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400" spc="-1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atuação, </a:t>
            </a:r>
            <a:r>
              <a:rPr lang="pt-BR" sz="2400" spc="-80" dirty="0" smtClean="0">
                <a:latin typeface="Arial" panose="020B0604020202020204" pitchFamily="34" charset="0"/>
                <a:cs typeface="Arial" panose="020B0604020202020204" pitchFamily="34" charset="0"/>
              </a:rPr>
              <a:t>especializado</a:t>
            </a: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em </a:t>
            </a:r>
            <a:r>
              <a:rPr lang="pt-BR" sz="2400" spc="-125" dirty="0" smtClean="0">
                <a:latin typeface="Arial" panose="020B0604020202020204" pitchFamily="34" charset="0"/>
                <a:cs typeface="Arial" panose="020B0604020202020204" pitchFamily="34" charset="0"/>
              </a:rPr>
              <a:t>dissídios</a:t>
            </a:r>
            <a:r>
              <a:rPr lang="pt-BR" sz="24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individuais </a:t>
            </a:r>
            <a:r>
              <a:rPr lang="pt-BR" sz="2400" spc="-15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2400" spc="-1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revisão</a:t>
            </a:r>
            <a:r>
              <a:rPr lang="pt-BR" sz="2400" spc="-16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40" dirty="0" smtClean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BR" sz="2400" spc="-17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14" dirty="0" smtClean="0">
                <a:latin typeface="Arial" panose="020B0604020202020204" pitchFamily="34" charset="0"/>
                <a:cs typeface="Arial" panose="020B0604020202020204" pitchFamily="34" charset="0"/>
              </a:rPr>
              <a:t>cálculos </a:t>
            </a:r>
            <a:r>
              <a:rPr lang="pt-BR" sz="2400" spc="-40" dirty="0" smtClean="0">
                <a:latin typeface="Arial" panose="020B0604020202020204" pitchFamily="34" charset="0"/>
                <a:cs typeface="Arial" panose="020B0604020202020204" pitchFamily="34" charset="0"/>
              </a:rPr>
              <a:t>rescisórios.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1314864" y="2933699"/>
            <a:ext cx="16655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55" algn="ctr">
              <a:lnSpc>
                <a:spcPct val="100000"/>
              </a:lnSpc>
            </a:pPr>
            <a:r>
              <a:rPr lang="pt-BR" sz="2400" b="1" spc="80" dirty="0" smtClean="0">
                <a:solidFill>
                  <a:srgbClr val="33485D"/>
                </a:solidFill>
                <a:latin typeface="Cambria"/>
                <a:cs typeface="Cambria"/>
              </a:rPr>
              <a:t>P</a:t>
            </a:r>
            <a:r>
              <a:rPr lang="pt-BR" sz="2400" b="1" spc="-90" dirty="0" smtClean="0">
                <a:solidFill>
                  <a:srgbClr val="33485D"/>
                </a:solidFill>
                <a:latin typeface="Cambria"/>
                <a:cs typeface="Cambria"/>
              </a:rPr>
              <a:t> </a:t>
            </a:r>
            <a:r>
              <a:rPr lang="pt-BR" sz="2400" b="1" dirty="0" smtClean="0">
                <a:solidFill>
                  <a:srgbClr val="2F2F2F"/>
                </a:solidFill>
                <a:latin typeface="Cambria"/>
                <a:cs typeface="Cambria"/>
              </a:rPr>
              <a:t>–</a:t>
            </a:r>
            <a:r>
              <a:rPr lang="pt-BR" sz="2400" b="1" spc="155" dirty="0" smtClean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lang="pt-BR" sz="2400" b="1" spc="-20" dirty="0" smtClean="0">
                <a:solidFill>
                  <a:srgbClr val="3A4F64"/>
                </a:solidFill>
                <a:latin typeface="Cambria"/>
                <a:cs typeface="Cambria"/>
              </a:rPr>
              <a:t>Papel</a:t>
            </a:r>
          </a:p>
        </p:txBody>
      </p:sp>
      <p:sp>
        <p:nvSpPr>
          <p:cNvPr id="41" name="Retângulo 40"/>
          <p:cNvSpPr/>
          <p:nvPr/>
        </p:nvSpPr>
        <p:spPr>
          <a:xfrm>
            <a:off x="7811657" y="2908299"/>
            <a:ext cx="1369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210"/>
              </a:spcBef>
              <a:tabLst>
                <a:tab pos="661670" algn="l"/>
              </a:tabLst>
            </a:pPr>
            <a:r>
              <a:rPr lang="pt-BR" sz="2400" b="1" spc="30" dirty="0" smtClean="0">
                <a:solidFill>
                  <a:schemeClr val="tx1"/>
                </a:solidFill>
                <a:latin typeface="Cambria"/>
                <a:cs typeface="Cambria"/>
              </a:rPr>
              <a:t>T-</a:t>
            </a:r>
            <a:r>
              <a:rPr lang="pt-BR" sz="2400" b="1" spc="-95" dirty="0" smtClean="0">
                <a:solidFill>
                  <a:schemeClr val="tx1"/>
                </a:solidFill>
                <a:latin typeface="Cambria"/>
                <a:cs typeface="Cambria"/>
              </a:rPr>
              <a:t>Tarefa</a:t>
            </a:r>
            <a:endParaRPr lang="pt-BR" sz="24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6861180" y="3640445"/>
            <a:ext cx="3252400" cy="371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7325" marR="284480" indent="3175">
              <a:lnSpc>
                <a:spcPct val="80800"/>
              </a:lnSpc>
              <a:spcBef>
                <a:spcPts val="1330"/>
              </a:spcBef>
            </a:pPr>
            <a:r>
              <a:rPr lang="pt-BR" sz="2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Confirme</a:t>
            </a: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400" spc="-55" dirty="0" smtClean="0">
                <a:latin typeface="Arial" panose="020B0604020202020204" pitchFamily="34" charset="0"/>
                <a:cs typeface="Arial" panose="020B0604020202020204" pitchFamily="34" charset="0"/>
              </a:rPr>
              <a:t>prescrição.</a:t>
            </a:r>
            <a:endParaRPr lang="pt-BR" sz="2400" spc="-9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7325" marR="284480" indent="3175">
              <a:lnSpc>
                <a:spcPct val="80800"/>
              </a:lnSpc>
              <a:spcBef>
                <a:spcPts val="1330"/>
              </a:spcBef>
            </a:pP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Elabore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2400" spc="-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cálculo</a:t>
            </a:r>
            <a:r>
              <a:rPr lang="pt-BR" sz="24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exato</a:t>
            </a:r>
            <a:r>
              <a:rPr lang="pt-BR" sz="2400" spc="-11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30" dirty="0" smtClean="0">
                <a:latin typeface="Arial" panose="020B0604020202020204" pitchFamily="34" charset="0"/>
                <a:cs typeface="Arial" panose="020B0604020202020204" pitchFamily="34" charset="0"/>
              </a:rPr>
              <a:t>das </a:t>
            </a:r>
            <a:r>
              <a:rPr lang="pt-BR" sz="2400" spc="-45" dirty="0" smtClean="0">
                <a:latin typeface="Arial" panose="020B0604020202020204" pitchFamily="34" charset="0"/>
                <a:cs typeface="Arial" panose="020B0604020202020204" pitchFamily="34" charset="0"/>
              </a:rPr>
              <a:t>verbas.</a:t>
            </a:r>
            <a:r>
              <a:rPr lang="pt-BR" sz="2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7325" marR="284480" indent="3175">
              <a:lnSpc>
                <a:spcPct val="80800"/>
              </a:lnSpc>
              <a:spcBef>
                <a:spcPts val="1330"/>
              </a:spcBef>
            </a:pPr>
            <a:r>
              <a:rPr lang="pt-BR" sz="2400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Redija</a:t>
            </a:r>
            <a:r>
              <a:rPr lang="pt-BR" sz="2400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uma </a:t>
            </a:r>
            <a:r>
              <a:rPr lang="pt-BR" sz="2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petição</a:t>
            </a:r>
            <a:r>
              <a:rPr lang="pt-BR" sz="2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30" dirty="0" smtClean="0">
                <a:latin typeface="Arial" panose="020B0604020202020204" pitchFamily="34" charset="0"/>
                <a:cs typeface="Arial" panose="020B0604020202020204" pitchFamily="34" charset="0"/>
              </a:rPr>
              <a:t>inicial</a:t>
            </a:r>
            <a:r>
              <a:rPr lang="pt-BR" sz="2400" spc="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80" dirty="0" smtClean="0">
                <a:latin typeface="Arial" panose="020B0604020202020204" pitchFamily="34" charset="0"/>
                <a:cs typeface="Arial" panose="020B0604020202020204" pitchFamily="34" charset="0"/>
              </a:rPr>
              <a:t>única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2400" spc="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pt-BR" sz="2400" spc="-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os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pedidos.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7645">
              <a:lnSpc>
                <a:spcPts val="2140"/>
              </a:lnSpc>
            </a:pPr>
            <a:endParaRPr lang="pt-BR" sz="2400" spc="-3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7645">
              <a:lnSpc>
                <a:spcPts val="2140"/>
              </a:lnSpc>
            </a:pP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Indique </a:t>
            </a:r>
            <a:r>
              <a:rPr lang="pt-BR" sz="2400" spc="65" dirty="0" smtClean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pt-BR" sz="2400" spc="-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provas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0025" marR="1122680" indent="-20955">
              <a:lnSpc>
                <a:spcPts val="2400"/>
              </a:lnSpc>
              <a:spcBef>
                <a:spcPts val="340"/>
              </a:spcBef>
            </a:pP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documentais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mínimas.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tângulo 42"/>
          <p:cNvSpPr/>
          <p:nvPr/>
        </p:nvSpPr>
        <p:spPr>
          <a:xfrm>
            <a:off x="10303721" y="2946400"/>
            <a:ext cx="19370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9390" algn="ctr">
              <a:lnSpc>
                <a:spcPct val="100000"/>
              </a:lnSpc>
            </a:pPr>
            <a:r>
              <a:rPr lang="pt-BR" sz="2400" b="1" dirty="0" smtClean="0">
                <a:solidFill>
                  <a:schemeClr val="tx1"/>
                </a:solidFill>
                <a:latin typeface="Cambria"/>
                <a:cs typeface="Cambria"/>
              </a:rPr>
              <a:t>F</a:t>
            </a:r>
            <a:r>
              <a:rPr lang="pt-BR" sz="2400" b="1" spc="-70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400" b="1" dirty="0" smtClean="0">
                <a:solidFill>
                  <a:schemeClr val="tx1"/>
                </a:solidFill>
                <a:latin typeface="Cambria"/>
                <a:cs typeface="Cambria"/>
              </a:rPr>
              <a:t>-</a:t>
            </a:r>
            <a:r>
              <a:rPr lang="pt-BR" sz="2400" b="1" spc="215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400" b="1" spc="-100" dirty="0" smtClean="0">
                <a:solidFill>
                  <a:schemeClr val="tx1"/>
                </a:solidFill>
                <a:latin typeface="Cambria"/>
                <a:cs typeface="Cambria"/>
              </a:rPr>
              <a:t>Formato</a:t>
            </a:r>
            <a:endParaRPr lang="pt-BR" sz="24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4" name="Retângulo 43"/>
          <p:cNvSpPr/>
          <p:nvPr/>
        </p:nvSpPr>
        <p:spPr>
          <a:xfrm>
            <a:off x="13552058" y="2908299"/>
            <a:ext cx="198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1615" algn="ctr">
              <a:lnSpc>
                <a:spcPct val="100000"/>
              </a:lnSpc>
            </a:pPr>
            <a:r>
              <a:rPr lang="pt-BR" sz="2400" b="1" dirty="0" smtClean="0">
                <a:solidFill>
                  <a:schemeClr val="tx1"/>
                </a:solidFill>
                <a:latin typeface="Cambria"/>
                <a:cs typeface="Cambria"/>
              </a:rPr>
              <a:t>V</a:t>
            </a:r>
            <a:r>
              <a:rPr lang="pt-BR" sz="2400" b="1" spc="5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400" b="1" dirty="0" smtClean="0">
                <a:solidFill>
                  <a:schemeClr val="tx1"/>
                </a:solidFill>
                <a:latin typeface="Cambria"/>
                <a:cs typeface="Cambria"/>
              </a:rPr>
              <a:t>-</a:t>
            </a:r>
            <a:r>
              <a:rPr lang="pt-BR" sz="2400" b="1" spc="220" dirty="0" smtClean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pt-BR" sz="2400" b="1" spc="-190" dirty="0" smtClean="0">
                <a:solidFill>
                  <a:schemeClr val="tx1"/>
                </a:solidFill>
                <a:latin typeface="Cambria"/>
                <a:cs typeface="Cambria"/>
              </a:rPr>
              <a:t>Ver</a:t>
            </a:r>
            <a:r>
              <a:rPr lang="pt-BR" sz="2400" b="1" spc="-20" dirty="0" smtClean="0">
                <a:solidFill>
                  <a:schemeClr val="tx1"/>
                </a:solidFill>
                <a:latin typeface="Cambria"/>
                <a:cs typeface="Cambria"/>
              </a:rPr>
              <a:t>dade</a:t>
            </a:r>
            <a:endParaRPr lang="pt-BR" sz="2400" b="1" dirty="0" smtClean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5" name="Retângulo 44"/>
          <p:cNvSpPr/>
          <p:nvPr/>
        </p:nvSpPr>
        <p:spPr>
          <a:xfrm>
            <a:off x="13185620" y="4176049"/>
            <a:ext cx="3019580" cy="2430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0820" marR="248285">
              <a:lnSpc>
                <a:spcPct val="76000"/>
              </a:lnSpc>
              <a:spcBef>
                <a:spcPts val="1440"/>
              </a:spcBef>
            </a:pP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Traga </a:t>
            </a:r>
            <a:r>
              <a:rPr lang="pt-BR" sz="2400" spc="-75" dirty="0" smtClean="0">
                <a:latin typeface="Arial" panose="020B0604020202020204" pitchFamily="34" charset="0"/>
                <a:cs typeface="Arial" panose="020B0604020202020204" pitchFamily="34" charset="0"/>
              </a:rPr>
              <a:t>exclusivamente </a:t>
            </a:r>
            <a:r>
              <a:rPr lang="pt-BR" sz="2400" spc="-114" dirty="0" smtClean="0">
                <a:latin typeface="Arial" panose="020B0604020202020204" pitchFamily="34" charset="0"/>
                <a:cs typeface="Arial" panose="020B0604020202020204" pitchFamily="34" charset="0"/>
              </a:rPr>
              <a:t>normas</a:t>
            </a:r>
            <a:r>
              <a:rPr lang="pt-BR" sz="2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70" dirty="0" smtClean="0">
                <a:latin typeface="Arial" panose="020B0604020202020204" pitchFamily="34" charset="0"/>
                <a:cs typeface="Arial" panose="020B0604020202020204" pitchFamily="34" charset="0"/>
              </a:rPr>
              <a:t>da</a:t>
            </a:r>
            <a:r>
              <a:rPr lang="pt-BR" sz="2400" spc="-21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CLT, </a:t>
            </a:r>
            <a:r>
              <a:rPr lang="pt-BR" sz="2400" spc="-180" dirty="0" smtClean="0">
                <a:latin typeface="Arial" panose="020B0604020202020204" pitchFamily="34" charset="0"/>
                <a:cs typeface="Arial" panose="020B0604020202020204" pitchFamily="34" charset="0"/>
              </a:rPr>
              <a:t>Súmulas</a:t>
            </a:r>
            <a:r>
              <a:rPr lang="pt-BR" sz="2400" spc="-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50" dirty="0" smtClean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t-BR" sz="2400" spc="-1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25" dirty="0" smtClean="0">
                <a:latin typeface="Arial" panose="020B0604020202020204" pitchFamily="34" charset="0"/>
                <a:cs typeface="Arial" panose="020B0604020202020204" pitchFamily="34" charset="0"/>
              </a:rPr>
              <a:t>TST,</a:t>
            </a:r>
            <a:r>
              <a:rPr lang="pt-BR" sz="2400" spc="-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40" dirty="0" smtClean="0">
                <a:latin typeface="Arial" panose="020B0604020202020204" pitchFamily="34" charset="0"/>
                <a:cs typeface="Arial" panose="020B0604020202020204" pitchFamily="34" charset="0"/>
              </a:rPr>
              <a:t>jurisprudência real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1454">
              <a:lnSpc>
                <a:spcPts val="2415"/>
              </a:lnSpc>
            </a:pPr>
            <a:r>
              <a:rPr lang="pt-BR" sz="2400" spc="-130" dirty="0" smtClean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pt-BR" sz="2400" spc="-2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35" dirty="0" smtClean="0">
                <a:latin typeface="Arial" panose="020B0604020202020204" pitchFamily="34" charset="0"/>
                <a:cs typeface="Arial" panose="020B0604020202020204" pitchFamily="34" charset="0"/>
              </a:rPr>
              <a:t>número</a:t>
            </a:r>
            <a:r>
              <a:rPr lang="pt-BR" sz="2400" spc="-1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629">
              <a:lnSpc>
                <a:spcPts val="2725"/>
              </a:lnSpc>
            </a:pPr>
            <a:r>
              <a:rPr lang="pt-BR" sz="2400" spc="-95" dirty="0" smtClean="0">
                <a:latin typeface="Arial" panose="020B0604020202020204" pitchFamily="34" charset="0"/>
                <a:cs typeface="Arial" panose="020B0604020202020204" pitchFamily="34" charset="0"/>
              </a:rPr>
              <a:t>processo</a:t>
            </a:r>
            <a:r>
              <a:rPr lang="pt-BR" sz="2400" spc="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8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2400" spc="-1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link.</a:t>
            </a:r>
          </a:p>
        </p:txBody>
      </p:sp>
      <p:sp>
        <p:nvSpPr>
          <p:cNvPr id="46" name="Retângulo 45"/>
          <p:cNvSpPr/>
          <p:nvPr/>
        </p:nvSpPr>
        <p:spPr>
          <a:xfrm>
            <a:off x="9848301" y="4000500"/>
            <a:ext cx="3469208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0025">
              <a:lnSpc>
                <a:spcPts val="2635"/>
              </a:lnSpc>
              <a:spcBef>
                <a:spcPts val="919"/>
              </a:spcBef>
            </a:pPr>
            <a:r>
              <a:rPr lang="pt-BR" sz="2400" b="1" spc="-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Seçâo</a:t>
            </a:r>
            <a:r>
              <a:rPr lang="pt-BR" sz="2400" b="1" spc="-1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1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pt-BR" sz="2400" spc="-254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180" dirty="0" smtClean="0">
                <a:latin typeface="Arial" panose="020B0604020202020204" pitchFamily="34" charset="0"/>
                <a:cs typeface="Arial" panose="020B0604020202020204" pitchFamily="34" charset="0"/>
              </a:rPr>
              <a:t>Tabela</a:t>
            </a:r>
            <a:r>
              <a:rPr lang="pt-BR" sz="2400" spc="-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0660" marR="1639570" indent="8890">
              <a:lnSpc>
                <a:spcPts val="2400"/>
              </a:lnSpc>
              <a:spcBef>
                <a:spcPts val="195"/>
              </a:spcBef>
            </a:pP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verbas. </a:t>
            </a:r>
            <a:r>
              <a:rPr lang="pt-BR" sz="2400" b="1" spc="-180" dirty="0" smtClean="0">
                <a:latin typeface="Arial" panose="020B0604020202020204" pitchFamily="34" charset="0"/>
                <a:cs typeface="Arial" panose="020B0604020202020204" pitchFamily="34" charset="0"/>
              </a:rPr>
              <a:t>Seção</a:t>
            </a:r>
            <a:r>
              <a:rPr lang="pt-BR" sz="2400" b="1" spc="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1" spc="-4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sz="2400" spc="-4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2565">
              <a:lnSpc>
                <a:spcPts val="2275"/>
              </a:lnSpc>
            </a:pPr>
            <a:r>
              <a:rPr lang="pt-BR" sz="2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Fundamentação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629">
              <a:lnSpc>
                <a:spcPts val="2405"/>
              </a:lnSpc>
            </a:pP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jurídica.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6375" marR="269240" indent="-6985">
              <a:lnSpc>
                <a:spcPts val="2400"/>
              </a:lnSpc>
              <a:spcBef>
                <a:spcPts val="220"/>
              </a:spcBef>
            </a:pPr>
            <a:r>
              <a:rPr lang="pt-BR" sz="2400" b="1" spc="-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Seçáo</a:t>
            </a:r>
            <a:r>
              <a:rPr lang="pt-BR" sz="2400" b="1" spc="-8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1" spc="-70" dirty="0" smtClean="0">
                <a:latin typeface="Arial" panose="020B0604020202020204" pitchFamily="34" charset="0"/>
                <a:cs typeface="Arial" panose="020B0604020202020204" pitchFamily="34" charset="0"/>
              </a:rPr>
              <a:t>3:</a:t>
            </a:r>
            <a:r>
              <a:rPr lang="pt-BR" sz="2400" b="1" spc="-2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60" dirty="0" smtClean="0"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lang="pt-BR" sz="2400" spc="-5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80" dirty="0" smtClean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4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petição.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0660">
              <a:lnSpc>
                <a:spcPts val="2215"/>
              </a:lnSpc>
            </a:pPr>
            <a:r>
              <a:rPr lang="pt-BR" sz="2400" b="1" spc="-125" dirty="0" smtClean="0">
                <a:latin typeface="Arial" panose="020B0604020202020204" pitchFamily="34" charset="0"/>
                <a:cs typeface="Arial" panose="020B0604020202020204" pitchFamily="34" charset="0"/>
              </a:rPr>
              <a:t>Seção</a:t>
            </a:r>
            <a:r>
              <a:rPr lang="pt-BR" sz="2400" b="1" spc="-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4:</a:t>
            </a:r>
            <a:r>
              <a:rPr lang="pt-BR" sz="2400" b="1" spc="-2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pt-BR" sz="2400" spc="-6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200">
              <a:lnSpc>
                <a:spcPts val="2675"/>
              </a:lnSpc>
            </a:pPr>
            <a:r>
              <a:rPr lang="pt-BR" sz="2400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documentos.</a:t>
            </a:r>
          </a:p>
        </p:txBody>
      </p:sp>
      <p:sp>
        <p:nvSpPr>
          <p:cNvPr id="23" name="object 24"/>
          <p:cNvSpPr txBox="1"/>
          <p:nvPr/>
        </p:nvSpPr>
        <p:spPr>
          <a:xfrm>
            <a:off x="4150298" y="3911600"/>
            <a:ext cx="2586990" cy="3316164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 marR="5080" indent="-635">
              <a:lnSpc>
                <a:spcPct val="76200"/>
              </a:lnSpc>
              <a:spcBef>
                <a:spcPts val="880"/>
              </a:spcBef>
            </a:pPr>
            <a:r>
              <a:rPr sz="2400" spc="-70" dirty="0">
                <a:latin typeface="Arial" panose="020B0604020202020204" pitchFamily="34" charset="0"/>
                <a:cs typeface="Arial" panose="020B0604020202020204" pitchFamily="34" charset="0"/>
              </a:rPr>
              <a:t>Empregado </a:t>
            </a:r>
            <a:r>
              <a:rPr sz="2400" spc="-175" dirty="0">
                <a:latin typeface="Arial" panose="020B0604020202020204" pitchFamily="34" charset="0"/>
                <a:cs typeface="Arial" panose="020B0604020202020204" pitchFamily="34" charset="0"/>
              </a:rPr>
              <a:t>demitido</a:t>
            </a:r>
            <a:r>
              <a:rPr sz="24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10" dirty="0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sz="24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justa 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causa,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5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2400" spc="-2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anos</a:t>
            </a:r>
            <a:r>
              <a:rPr sz="24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spc="-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55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meses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9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2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contrato, </a:t>
            </a:r>
            <a:r>
              <a:rPr sz="2400" spc="-210" dirty="0"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sz="240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registro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400" spc="-170" dirty="0">
                <a:latin typeface="Arial" panose="020B0604020202020204" pitchFamily="34" charset="0"/>
                <a:cs typeface="Arial" panose="020B0604020202020204" pitchFamily="34" charset="0"/>
              </a:rPr>
              <a:t>horas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35" dirty="0">
                <a:latin typeface="Arial" panose="020B0604020202020204" pitchFamily="34" charset="0"/>
                <a:cs typeface="Arial" panose="020B0604020202020204" pitchFamily="34" charset="0"/>
              </a:rPr>
              <a:t>extras.</a:t>
            </a:r>
            <a:r>
              <a:rPr sz="24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2400" spc="-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indent="-635">
              <a:lnSpc>
                <a:spcPct val="76200"/>
              </a:lnSpc>
              <a:spcBef>
                <a:spcPts val="880"/>
              </a:spcBef>
            </a:pPr>
            <a:r>
              <a:rPr sz="2400" spc="-10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Pleiteia</a:t>
            </a:r>
            <a:r>
              <a:rPr sz="2400" spc="-10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30" dirty="0">
                <a:latin typeface="Arial" panose="020B0604020202020204" pitchFamily="34" charset="0"/>
                <a:cs typeface="Arial" panose="020B0604020202020204" pitchFamily="34" charset="0"/>
              </a:rPr>
              <a:t>horas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 extras, </a:t>
            </a:r>
            <a:r>
              <a:rPr sz="2400" spc="-90" dirty="0">
                <a:latin typeface="Arial" panose="020B0604020202020204" pitchFamily="34" charset="0"/>
                <a:cs typeface="Arial" panose="020B0604020202020204" pitchFamily="34" charset="0"/>
              </a:rPr>
              <a:t>diferenças</a:t>
            </a:r>
            <a:r>
              <a:rPr sz="2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5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férias, </a:t>
            </a:r>
            <a:r>
              <a:rPr sz="2400" spc="-160" dirty="0">
                <a:latin typeface="Arial" panose="020B0604020202020204" pitchFamily="34" charset="0"/>
                <a:cs typeface="Arial" panose="020B0604020202020204" pitchFamily="34" charset="0"/>
              </a:rPr>
              <a:t>multa</a:t>
            </a:r>
            <a:r>
              <a:rPr sz="2400" spc="-2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2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40%</a:t>
            </a:r>
            <a:r>
              <a:rPr sz="2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FGTS 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spc="-3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55" dirty="0">
                <a:latin typeface="Arial" panose="020B0604020202020204" pitchFamily="34" charset="0"/>
                <a:cs typeface="Arial" panose="020B0604020202020204" pitchFamily="34" charset="0"/>
              </a:rPr>
              <a:t>danos</a:t>
            </a:r>
            <a:r>
              <a:rPr sz="2400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morais.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8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2400" y="8153400"/>
            <a:ext cx="800100" cy="901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2400" y="6972300"/>
            <a:ext cx="939800" cy="254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1297" y="3987588"/>
            <a:ext cx="698500" cy="520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3500" y="2425700"/>
            <a:ext cx="977900" cy="8509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80582" y="848783"/>
            <a:ext cx="13531215" cy="1041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650" spc="-25" dirty="0">
                <a:latin typeface="Times New Roman"/>
                <a:cs typeface="Times New Roman"/>
              </a:rPr>
              <a:t>Suas</a:t>
            </a:r>
            <a:r>
              <a:rPr sz="6650" spc="-80" dirty="0">
                <a:latin typeface="Times New Roman"/>
                <a:cs typeface="Times New Roman"/>
              </a:rPr>
              <a:t> </a:t>
            </a:r>
            <a:r>
              <a:rPr sz="6650" dirty="0">
                <a:latin typeface="Times New Roman"/>
                <a:cs typeface="Times New Roman"/>
              </a:rPr>
              <a:t>Ferramentas</a:t>
            </a:r>
            <a:r>
              <a:rPr sz="6650" spc="40" dirty="0">
                <a:latin typeface="Times New Roman"/>
                <a:cs typeface="Times New Roman"/>
              </a:rPr>
              <a:t> </a:t>
            </a:r>
            <a:r>
              <a:rPr sz="6650" dirty="0">
                <a:latin typeface="Times New Roman"/>
                <a:cs typeface="Times New Roman"/>
              </a:rPr>
              <a:t>para</a:t>
            </a:r>
            <a:r>
              <a:rPr sz="6650" spc="-210" dirty="0">
                <a:latin typeface="Times New Roman"/>
                <a:cs typeface="Times New Roman"/>
              </a:rPr>
              <a:t> </a:t>
            </a:r>
            <a:r>
              <a:rPr sz="6650" dirty="0">
                <a:latin typeface="Times New Roman"/>
                <a:cs typeface="Times New Roman"/>
              </a:rPr>
              <a:t>Prompts</a:t>
            </a:r>
            <a:r>
              <a:rPr sz="6650" spc="-60" dirty="0">
                <a:latin typeface="Times New Roman"/>
                <a:cs typeface="Times New Roman"/>
              </a:rPr>
              <a:t> </a:t>
            </a:r>
            <a:r>
              <a:rPr sz="6650" spc="-180" dirty="0">
                <a:latin typeface="Times New Roman"/>
                <a:cs typeface="Times New Roman"/>
              </a:rPr>
              <a:t>Eficazes</a:t>
            </a:r>
            <a:endParaRPr sz="6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idx="1"/>
          </p:nvPr>
        </p:nvSpPr>
        <p:spPr>
          <a:xfrm>
            <a:off x="2586861" y="2522082"/>
            <a:ext cx="13710717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65" dirty="0">
                <a:latin typeface="Arial" panose="020B0604020202020204" pitchFamily="34" charset="0"/>
                <a:cs typeface="Arial" panose="020B0604020202020204" pitchFamily="34" charset="0"/>
              </a:rPr>
              <a:t>Seja</a:t>
            </a:r>
            <a:r>
              <a:rPr sz="3200" spc="-3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10" dirty="0">
                <a:latin typeface="Arial" panose="020B0604020202020204" pitchFamily="34" charset="0"/>
                <a:cs typeface="Arial" panose="020B0604020202020204" pitchFamily="34" charset="0"/>
              </a:rPr>
              <a:t>específico</a:t>
            </a:r>
            <a:r>
              <a:rPr sz="32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10" dirty="0"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sz="3200" spc="-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3200" spc="-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40" dirty="0">
                <a:latin typeface="Arial" panose="020B0604020202020204" pitchFamily="34" charset="0"/>
                <a:cs typeface="Arial" panose="020B0604020202020204" pitchFamily="34" charset="0"/>
              </a:rPr>
              <a:t>conhecimento</a:t>
            </a:r>
            <a:r>
              <a:rPr sz="32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90" dirty="0">
                <a:latin typeface="Arial" panose="020B0604020202020204" pitchFamily="34" charset="0"/>
                <a:cs typeface="Arial" panose="020B0604020202020204" pitchFamily="34" charset="0"/>
              </a:rPr>
              <a:t>especializado</a:t>
            </a:r>
            <a:r>
              <a:rPr sz="3200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necessário</a:t>
            </a:r>
            <a:r>
              <a:rPr lang="pt-BR"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3200" spc="-10" dirty="0">
                <a:latin typeface="Arial" panose="020B0604020202020204" pitchFamily="34" charset="0"/>
                <a:cs typeface="Arial" panose="020B0604020202020204" pitchFamily="34" charset="0"/>
              </a:rPr>
              <a:t>Papel</a:t>
            </a:r>
            <a:r>
              <a:rPr sz="32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3697" y="5374005"/>
            <a:ext cx="35750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130" dirty="0">
                <a:solidFill>
                  <a:srgbClr val="42675E"/>
                </a:solidFill>
                <a:latin typeface="Calibri"/>
                <a:cs typeface="Calibri"/>
              </a:rPr>
              <a:t>Jo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9792" y="5432777"/>
            <a:ext cx="9969500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30" dirty="0">
                <a:latin typeface="Calibri"/>
                <a:cs typeface="Calibri"/>
              </a:rPr>
              <a:t>Use</a:t>
            </a:r>
            <a:r>
              <a:rPr sz="3450" spc="-210" dirty="0">
                <a:latin typeface="Calibri"/>
                <a:cs typeface="Calibri"/>
              </a:rPr>
              <a:t> </a:t>
            </a:r>
            <a:r>
              <a:rPr sz="3450" spc="-55" dirty="0">
                <a:latin typeface="Calibri"/>
                <a:cs typeface="Calibri"/>
              </a:rPr>
              <a:t>verbos</a:t>
            </a:r>
            <a:r>
              <a:rPr sz="3450" spc="-140" dirty="0">
                <a:latin typeface="Calibri"/>
                <a:cs typeface="Calibri"/>
              </a:rPr>
              <a:t> </a:t>
            </a:r>
            <a:r>
              <a:rPr sz="3450" spc="-65" dirty="0">
                <a:latin typeface="Calibri"/>
                <a:cs typeface="Calibri"/>
              </a:rPr>
              <a:t>de</a:t>
            </a:r>
            <a:r>
              <a:rPr sz="3450" spc="-220" dirty="0">
                <a:latin typeface="Calibri"/>
                <a:cs typeface="Calibri"/>
              </a:rPr>
              <a:t> </a:t>
            </a:r>
            <a:r>
              <a:rPr sz="3450" spc="-75" dirty="0">
                <a:latin typeface="Calibri"/>
                <a:cs typeface="Calibri"/>
              </a:rPr>
              <a:t>ação</a:t>
            </a:r>
            <a:r>
              <a:rPr sz="3450" spc="-235" dirty="0">
                <a:latin typeface="Calibri"/>
                <a:cs typeface="Calibri"/>
              </a:rPr>
              <a:t> </a:t>
            </a:r>
            <a:r>
              <a:rPr sz="3450" spc="-30" dirty="0">
                <a:latin typeface="Calibri"/>
                <a:cs typeface="Calibri"/>
              </a:rPr>
              <a:t>claros</a:t>
            </a:r>
            <a:r>
              <a:rPr sz="3450" spc="-165" dirty="0">
                <a:latin typeface="Calibri"/>
                <a:cs typeface="Calibri"/>
              </a:rPr>
              <a:t> </a:t>
            </a:r>
            <a:r>
              <a:rPr sz="3450" spc="-70" dirty="0">
                <a:latin typeface="Calibri"/>
                <a:cs typeface="Calibri"/>
              </a:rPr>
              <a:t>para</a:t>
            </a:r>
            <a:r>
              <a:rPr sz="3450" spc="-195" dirty="0">
                <a:latin typeface="Calibri"/>
                <a:cs typeface="Calibri"/>
              </a:rPr>
              <a:t> </a:t>
            </a:r>
            <a:r>
              <a:rPr sz="3450" spc="-40" dirty="0">
                <a:latin typeface="Calibri"/>
                <a:cs typeface="Calibri"/>
              </a:rPr>
              <a:t>definir</a:t>
            </a:r>
            <a:r>
              <a:rPr sz="3450" spc="-114" dirty="0">
                <a:latin typeface="Calibri"/>
                <a:cs typeface="Calibri"/>
              </a:rPr>
              <a:t> </a:t>
            </a:r>
            <a:r>
              <a:rPr sz="3450" dirty="0">
                <a:latin typeface="Calibri"/>
                <a:cs typeface="Calibri"/>
              </a:rPr>
              <a:t>a</a:t>
            </a:r>
            <a:r>
              <a:rPr sz="3450" spc="-350" dirty="0">
                <a:latin typeface="Calibri"/>
                <a:cs typeface="Calibri"/>
              </a:rPr>
              <a:t> </a:t>
            </a:r>
            <a:r>
              <a:rPr sz="3450" spc="-45" dirty="0">
                <a:latin typeface="Calibri"/>
                <a:cs typeface="Calibri"/>
              </a:rPr>
              <a:t>instrução</a:t>
            </a:r>
            <a:r>
              <a:rPr sz="3450" spc="-5" dirty="0">
                <a:latin typeface="Calibri"/>
                <a:cs typeface="Calibri"/>
              </a:rPr>
              <a:t> </a:t>
            </a:r>
            <a:r>
              <a:rPr sz="3450" spc="-30" dirty="0">
                <a:latin typeface="Calibri"/>
                <a:cs typeface="Calibri"/>
              </a:rPr>
              <a:t>(Tarefa).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04793" y="6857647"/>
            <a:ext cx="13399135" cy="196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latin typeface="Calibri"/>
                <a:cs typeface="Calibri"/>
              </a:rPr>
              <a:t>Especifique</a:t>
            </a:r>
            <a:r>
              <a:rPr sz="3400" spc="-185" dirty="0">
                <a:latin typeface="Calibri"/>
                <a:cs typeface="Calibri"/>
              </a:rPr>
              <a:t> </a:t>
            </a:r>
            <a:r>
              <a:rPr sz="3400" spc="-45" dirty="0">
                <a:latin typeface="Calibri"/>
                <a:cs typeface="Calibri"/>
              </a:rPr>
              <a:t>o</a:t>
            </a:r>
            <a:r>
              <a:rPr sz="3400" spc="-240" dirty="0">
                <a:latin typeface="Calibri"/>
                <a:cs typeface="Calibri"/>
              </a:rPr>
              <a:t> </a:t>
            </a:r>
            <a:r>
              <a:rPr sz="3400" spc="-60" dirty="0">
                <a:latin typeface="Calibri"/>
                <a:cs typeface="Calibri"/>
              </a:rPr>
              <a:t>formato</a:t>
            </a:r>
            <a:r>
              <a:rPr sz="3400" spc="-130" dirty="0">
                <a:latin typeface="Calibri"/>
                <a:cs typeface="Calibri"/>
              </a:rPr>
              <a:t> </a:t>
            </a:r>
            <a:r>
              <a:rPr sz="3400" spc="-35" dirty="0">
                <a:latin typeface="Calibri"/>
                <a:cs typeface="Calibri"/>
              </a:rPr>
              <a:t>desejado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spc="-40" dirty="0">
                <a:latin typeface="Calibri"/>
                <a:cs typeface="Calibri"/>
              </a:rPr>
              <a:t>para</a:t>
            </a:r>
            <a:r>
              <a:rPr sz="3400" spc="-19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facilitar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spc="85" dirty="0">
                <a:latin typeface="Calibri"/>
                <a:cs typeface="Calibri"/>
              </a:rPr>
              <a:t>o</a:t>
            </a:r>
            <a:r>
              <a:rPr sz="3400" spc="-25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uso</a:t>
            </a:r>
            <a:r>
              <a:rPr sz="3400" spc="-295" dirty="0">
                <a:latin typeface="Calibri"/>
                <a:cs typeface="Calibri"/>
              </a:rPr>
              <a:t> </a:t>
            </a:r>
            <a:r>
              <a:rPr sz="3400" spc="-30" dirty="0">
                <a:latin typeface="Calibri"/>
                <a:cs typeface="Calibri"/>
              </a:rPr>
              <a:t>do</a:t>
            </a:r>
            <a:r>
              <a:rPr sz="3400" spc="-210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resultado</a:t>
            </a:r>
            <a:r>
              <a:rPr sz="3400" spc="-55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(Formato).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70"/>
              </a:spcBef>
            </a:pP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650" spc="-200" dirty="0">
                <a:latin typeface="Calibri"/>
                <a:cs typeface="Calibri"/>
              </a:rPr>
              <a:t>Sempre</a:t>
            </a:r>
            <a:r>
              <a:rPr sz="3650" spc="-165" dirty="0">
                <a:latin typeface="Calibri"/>
                <a:cs typeface="Calibri"/>
              </a:rPr>
              <a:t> </a:t>
            </a:r>
            <a:r>
              <a:rPr sz="3650" spc="-140" dirty="0">
                <a:latin typeface="Calibri"/>
                <a:cs typeface="Calibri"/>
              </a:rPr>
              <a:t>inclua</a:t>
            </a:r>
            <a:r>
              <a:rPr sz="3650" spc="-105" dirty="0">
                <a:latin typeface="Calibri"/>
                <a:cs typeface="Calibri"/>
              </a:rPr>
              <a:t> </a:t>
            </a:r>
            <a:r>
              <a:rPr sz="3650" spc="-65" dirty="0">
                <a:latin typeface="Calibri"/>
                <a:cs typeface="Calibri"/>
              </a:rPr>
              <a:t>o</a:t>
            </a:r>
            <a:r>
              <a:rPr sz="3650" spc="-395" dirty="0">
                <a:latin typeface="Calibri"/>
                <a:cs typeface="Calibri"/>
              </a:rPr>
              <a:t> </a:t>
            </a:r>
            <a:r>
              <a:rPr sz="3650" spc="-229" dirty="0">
                <a:latin typeface="Calibri"/>
                <a:cs typeface="Calibri"/>
              </a:rPr>
              <a:t>comando</a:t>
            </a:r>
            <a:r>
              <a:rPr sz="3650" spc="-65" dirty="0">
                <a:latin typeface="Calibri"/>
                <a:cs typeface="Calibri"/>
              </a:rPr>
              <a:t> </a:t>
            </a:r>
            <a:r>
              <a:rPr sz="3650" spc="-160" dirty="0">
                <a:latin typeface="Calibri"/>
                <a:cs typeface="Calibri"/>
              </a:rPr>
              <a:t>de</a:t>
            </a:r>
            <a:r>
              <a:rPr sz="3650" spc="-260" dirty="0">
                <a:latin typeface="Calibri"/>
                <a:cs typeface="Calibri"/>
              </a:rPr>
              <a:t> </a:t>
            </a:r>
            <a:r>
              <a:rPr sz="3650" spc="-175" dirty="0">
                <a:latin typeface="Calibri"/>
                <a:cs typeface="Calibri"/>
              </a:rPr>
              <a:t>veracidade</a:t>
            </a:r>
            <a:r>
              <a:rPr sz="3650" spc="-55" dirty="0">
                <a:latin typeface="Calibri"/>
                <a:cs typeface="Calibri"/>
              </a:rPr>
              <a:t> </a:t>
            </a:r>
            <a:r>
              <a:rPr sz="3650" spc="-175" dirty="0">
                <a:latin typeface="Calibri"/>
                <a:cs typeface="Calibri"/>
              </a:rPr>
              <a:t>para</a:t>
            </a:r>
            <a:r>
              <a:rPr sz="3650" spc="-195" dirty="0">
                <a:latin typeface="Calibri"/>
                <a:cs typeface="Calibri"/>
              </a:rPr>
              <a:t> </a:t>
            </a:r>
            <a:r>
              <a:rPr sz="3650" spc="-140" dirty="0">
                <a:latin typeface="Calibri"/>
                <a:cs typeface="Calibri"/>
              </a:rPr>
              <a:t>garantir</a:t>
            </a:r>
            <a:r>
              <a:rPr sz="3650" spc="-20" dirty="0">
                <a:latin typeface="Calibri"/>
                <a:cs typeface="Calibri"/>
              </a:rPr>
              <a:t> </a:t>
            </a:r>
            <a:r>
              <a:rPr sz="3650" spc="-70" dirty="0">
                <a:latin typeface="Calibri"/>
                <a:cs typeface="Calibri"/>
              </a:rPr>
              <a:t>a</a:t>
            </a:r>
            <a:r>
              <a:rPr sz="3650" spc="-380" dirty="0">
                <a:latin typeface="Calibri"/>
                <a:cs typeface="Calibri"/>
              </a:rPr>
              <a:t> </a:t>
            </a:r>
            <a:r>
              <a:rPr sz="3650" spc="-155" dirty="0">
                <a:latin typeface="Calibri"/>
                <a:cs typeface="Calibri"/>
              </a:rPr>
              <a:t>integridade</a:t>
            </a:r>
            <a:r>
              <a:rPr sz="3650" spc="80" dirty="0">
                <a:latin typeface="Calibri"/>
                <a:cs typeface="Calibri"/>
              </a:rPr>
              <a:t> </a:t>
            </a:r>
            <a:r>
              <a:rPr sz="3650" spc="-85" dirty="0">
                <a:latin typeface="Calibri"/>
                <a:cs typeface="Calibri"/>
              </a:rPr>
              <a:t>(Verdade).</a:t>
            </a:r>
            <a:endParaRPr sz="3650">
              <a:latin typeface="Calibri"/>
              <a:cs typeface="Calibri"/>
            </a:endParaRPr>
          </a:p>
        </p:txBody>
      </p:sp>
      <p:sp>
        <p:nvSpPr>
          <p:cNvPr id="13" name="object 7"/>
          <p:cNvSpPr txBox="1">
            <a:spLocks/>
          </p:cNvSpPr>
          <p:nvPr/>
        </p:nvSpPr>
        <p:spPr>
          <a:xfrm>
            <a:off x="2561461" y="4000679"/>
            <a:ext cx="13710717" cy="53476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 marL="260092" indent="-260092" algn="l" defTabSz="1300460" rtl="0" eaLnBrk="1" latinLnBrk="0" hangingPunct="1">
              <a:lnSpc>
                <a:spcPct val="95000"/>
              </a:lnSpc>
              <a:spcBef>
                <a:spcPts val="1991"/>
              </a:spcBef>
              <a:spcAft>
                <a:spcPts val="284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560" kern="1200" spc="1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0230" indent="-260092" algn="l" defTabSz="1300460" rtl="0" eaLnBrk="1" latinLnBrk="0" hangingPunct="1">
              <a:lnSpc>
                <a:spcPct val="90000"/>
              </a:lnSpc>
              <a:spcBef>
                <a:spcPts val="427"/>
              </a:spcBef>
              <a:spcAft>
                <a:spcPts val="427"/>
              </a:spcAft>
              <a:buClr>
                <a:schemeClr val="accent1"/>
              </a:buClr>
              <a:buFont typeface="Wingdings 2" pitchFamily="18" charset="2"/>
              <a:buChar char=""/>
              <a:defRPr sz="2276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40368" indent="-260092" algn="l" defTabSz="1300460" rtl="0" eaLnBrk="1" latinLnBrk="0" hangingPunct="1">
              <a:lnSpc>
                <a:spcPct val="90000"/>
              </a:lnSpc>
              <a:spcBef>
                <a:spcPts val="427"/>
              </a:spcBef>
              <a:spcAft>
                <a:spcPts val="427"/>
              </a:spcAft>
              <a:buClr>
                <a:schemeClr val="accent1"/>
              </a:buClr>
              <a:buFont typeface="Wingdings 2" pitchFamily="18" charset="2"/>
              <a:buChar char=""/>
              <a:defRPr sz="199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30506" indent="-260092" algn="l" defTabSz="1300460" rtl="0" eaLnBrk="1" latinLnBrk="0" hangingPunct="1">
              <a:lnSpc>
                <a:spcPct val="90000"/>
              </a:lnSpc>
              <a:spcBef>
                <a:spcPts val="427"/>
              </a:spcBef>
              <a:spcAft>
                <a:spcPts val="427"/>
              </a:spcAft>
              <a:buClr>
                <a:schemeClr val="accent1"/>
              </a:buClr>
              <a:buFont typeface="Wingdings 2" pitchFamily="18" charset="2"/>
              <a:buChar char=""/>
              <a:defRPr sz="199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0644" indent="-260092" algn="l" defTabSz="1300460" rtl="0" eaLnBrk="1" latinLnBrk="0" hangingPunct="1">
              <a:lnSpc>
                <a:spcPct val="90000"/>
              </a:lnSpc>
              <a:spcBef>
                <a:spcPts val="427"/>
              </a:spcBef>
              <a:spcAft>
                <a:spcPts val="427"/>
              </a:spcAft>
              <a:buClr>
                <a:schemeClr val="accent1"/>
              </a:buClr>
              <a:buFont typeface="Wingdings 2" pitchFamily="18" charset="2"/>
              <a:buChar char=""/>
              <a:defRPr sz="199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75520" indent="-325115" algn="l" defTabSz="1300460" rtl="0" eaLnBrk="1" latinLnBrk="0" hangingPunct="1">
              <a:lnSpc>
                <a:spcPct val="90000"/>
              </a:lnSpc>
              <a:spcBef>
                <a:spcPts val="427"/>
              </a:spcBef>
              <a:spcAft>
                <a:spcPts val="427"/>
              </a:spcAft>
              <a:buClr>
                <a:schemeClr val="accent1"/>
              </a:buClr>
              <a:buFont typeface="Wingdings 2" pitchFamily="18" charset="2"/>
              <a:buChar char=""/>
              <a:defRPr sz="199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02180" indent="-325115" algn="l" defTabSz="1300460" rtl="0" eaLnBrk="1" latinLnBrk="0" hangingPunct="1">
              <a:lnSpc>
                <a:spcPct val="90000"/>
              </a:lnSpc>
              <a:spcBef>
                <a:spcPts val="427"/>
              </a:spcBef>
              <a:spcAft>
                <a:spcPts val="427"/>
              </a:spcAft>
              <a:buClr>
                <a:schemeClr val="accent1"/>
              </a:buClr>
              <a:buFont typeface="Wingdings 2" pitchFamily="18" charset="2"/>
              <a:buChar char=""/>
              <a:defRPr sz="199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28840" indent="-325115" algn="l" defTabSz="1300460" rtl="0" eaLnBrk="1" latinLnBrk="0" hangingPunct="1">
              <a:lnSpc>
                <a:spcPct val="90000"/>
              </a:lnSpc>
              <a:spcBef>
                <a:spcPts val="427"/>
              </a:spcBef>
              <a:spcAft>
                <a:spcPts val="427"/>
              </a:spcAft>
              <a:buClr>
                <a:schemeClr val="accent1"/>
              </a:buClr>
              <a:buFont typeface="Wingdings 2" pitchFamily="18" charset="2"/>
              <a:buChar char=""/>
              <a:defRPr sz="199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555500" indent="-325115" algn="l" defTabSz="1300460" rtl="0" eaLnBrk="1" latinLnBrk="0" hangingPunct="1">
              <a:lnSpc>
                <a:spcPct val="90000"/>
              </a:lnSpc>
              <a:spcBef>
                <a:spcPts val="427"/>
              </a:spcBef>
              <a:spcAft>
                <a:spcPts val="427"/>
              </a:spcAft>
              <a:buClr>
                <a:schemeClr val="accent1"/>
              </a:buClr>
              <a:buFont typeface="Wingdings 2" pitchFamily="18" charset="2"/>
              <a:buChar char=""/>
              <a:defRPr sz="199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">
              <a:lnSpc>
                <a:spcPct val="100000"/>
              </a:lnSpc>
            </a:pPr>
            <a:r>
              <a:rPr lang="pt-BR" sz="3400" spc="-254" dirty="0" smtClean="0">
                <a:latin typeface="Arial" panose="020B0604020202020204" pitchFamily="34" charset="0"/>
                <a:cs typeface="Arial" panose="020B0604020202020204" pitchFamily="34" charset="0"/>
              </a:rPr>
              <a:t> Forneça</a:t>
            </a:r>
            <a:r>
              <a:rPr lang="pt-BR" sz="3400" spc="-3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400" spc="-130" dirty="0" smtClean="0">
                <a:latin typeface="Arial" panose="020B0604020202020204" pitchFamily="34" charset="0"/>
                <a:cs typeface="Arial" panose="020B0604020202020204" pitchFamily="34" charset="0"/>
              </a:rPr>
              <a:t>contexto</a:t>
            </a:r>
            <a:r>
              <a:rPr lang="pt-BR" sz="3400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400" spc="-150" dirty="0" smtClean="0">
                <a:latin typeface="Arial" panose="020B0604020202020204" pitchFamily="34" charset="0"/>
                <a:cs typeface="Arial" panose="020B0604020202020204" pitchFamily="34" charset="0"/>
              </a:rPr>
              <a:t>suficiente,</a:t>
            </a:r>
            <a:r>
              <a:rPr lang="pt-BR" sz="3400" spc="-2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400" spc="-345" dirty="0" smtClean="0">
                <a:latin typeface="Arial" panose="020B0604020202020204" pitchFamily="34" charset="0"/>
                <a:cs typeface="Arial" panose="020B0604020202020204" pitchFamily="34" charset="0"/>
              </a:rPr>
              <a:t>mas</a:t>
            </a:r>
            <a:r>
              <a:rPr lang="pt-BR" sz="3400" spc="-24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400" spc="-110" dirty="0" smtClean="0">
                <a:latin typeface="Arial" panose="020B0604020202020204" pitchFamily="34" charset="0"/>
                <a:cs typeface="Arial" panose="020B0604020202020204" pitchFamily="34" charset="0"/>
              </a:rPr>
              <a:t>evite</a:t>
            </a:r>
            <a:r>
              <a:rPr lang="pt-BR" sz="3400" spc="-2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400" spc="-180" dirty="0" smtClean="0">
                <a:latin typeface="Arial" panose="020B0604020202020204" pitchFamily="34" charset="0"/>
                <a:cs typeface="Arial" panose="020B0604020202020204" pitchFamily="34" charset="0"/>
              </a:rPr>
              <a:t>informações</a:t>
            </a:r>
            <a:r>
              <a:rPr lang="pt-BR" sz="3400" spc="6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400" spc="-130" dirty="0" smtClean="0">
                <a:latin typeface="Arial" panose="020B0604020202020204" pitchFamily="34" charset="0"/>
                <a:cs typeface="Arial" panose="020B0604020202020204" pitchFamily="34" charset="0"/>
              </a:rPr>
              <a:t>irrelevantes</a:t>
            </a:r>
            <a:r>
              <a:rPr lang="pt-BR" sz="3400" spc="-3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400" spc="-155" dirty="0" smtClean="0">
                <a:latin typeface="Arial" panose="020B0604020202020204" pitchFamily="34" charset="0"/>
                <a:cs typeface="Arial" panose="020B0604020202020204" pitchFamily="34" charset="0"/>
              </a:rPr>
              <a:t>(Contexto).</a:t>
            </a:r>
            <a:endParaRPr lang="pt-BR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31647" y="1740496"/>
            <a:ext cx="14720569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-235" dirty="0">
                <a:latin typeface="Cambria"/>
                <a:cs typeface="Cambria"/>
              </a:rPr>
              <a:t>Sua</a:t>
            </a:r>
            <a:r>
              <a:rPr sz="5450" spc="-135" dirty="0">
                <a:latin typeface="Cambria"/>
                <a:cs typeface="Cambria"/>
              </a:rPr>
              <a:t> </a:t>
            </a:r>
            <a:r>
              <a:rPr sz="5450" spc="-210" dirty="0">
                <a:latin typeface="Cambria"/>
                <a:cs typeface="Cambria"/>
              </a:rPr>
              <a:t>Jornada</a:t>
            </a:r>
            <a:r>
              <a:rPr sz="5450" spc="-90" dirty="0">
                <a:latin typeface="Cambria"/>
                <a:cs typeface="Cambria"/>
              </a:rPr>
              <a:t> </a:t>
            </a:r>
            <a:r>
              <a:rPr sz="5450" spc="-175" dirty="0">
                <a:latin typeface="Cambria"/>
                <a:cs typeface="Cambria"/>
              </a:rPr>
              <a:t>com</a:t>
            </a:r>
            <a:r>
              <a:rPr sz="5450" spc="-125" dirty="0">
                <a:latin typeface="Cambria"/>
                <a:cs typeface="Cambria"/>
              </a:rPr>
              <a:t> </a:t>
            </a:r>
            <a:r>
              <a:rPr sz="5450" spc="-85" dirty="0">
                <a:latin typeface="Cambria"/>
                <a:cs typeface="Cambria"/>
              </a:rPr>
              <a:t>a</a:t>
            </a:r>
            <a:r>
              <a:rPr sz="5450" spc="-310" dirty="0">
                <a:latin typeface="Cambria"/>
                <a:cs typeface="Cambria"/>
              </a:rPr>
              <a:t> </a:t>
            </a:r>
            <a:r>
              <a:rPr sz="5450" spc="-180" dirty="0">
                <a:latin typeface="Cambria"/>
                <a:cs typeface="Cambria"/>
              </a:rPr>
              <a:t>Inteligencia</a:t>
            </a:r>
            <a:r>
              <a:rPr sz="5450" spc="-20" dirty="0">
                <a:latin typeface="Cambria"/>
                <a:cs typeface="Cambria"/>
              </a:rPr>
              <a:t> </a:t>
            </a:r>
            <a:r>
              <a:rPr sz="5450" spc="-150" dirty="0">
                <a:latin typeface="Cambria"/>
                <a:cs typeface="Cambria"/>
              </a:rPr>
              <a:t>Artificial</a:t>
            </a:r>
            <a:r>
              <a:rPr sz="5450" spc="-60" dirty="0">
                <a:latin typeface="Cambria"/>
                <a:cs typeface="Cambria"/>
              </a:rPr>
              <a:t> </a:t>
            </a:r>
            <a:r>
              <a:rPr sz="5450" spc="-155" dirty="0">
                <a:latin typeface="Cambria"/>
                <a:cs typeface="Cambria"/>
              </a:rPr>
              <a:t>Começa</a:t>
            </a:r>
            <a:r>
              <a:rPr sz="5450" spc="-80" dirty="0">
                <a:latin typeface="Cambria"/>
                <a:cs typeface="Cambria"/>
              </a:rPr>
              <a:t> </a:t>
            </a:r>
            <a:r>
              <a:rPr sz="5450" spc="-20" dirty="0">
                <a:latin typeface="Cambria"/>
                <a:cs typeface="Cambria"/>
              </a:rPr>
              <a:t>Hoje</a:t>
            </a:r>
            <a:endParaRPr sz="545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4400" y="3581400"/>
            <a:ext cx="13427109" cy="884473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15570" marR="5080" indent="-103505" algn="ctr">
              <a:lnSpc>
                <a:spcPct val="89100"/>
              </a:lnSpc>
              <a:spcBef>
                <a:spcPts val="1130"/>
              </a:spcBef>
              <a:tabLst>
                <a:tab pos="2145665" algn="l"/>
              </a:tabLst>
            </a:pPr>
            <a:r>
              <a:rPr lang="pt-BR" sz="5400" spc="90" dirty="0" smtClean="0">
                <a:latin typeface="Times New Roman"/>
                <a:cs typeface="Times New Roman"/>
              </a:rPr>
              <a:t>I.A é sua ferramenta, não seu </a:t>
            </a:r>
            <a:r>
              <a:rPr sz="5400" spc="-409" dirty="0" smtClean="0">
                <a:latin typeface="Times New Roman"/>
                <a:cs typeface="Times New Roman"/>
              </a:rPr>
              <a:t> </a:t>
            </a:r>
            <a:r>
              <a:rPr lang="pt-BR" sz="5400" spc="-409" dirty="0" smtClean="0">
                <a:latin typeface="Times New Roman"/>
                <a:cs typeface="Times New Roman"/>
              </a:rPr>
              <a:t>subs</a:t>
            </a:r>
            <a:r>
              <a:rPr sz="5400" spc="-10" dirty="0" smtClean="0">
                <a:latin typeface="Times New Roman"/>
                <a:cs typeface="Times New Roman"/>
              </a:rPr>
              <a:t>tituto.</a:t>
            </a:r>
            <a:endParaRPr sz="5400" dirty="0">
              <a:latin typeface="Times New Roman"/>
              <a:cs typeface="Times New Roman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2378376" y="5638800"/>
            <a:ext cx="13427109" cy="162403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15570" marR="5080" indent="-103505" algn="ctr">
              <a:lnSpc>
                <a:spcPct val="89100"/>
              </a:lnSpc>
              <a:spcBef>
                <a:spcPts val="1130"/>
              </a:spcBef>
              <a:tabLst>
                <a:tab pos="2145665" algn="l"/>
              </a:tabLst>
            </a:pPr>
            <a:r>
              <a:rPr lang="pt-BR" sz="5400" spc="90" dirty="0" smtClean="0">
                <a:latin typeface="Times New Roman"/>
                <a:cs typeface="Times New Roman"/>
              </a:rPr>
              <a:t>O verdadeiro diferencial continua sendo sua expertise.</a:t>
            </a:r>
            <a:endParaRPr sz="5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0" y="0"/>
            <a:ext cx="6479177" cy="9753600"/>
          </a:xfrm>
          <a:prstGeom prst="rect">
            <a:avLst/>
          </a:prstGeom>
        </p:spPr>
      </p:pic>
      <p:sp>
        <p:nvSpPr>
          <p:cNvPr id="7" name="object 10"/>
          <p:cNvSpPr txBox="1"/>
          <p:nvPr/>
        </p:nvSpPr>
        <p:spPr>
          <a:xfrm>
            <a:off x="2933700" y="2590800"/>
            <a:ext cx="8305800" cy="19858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pt-BR" sz="3200" spc="-35" dirty="0" smtClean="0">
                <a:solidFill>
                  <a:schemeClr val="tx1"/>
                </a:solidFill>
                <a:latin typeface="Cambria"/>
                <a:cs typeface="Cambria"/>
              </a:rPr>
              <a:t>Os tempos mudaram, e você precisa acompanhar as transformações, sob risco de perder, pouco a pouco, o espaço que conquistou com tanto esforço.</a:t>
            </a:r>
            <a:endParaRPr sz="32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61100"/>
            <a:ext cx="2692400" cy="26924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524" y="6362700"/>
            <a:ext cx="2590800" cy="25908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6401276"/>
            <a:ext cx="2514124" cy="251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4632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416</TotalTime>
  <Words>1449</Words>
  <Application>Microsoft Office PowerPoint</Application>
  <PresentationFormat>Personalizar</PresentationFormat>
  <Paragraphs>194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Arial</vt:lpstr>
      <vt:lpstr>Arial MT</vt:lpstr>
      <vt:lpstr>Calibri</vt:lpstr>
      <vt:lpstr>Cambria</vt:lpstr>
      <vt:lpstr>Century Schoolbook</vt:lpstr>
      <vt:lpstr>Courier New</vt:lpstr>
      <vt:lpstr>Times New Roman</vt:lpstr>
      <vt:lpstr>Wingdings 2</vt:lpstr>
      <vt:lpstr>View</vt:lpstr>
      <vt:lpstr>O  DNA  da  I . A  OPP- Prompt Perfeito                       O PONTO ZERO DA JORNADA </vt:lpstr>
      <vt:lpstr>R A N K I N G     D A S   A L U C I N A Ç Õ E S  D A S    I. As </vt:lpstr>
      <vt:lpstr>C O M O      R E D U Z I R  A S       A L U C I N A Ç Õ E S </vt:lpstr>
      <vt:lpstr>A promessa da I.A  X  a realidade do advogado.</vt:lpstr>
      <vt:lpstr>A Chave Central</vt:lpstr>
      <vt:lpstr>O  Prompt Perfeito  Método PCTFV</vt:lpstr>
      <vt:lpstr>Definindo o Especialista e a Situação  (P) Papel e (C) Contexto</vt:lpstr>
      <vt:lpstr>Instruindo a Ação e a Entrega (T) Tarefa  e (F) Formato </vt:lpstr>
      <vt:lpstr>O Pilar Inegociável  (V) Verdade</vt:lpstr>
      <vt:lpstr>A Transformação na Prática: De Vago a Valioso</vt:lpstr>
      <vt:lpstr>Aplicando a Fórmula PCTFV na Prática Jurídica</vt:lpstr>
      <vt:lpstr>Aplicação Prática: Análise de Caso 1  </vt:lpstr>
      <vt:lpstr>Aplicação Prática: Análise de Caso 2</vt:lpstr>
      <vt:lpstr>Aplicação Prática: Análise de Caso 3</vt:lpstr>
      <vt:lpstr>Suas Ferramentas para Prompts Eficazes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 DNA  da  I . A  Prompt Perfeito                       O PONTO ZERO DA JORNADA</dc:title>
  <dc:creator>Admin</dc:creator>
  <cp:lastModifiedBy>Admin</cp:lastModifiedBy>
  <cp:revision>34</cp:revision>
  <dcterms:created xsi:type="dcterms:W3CDTF">2025-12-02T21:16:58Z</dcterms:created>
  <dcterms:modified xsi:type="dcterms:W3CDTF">2025-12-26T15:50:05Z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LastSaved">
    <vt:filetime>2025-12-02T00:00:00Z</vt:filetime>
  </property>
</Properties>
</file>